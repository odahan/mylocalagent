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a33df508b84c94" /><Relationship Type="http://schemas.openxmlformats.org/officeDocument/2006/relationships/extended-properties" Target="/docProps/app.xml" Id="R759e98e6ca9549ef" /><Relationship Type="http://schemas.openxmlformats.org/officeDocument/2006/relationships/officeDocument" Target="/ppt/presentation.xml" Id="R4dd30e8515fc45f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8c26b00417f4f56"/>
  </p:sldMasterIdLst>
  <p:notesMasterIdLst>
    <p:notesMasterId xmlns:r="http://schemas.openxmlformats.org/officeDocument/2006/relationships" r:id="R3940cedb3b05444c"/>
  </p:notesMasterIdLst>
  <p:sldIdLst>
    <p:sldId xmlns:r="http://schemas.openxmlformats.org/officeDocument/2006/relationships" id="256" r:id="R5b7e03c607524b84"/>
    <p:sldId xmlns:r="http://schemas.openxmlformats.org/officeDocument/2006/relationships" id="257" r:id="R96bb517477ee4d2b"/>
    <p:sldId xmlns:r="http://schemas.openxmlformats.org/officeDocument/2006/relationships" id="258" r:id="R08471699be1c4684"/>
    <p:sldId xmlns:r="http://schemas.openxmlformats.org/officeDocument/2006/relationships" id="259" r:id="Rcf37b4cfdd414eac"/>
    <p:sldId xmlns:r="http://schemas.openxmlformats.org/officeDocument/2006/relationships" id="260" r:id="R23aa4906da294268"/>
    <p:sldId xmlns:r="http://schemas.openxmlformats.org/officeDocument/2006/relationships" id="261" r:id="R88ae928c745248bb"/>
    <p:sldId xmlns:r="http://schemas.openxmlformats.org/officeDocument/2006/relationships" id="262" r:id="R0efac79b7bf54fe5"/>
    <p:sldId xmlns:r="http://schemas.openxmlformats.org/officeDocument/2006/relationships" id="263" r:id="Re7fae959d7304322"/>
    <p:sldId xmlns:r="http://schemas.openxmlformats.org/officeDocument/2006/relationships" id="264" r:id="Rb817fa15fd774a86"/>
    <p:sldId xmlns:r="http://schemas.openxmlformats.org/officeDocument/2006/relationships" id="265" r:id="R831acfef83e24474"/>
    <p:sldId xmlns:r="http://schemas.openxmlformats.org/officeDocument/2006/relationships" id="266" r:id="R8245154f8d994a68"/>
    <p:sldId xmlns:r="http://schemas.openxmlformats.org/officeDocument/2006/relationships" id="267" r:id="Rc29579fb1c49425c"/>
    <p:sldId xmlns:r="http://schemas.openxmlformats.org/officeDocument/2006/relationships" id="268" r:id="R3c50af5b738e48e8"/>
    <p:sldId xmlns:r="http://schemas.openxmlformats.org/officeDocument/2006/relationships" id="269" r:id="R0bd1dfd986094a88"/>
    <p:sldId xmlns:r="http://schemas.openxmlformats.org/officeDocument/2006/relationships" id="270" r:id="Rdbe11a4cedc6489a"/>
    <p:sldId xmlns:r="http://schemas.openxmlformats.org/officeDocument/2006/relationships" id="271" r:id="Red82cebe85af48f7"/>
    <p:sldId xmlns:r="http://schemas.openxmlformats.org/officeDocument/2006/relationships" id="272" r:id="Rec08d7b7a6fe4fbd"/>
    <p:sldId xmlns:r="http://schemas.openxmlformats.org/officeDocument/2006/relationships" id="273" r:id="R9a541dba54244f61"/>
    <p:sldId xmlns:r="http://schemas.openxmlformats.org/officeDocument/2006/relationships" id="274" r:id="R7899f6f5acff430a"/>
    <p:sldId xmlns:r="http://schemas.openxmlformats.org/officeDocument/2006/relationships" id="275" r:id="Ra9eaa64d88e0455f"/>
    <p:sldId xmlns:r="http://schemas.openxmlformats.org/officeDocument/2006/relationships" id="276" r:id="Ra54cbb28ef42426d"/>
    <p:sldId xmlns:r="http://schemas.openxmlformats.org/officeDocument/2006/relationships" id="277" r:id="Rf7a1e3048d174632"/>
    <p:sldId xmlns:r="http://schemas.openxmlformats.org/officeDocument/2006/relationships" id="278" r:id="R9c56fd09e4bf4664"/>
    <p:sldId xmlns:r="http://schemas.openxmlformats.org/officeDocument/2006/relationships" id="279" r:id="R6f4bf26e9d4a499d"/>
    <p:sldId xmlns:r="http://schemas.openxmlformats.org/officeDocument/2006/relationships" id="280" r:id="Re4a5fade27d140fe"/>
    <p:sldId xmlns:r="http://schemas.openxmlformats.org/officeDocument/2006/relationships" id="281" r:id="R5d5d25eb291e4ec7"/>
    <p:sldId xmlns:r="http://schemas.openxmlformats.org/officeDocument/2006/relationships" id="282" r:id="R0135b1ea8aed4580"/>
    <p:sldId xmlns:r="http://schemas.openxmlformats.org/officeDocument/2006/relationships" id="283" r:id="R7a2c0f9770824ccb"/>
    <p:sldId xmlns:r="http://schemas.openxmlformats.org/officeDocument/2006/relationships" id="284" r:id="R18f4a30d90324771"/>
    <p:sldId xmlns:r="http://schemas.openxmlformats.org/officeDocument/2006/relationships" id="285" r:id="R03917be634414e5b"/>
    <p:sldId xmlns:r="http://schemas.openxmlformats.org/officeDocument/2006/relationships" id="286" r:id="R858869626a144624"/>
    <p:sldId xmlns:r="http://schemas.openxmlformats.org/officeDocument/2006/relationships" id="287" r:id="R9fc2b8f5a3754b36"/>
  </p:sldIdLst>
  <p:sldSz cx="12192000" cy="6858000"/>
  <p:notesSz cx="6858000" cy="9144000"/>
  <p:embeddedFontLst>
    <p:embeddedFont>
      <p:font typeface="Lora Medium"/>
      <p:regular xmlns:r="http://schemas.openxmlformats.org/officeDocument/2006/relationships" r:id="R02121d66b8994060"/>
      <p:italic xmlns:r="http://schemas.openxmlformats.org/officeDocument/2006/relationships" r:id="R1af817b2f23241f2"/>
    </p:embeddedFont>
    <p:embeddedFont>
      <p:font typeface="Lora SemiBold"/>
      <p:regular xmlns:r="http://schemas.openxmlformats.org/officeDocument/2006/relationships" r:id="R7c0588b606d24aa0"/>
      <p:bold xmlns:r="http://schemas.openxmlformats.org/officeDocument/2006/relationships" r:id="R3645d82dbf644cba"/>
      <p:italic xmlns:r="http://schemas.openxmlformats.org/officeDocument/2006/relationships" r:id="R9aac9e9e57654504"/>
      <p:boldItalic xmlns:r="http://schemas.openxmlformats.org/officeDocument/2006/relationships" r:id="Rfae42d426a7b4ccd"/>
    </p:embeddedFont>
    <p:embeddedFont>
      <p:font typeface="OpenAI Sans"/>
      <p:regular xmlns:r="http://schemas.openxmlformats.org/officeDocument/2006/relationships" r:id="R0a497317eff54ee3"/>
      <p:bold xmlns:r="http://schemas.openxmlformats.org/officeDocument/2006/relationships" r:id="R00a6fa05c65d4ab8"/>
      <p:italic xmlns:r="http://schemas.openxmlformats.org/officeDocument/2006/relationships" r:id="Rabea930c2a5046b7"/>
      <p:boldItalic xmlns:r="http://schemas.openxmlformats.org/officeDocument/2006/relationships" r:id="R29630f9f8a6b49fe"/>
    </p:embeddedFont>
    <p:embeddedFont>
      <p:font typeface="Roboto"/>
      <p:regular xmlns:r="http://schemas.openxmlformats.org/officeDocument/2006/relationships" r:id="Ree2f7173f29f430f"/>
      <p:bold xmlns:r="http://schemas.openxmlformats.org/officeDocument/2006/relationships" r:id="R8f7d199e0d7e4d9d"/>
      <p:italic xmlns:r="http://schemas.openxmlformats.org/officeDocument/2006/relationships" r:id="Re0c4dce23afb4f5f"/>
      <p:boldItalic xmlns:r="http://schemas.openxmlformats.org/officeDocument/2006/relationships" r:id="R2d354ead2ab9490d"/>
    </p:embeddedFont>
    <p:embeddedFont>
      <p:font typeface="Roboto Medium"/>
      <p:regular xmlns:r="http://schemas.openxmlformats.org/officeDocument/2006/relationships" r:id="R3fb55615a744456b"/>
      <p:italic xmlns:r="http://schemas.openxmlformats.org/officeDocument/2006/relationships" r:id="Reb11bd47a41d4946"/>
    </p:embeddedFont>
    <p:embeddedFont>
      <p:font typeface="Roboto SemiBold"/>
      <p:regular xmlns:r="http://schemas.openxmlformats.org/officeDocument/2006/relationships" r:id="R1b942f22733a4348"/>
      <p:bold xmlns:r="http://schemas.openxmlformats.org/officeDocument/2006/relationships" r:id="R7a676d39699b4d72"/>
      <p:italic xmlns:r="http://schemas.openxmlformats.org/officeDocument/2006/relationships" r:id="Rb16c15696e7049cb"/>
      <p:boldItalic xmlns:r="http://schemas.openxmlformats.org/officeDocument/2006/relationships" r:id="R3ab26b7ff6cf4bd0"/>
    </p:embeddedFont>
    <p:embeddedFont>
      <p:font typeface="Roboto Serif 14pt"/>
      <p:regular xmlns:r="http://schemas.openxmlformats.org/officeDocument/2006/relationships" r:id="R6c22bda0f6d84252"/>
      <p:bold xmlns:r="http://schemas.openxmlformats.org/officeDocument/2006/relationships" r:id="Rdc8756cf00b94cd2"/>
      <p:italic xmlns:r="http://schemas.openxmlformats.org/officeDocument/2006/relationships" r:id="Refabb3a72bb04cb7"/>
      <p:boldItalic xmlns:r="http://schemas.openxmlformats.org/officeDocument/2006/relationships" r:id="R6d4d298ff1c94bc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ff5e32cb74f4c02" /><Relationship Type="http://schemas.openxmlformats.org/officeDocument/2006/relationships/slideMaster" Target="/ppt/slideMasters/slideMaster1.xml" Id="R08c26b00417f4f56" /><Relationship Type="http://schemas.openxmlformats.org/officeDocument/2006/relationships/notesMaster" Target="/ppt/notesMasters/notesMaster1.xml" Id="R3940cedb3b05444c" /><Relationship Type="http://schemas.openxmlformats.org/officeDocument/2006/relationships/presProps" Target="/ppt/presProps.xml" Id="R15c21ef2f8434398" /><Relationship Type="http://schemas.openxmlformats.org/officeDocument/2006/relationships/viewProps" Target="/ppt/viewProps.xml" Id="R2b2b55b8d2984305" /><Relationship Type="http://schemas.openxmlformats.org/officeDocument/2006/relationships/tableStyles" Target="/ppt/tableStyles.xml" Id="R62ccb24ca1944f79" /><Relationship Type="http://schemas.openxmlformats.org/officeDocument/2006/relationships/font" Target="/ppt/fonts/font.dat" Id="R02121d66b8994060" /><Relationship Type="http://schemas.openxmlformats.org/officeDocument/2006/relationships/font" Target="/ppt/fonts/font2.dat" Id="R1af817b2f23241f2" /><Relationship Type="http://schemas.openxmlformats.org/officeDocument/2006/relationships/font" Target="/ppt/fonts/font3.dat" Id="R7c0588b606d24aa0" /><Relationship Type="http://schemas.openxmlformats.org/officeDocument/2006/relationships/font" Target="/ppt/fonts/font4.dat" Id="R3645d82dbf644cba" /><Relationship Type="http://schemas.openxmlformats.org/officeDocument/2006/relationships/font" Target="/ppt/fonts/font5.dat" Id="R9aac9e9e57654504" /><Relationship Type="http://schemas.openxmlformats.org/officeDocument/2006/relationships/font" Target="/ppt/fonts/font6.dat" Id="Rfae42d426a7b4ccd" /><Relationship Type="http://schemas.openxmlformats.org/officeDocument/2006/relationships/font" Target="/ppt/fonts/font7.dat" Id="R0a497317eff54ee3" /><Relationship Type="http://schemas.openxmlformats.org/officeDocument/2006/relationships/font" Target="/ppt/fonts/font8.dat" Id="R00a6fa05c65d4ab8" /><Relationship Type="http://schemas.openxmlformats.org/officeDocument/2006/relationships/font" Target="/ppt/fonts/font9.dat" Id="Rabea930c2a5046b7" /><Relationship Type="http://schemas.openxmlformats.org/officeDocument/2006/relationships/font" Target="/ppt/fonts/font10.dat" Id="R29630f9f8a6b49fe" /><Relationship Type="http://schemas.openxmlformats.org/officeDocument/2006/relationships/font" Target="/ppt/fonts/font11.dat" Id="Ree2f7173f29f430f" /><Relationship Type="http://schemas.openxmlformats.org/officeDocument/2006/relationships/font" Target="/ppt/fonts/font12.dat" Id="R8f7d199e0d7e4d9d" /><Relationship Type="http://schemas.openxmlformats.org/officeDocument/2006/relationships/font" Target="/ppt/fonts/font13.dat" Id="Re0c4dce23afb4f5f" /><Relationship Type="http://schemas.openxmlformats.org/officeDocument/2006/relationships/font" Target="/ppt/fonts/font14.dat" Id="R2d354ead2ab9490d" /><Relationship Type="http://schemas.openxmlformats.org/officeDocument/2006/relationships/font" Target="/ppt/fonts/font15.dat" Id="R3fb55615a744456b" /><Relationship Type="http://schemas.openxmlformats.org/officeDocument/2006/relationships/font" Target="/ppt/fonts/font16.dat" Id="Reb11bd47a41d4946" /><Relationship Type="http://schemas.openxmlformats.org/officeDocument/2006/relationships/font" Target="/ppt/fonts/font17.dat" Id="R1b942f22733a4348" /><Relationship Type="http://schemas.openxmlformats.org/officeDocument/2006/relationships/font" Target="/ppt/fonts/font18.dat" Id="R7a676d39699b4d72" /><Relationship Type="http://schemas.openxmlformats.org/officeDocument/2006/relationships/font" Target="/ppt/fonts/font19.dat" Id="Rb16c15696e7049cb" /><Relationship Type="http://schemas.openxmlformats.org/officeDocument/2006/relationships/font" Target="/ppt/fonts/font20.dat" Id="R3ab26b7ff6cf4bd0" /><Relationship Type="http://schemas.openxmlformats.org/officeDocument/2006/relationships/font" Target="/ppt/fonts/font21.dat" Id="R6c22bda0f6d84252" /><Relationship Type="http://schemas.openxmlformats.org/officeDocument/2006/relationships/font" Target="/ppt/fonts/font22.dat" Id="Rdc8756cf00b94cd2" /><Relationship Type="http://schemas.openxmlformats.org/officeDocument/2006/relationships/font" Target="/ppt/fonts/font23.dat" Id="Refabb3a72bb04cb7" /><Relationship Type="http://schemas.openxmlformats.org/officeDocument/2006/relationships/font" Target="/ppt/fonts/font24.dat" Id="R6d4d298ff1c94bc9" /><Relationship Type="http://schemas.openxmlformats.org/officeDocument/2006/relationships/slide" Target="/ppt/slides/slide1.xml" Id="R5b7e03c607524b84" /><Relationship Type="http://schemas.openxmlformats.org/officeDocument/2006/relationships/slide" Target="/ppt/slides/slide2.xml" Id="R96bb517477ee4d2b" /><Relationship Type="http://schemas.openxmlformats.org/officeDocument/2006/relationships/slide" Target="/ppt/slides/slide3.xml" Id="R08471699be1c4684" /><Relationship Type="http://schemas.openxmlformats.org/officeDocument/2006/relationships/slide" Target="/ppt/slides/slide4.xml" Id="Rcf37b4cfdd414eac" /><Relationship Type="http://schemas.openxmlformats.org/officeDocument/2006/relationships/slide" Target="/ppt/slides/slide5.xml" Id="R23aa4906da294268" /><Relationship Type="http://schemas.openxmlformats.org/officeDocument/2006/relationships/slide" Target="/ppt/slides/slide6.xml" Id="R88ae928c745248bb" /><Relationship Type="http://schemas.openxmlformats.org/officeDocument/2006/relationships/slide" Target="/ppt/slides/slide7.xml" Id="R0efac79b7bf54fe5" /><Relationship Type="http://schemas.openxmlformats.org/officeDocument/2006/relationships/slide" Target="/ppt/slides/slide8.xml" Id="Re7fae959d7304322" /><Relationship Type="http://schemas.openxmlformats.org/officeDocument/2006/relationships/slide" Target="/ppt/slides/slide9.xml" Id="Rb817fa15fd774a86" /><Relationship Type="http://schemas.openxmlformats.org/officeDocument/2006/relationships/slide" Target="/ppt/slides/slide10.xml" Id="R831acfef83e24474" /><Relationship Type="http://schemas.openxmlformats.org/officeDocument/2006/relationships/slide" Target="/ppt/slides/slide11.xml" Id="R8245154f8d994a68" /><Relationship Type="http://schemas.openxmlformats.org/officeDocument/2006/relationships/slide" Target="/ppt/slides/slide12.xml" Id="Rc29579fb1c49425c" /><Relationship Type="http://schemas.openxmlformats.org/officeDocument/2006/relationships/slide" Target="/ppt/slides/slide13.xml" Id="R3c50af5b738e48e8" /><Relationship Type="http://schemas.openxmlformats.org/officeDocument/2006/relationships/slide" Target="/ppt/slides/slide14.xml" Id="R0bd1dfd986094a88" /><Relationship Type="http://schemas.openxmlformats.org/officeDocument/2006/relationships/slide" Target="/ppt/slides/slide15.xml" Id="Rdbe11a4cedc6489a" /><Relationship Type="http://schemas.openxmlformats.org/officeDocument/2006/relationships/slide" Target="/ppt/slides/slide16.xml" Id="Red82cebe85af48f7" /><Relationship Type="http://schemas.openxmlformats.org/officeDocument/2006/relationships/slide" Target="/ppt/slides/slide17.xml" Id="Rec08d7b7a6fe4fbd" /><Relationship Type="http://schemas.openxmlformats.org/officeDocument/2006/relationships/slide" Target="/ppt/slides/slide18.xml" Id="R9a541dba54244f61" /><Relationship Type="http://schemas.openxmlformats.org/officeDocument/2006/relationships/slide" Target="/ppt/slides/slide19.xml" Id="R7899f6f5acff430a" /><Relationship Type="http://schemas.openxmlformats.org/officeDocument/2006/relationships/slide" Target="/ppt/slides/slide20.xml" Id="Ra9eaa64d88e0455f" /><Relationship Type="http://schemas.openxmlformats.org/officeDocument/2006/relationships/slide" Target="/ppt/slides/slide21.xml" Id="Ra54cbb28ef42426d" /><Relationship Type="http://schemas.openxmlformats.org/officeDocument/2006/relationships/slide" Target="/ppt/slides/slide22.xml" Id="Rf7a1e3048d174632" /><Relationship Type="http://schemas.openxmlformats.org/officeDocument/2006/relationships/slide" Target="/ppt/slides/slide23.xml" Id="R9c56fd09e4bf4664" /><Relationship Type="http://schemas.openxmlformats.org/officeDocument/2006/relationships/slide" Target="/ppt/slides/slide24.xml" Id="R6f4bf26e9d4a499d" /><Relationship Type="http://schemas.openxmlformats.org/officeDocument/2006/relationships/slide" Target="/ppt/slides/slide25.xml" Id="Re4a5fade27d140fe" /><Relationship Type="http://schemas.openxmlformats.org/officeDocument/2006/relationships/slide" Target="/ppt/slides/slide26.xml" Id="R5d5d25eb291e4ec7" /><Relationship Type="http://schemas.openxmlformats.org/officeDocument/2006/relationships/slide" Target="/ppt/slides/slide27.xml" Id="R0135b1ea8aed4580" /><Relationship Type="http://schemas.openxmlformats.org/officeDocument/2006/relationships/slide" Target="/ppt/slides/slide28.xml" Id="R7a2c0f9770824ccb" /><Relationship Type="http://schemas.openxmlformats.org/officeDocument/2006/relationships/slide" Target="/ppt/slides/slide29.xml" Id="R18f4a30d90324771" /><Relationship Type="http://schemas.openxmlformats.org/officeDocument/2006/relationships/slide" Target="/ppt/slides/slide30.xml" Id="R03917be634414e5b" /><Relationship Type="http://schemas.openxmlformats.org/officeDocument/2006/relationships/slide" Target="/ppt/slides/slide31.xml" Id="R858869626a144624" /><Relationship Type="http://schemas.openxmlformats.org/officeDocument/2006/relationships/slide" Target="/ppt/slides/slide32.xml" Id="R9fc2b8f5a3754b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5d2e90bbe349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7d959297094e73" /><Relationship Type="http://schemas.openxmlformats.org/officeDocument/2006/relationships/notesMaster" Target="/ppt/notesMasters/notesMaster1.xml" Id="R625967eea4824d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59e87865d34eb1" /><Relationship Type="http://schemas.openxmlformats.org/officeDocument/2006/relationships/notesMaster" Target="/ppt/notesMasters/notesMaster1.xml" Id="Raf071f4d08e849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250cb36f9a4b54" /><Relationship Type="http://schemas.openxmlformats.org/officeDocument/2006/relationships/notesMaster" Target="/ppt/notesMasters/notesMaster1.xml" Id="R83a78a24c6ba4c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b838a8a0d946c7" /><Relationship Type="http://schemas.openxmlformats.org/officeDocument/2006/relationships/notesMaster" Target="/ppt/notesMasters/notesMaster1.xml" Id="Rca7051a9028844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f9f055f9ff4fa5" /><Relationship Type="http://schemas.openxmlformats.org/officeDocument/2006/relationships/notesMaster" Target="/ppt/notesMasters/notesMaster1.xml" Id="R7ae0beacd2eb4f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52cf31ed464baa" /><Relationship Type="http://schemas.openxmlformats.org/officeDocument/2006/relationships/notesMaster" Target="/ppt/notesMasters/notesMaster1.xml" Id="R2ff6e7cbc9ec4c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483ffa2c0f4e74" /><Relationship Type="http://schemas.openxmlformats.org/officeDocument/2006/relationships/notesMaster" Target="/ppt/notesMasters/notesMaster1.xml" Id="R4918d1a92a614d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3cebcd8d0e454d" /><Relationship Type="http://schemas.openxmlformats.org/officeDocument/2006/relationships/notesMaster" Target="/ppt/notesMasters/notesMaster1.xml" Id="R4911039e5ff54c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90661451854c7c" /><Relationship Type="http://schemas.openxmlformats.org/officeDocument/2006/relationships/notesMaster" Target="/ppt/notesMasters/notesMaster1.xml" Id="Rffa31c681b7045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060fb52fd144e7" /><Relationship Type="http://schemas.openxmlformats.org/officeDocument/2006/relationships/notesMaster" Target="/ppt/notesMasters/notesMaster1.xml" Id="Rd2bf74d49fd646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2f6daf34054148" /><Relationship Type="http://schemas.openxmlformats.org/officeDocument/2006/relationships/notesMaster" Target="/ppt/notesMasters/notesMaster1.xml" Id="R017ee97dabe64c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917a174b4e4eec" /><Relationship Type="http://schemas.openxmlformats.org/officeDocument/2006/relationships/notesMaster" Target="/ppt/notesMasters/notesMaster1.xml" Id="R18e42ab067394f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7204a95cd9498f" /><Relationship Type="http://schemas.openxmlformats.org/officeDocument/2006/relationships/notesMaster" Target="/ppt/notesMasters/notesMaster1.xml" Id="Rf07ae229519f40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a0807620db0454f" /><Relationship Type="http://schemas.openxmlformats.org/officeDocument/2006/relationships/notesMaster" Target="/ppt/notesMasters/notesMaster1.xml" Id="R4a11034c0f4643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e27572916147ea" /><Relationship Type="http://schemas.openxmlformats.org/officeDocument/2006/relationships/notesMaster" Target="/ppt/notesMasters/notesMaster1.xml" Id="R30226fa6773645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ad8f9f7b534144" /><Relationship Type="http://schemas.openxmlformats.org/officeDocument/2006/relationships/notesMaster" Target="/ppt/notesMasters/notesMaster1.xml" Id="Rf5cad6d7723146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d79735e8824254" /><Relationship Type="http://schemas.openxmlformats.org/officeDocument/2006/relationships/notesMaster" Target="/ppt/notesMasters/notesMaster1.xml" Id="Rd9e308740f22475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ec8d0d9d5b04f19" /><Relationship Type="http://schemas.openxmlformats.org/officeDocument/2006/relationships/notesMaster" Target="/ppt/notesMasters/notesMaster1.xml" Id="R54dca25913f54e5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316be557ab04ab4" /><Relationship Type="http://schemas.openxmlformats.org/officeDocument/2006/relationships/notesMaster" Target="/ppt/notesMasters/notesMaster1.xml" Id="Rd445449d9739497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216e91274684433" /><Relationship Type="http://schemas.openxmlformats.org/officeDocument/2006/relationships/notesMaster" Target="/ppt/notesMasters/notesMaster1.xml" Id="R6a2cab11573d4d6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652b46d80c84893" /><Relationship Type="http://schemas.openxmlformats.org/officeDocument/2006/relationships/notesMaster" Target="/ppt/notesMasters/notesMaster1.xml" Id="Rcd6c5c909fa24da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7132b431e974d41" /><Relationship Type="http://schemas.openxmlformats.org/officeDocument/2006/relationships/notesMaster" Target="/ppt/notesMasters/notesMaster1.xml" Id="R17eed5d9d33a4a0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ee1cdc6d627494b" /><Relationship Type="http://schemas.openxmlformats.org/officeDocument/2006/relationships/notesMaster" Target="/ppt/notesMasters/notesMaster1.xml" Id="R85a2402765b84bf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99298126e8e49dd" /><Relationship Type="http://schemas.openxmlformats.org/officeDocument/2006/relationships/notesMaster" Target="/ppt/notesMasters/notesMaster1.xml" Id="R1722280787504d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2a03067655b4601" /><Relationship Type="http://schemas.openxmlformats.org/officeDocument/2006/relationships/notesMaster" Target="/ppt/notesMasters/notesMaster1.xml" Id="Re5c82a340a4b442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32960f966614b9d" /><Relationship Type="http://schemas.openxmlformats.org/officeDocument/2006/relationships/notesMaster" Target="/ppt/notesMasters/notesMaster1.xml" Id="Rb76b3e31a576425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43270794e714c6b" /><Relationship Type="http://schemas.openxmlformats.org/officeDocument/2006/relationships/notesMaster" Target="/ppt/notesMasters/notesMaster1.xml" Id="R94b6b14fde7043f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3d737da5243472e" /><Relationship Type="http://schemas.openxmlformats.org/officeDocument/2006/relationships/notesMaster" Target="/ppt/notesMasters/notesMaster1.xml" Id="R2e89f748949b406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b8d9346072f4582" /><Relationship Type="http://schemas.openxmlformats.org/officeDocument/2006/relationships/notesMaster" Target="/ppt/notesMasters/notesMaster1.xml" Id="R6b2148edbbca47d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53e81c363264663" /><Relationship Type="http://schemas.openxmlformats.org/officeDocument/2006/relationships/notesMaster" Target="/ppt/notesMasters/notesMaster1.xml" Id="R3e4bd18feb17405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57b734cbb084a57" /><Relationship Type="http://schemas.openxmlformats.org/officeDocument/2006/relationships/notesMaster" Target="/ppt/notesMasters/notesMaster1.xml" Id="Rb33c5aaf1f1e4e3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561abb5a57e4d0e" /><Relationship Type="http://schemas.openxmlformats.org/officeDocument/2006/relationships/notesMaster" Target="/ppt/notesMasters/notesMaster1.xml" Id="R5014c01e86924a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VIDÉO</a:t>
            </a:r>
            <a:endParaRPr/>
          </a:p>
          <a:p xmlns:a="http://schemas.openxmlformats.org/drawingml/2006/main">
            <a:r>
              <a:t/>
            </a:r>
            <a:endParaRPr/>
          </a:p>
          <a:p xmlns:a="http://schemas.openxmlformats.org/drawingml/2006/main">
            <a:r>
              <a:t>Bonjour, je suis Olivier Dahan. Dans ce cours, je vous propose de découvrir Pro-Spec, une méthode empirique pour gouverner un projet logiciel réalisé avec l’intelligence artificielle. Le mot gouverner peut sembler imposant. Ici, il signifie simplement savoir ce que l’on veut, ce que l’on confie à l’IA, comment on contrôle son travail et ce que l’on conserve pour continuer demain.</a:t>
            </a:r>
            <a:endParaRPr/>
          </a:p>
          <a:p xmlns:a="http://schemas.openxmlformats.org/drawingml/2006/main">
            <a:r>
              <a:t>Cette méthode s’est construite au fil d’une vingtaine de développements avec l’IA. MyLocalAgent nous servira de terrain d’observation, car sa documentation rend la démarche particulièrement visible. Pour apprendre à l’appliquer, nous suivrons aussi un exemple beaucoup plus petit, un export de dossiers au format CSV. Nous allons le préparer, rencontrer une difficulté, vérifier le résultat et reprendre le travail dans une nouvelle session. Vous pourrez ensuite transposer cette démarche à votre propre projet.</a:t>
            </a:r>
            <a:endParaRPr/>
          </a:p>
          <a:p xmlns:a="http://schemas.openxmlformats.org/drawingml/2006/main">
            <a:r>
              <a:t/>
            </a:r>
            <a:endParaRPr/>
          </a:p>
          <a:p xmlns:a="http://schemas.openxmlformats.org/drawingml/2006/main">
            <a:r>
              <a:t>ANIMATION EN COURS</a:t>
            </a:r>
            <a:endParaRPr/>
          </a:p>
          <a:p xmlns:a="http://schemas.openxmlformats.org/drawingml/2006/main">
            <a:r>
              <a:t>Aucune pause imposée. Laisser un temps de lecture au schéma ou à l’exemple affiché.</a:t>
            </a:r>
            <a:endParaRPr/>
          </a:p>
          <a:p xmlns:a="http://schemas.openxmlformats.org/drawingml/2006/main">
            <a:r>
              <a:t/>
            </a:r>
            <a:endParaRPr/>
          </a:p>
          <a:p xmlns:a="http://schemas.openxmlformats.org/drawingml/2006/main">
            <a:r>
              <a:t>SOURCES</a:t>
            </a:r>
            <a:endParaRPr/>
          </a:p>
          <a:p xmlns:a="http://schemas.openxmlformats.org/drawingml/2006/main">
            <a:r>
              <a:t>Source : Pro-Spec-Methode-et-modeles.docx, version 0.3, sections méthode et modèles. Dossier Docs/Pro-Spec du projet MyLocalAgent. Origine et auteur : précisions fournies par Olivier Dahan.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Voici le parcours. Nous allons d’abord comprendre pourquoi la question de la méthode devient plus pressante lorsque l’on confie des travaux étendus à l’IA. Nous préciserons ensuite le rôle des documents, pour éviter de transformer la gouvernance en une collection de fichiers que personne ne relit.</a:t>
            </a:r>
            <a:endParaRPr/>
          </a:p>
          <a:p xmlns:a="http://schemas.openxmlformats.org/drawingml/2006/main">
            <a:pPr marL="0" lvl="0" indent="0" algn="l">
              <a:spcBef>
                <a:spcPts val="0"/>
              </a:spcBef>
              <a:spcAft>
                <a:spcPts val="0"/>
              </a:spcAft>
              <a:buNone/>
            </a:pPr>
            <a:r>
              <a:t>La plus grande partie du cours portera sur la conduite d’un lot. Notre export CSV nous permettra de voir ce que contient une spécification, ce que contient une fiche de lot et pourquoi les deux sont utiles. Nous écrirons également une décision dans le registre du projet, puis nous examinerons un rapport de vérification incomplet. Enfin, nous préparerons la reprise du travail par une autre session.</a:t>
            </a:r>
            <a:endParaRPr/>
          </a:p>
          <a:p xmlns:a="http://schemas.openxmlformats.org/drawingml/2006/main">
            <a:pPr marL="0" lvl="0" indent="0" algn="l">
              <a:spcBef>
                <a:spcPts val="0"/>
              </a:spcBef>
              <a:spcAft>
                <a:spcPts val="0"/>
              </a:spcAft>
              <a:buNone/>
            </a:pPr>
            <a:r>
              <a:t>En cours collectif, un exercice permettra de discuter les décisions. En vidéo, vous pourrez faire une pause au même endroit. L’objectif est de pouvoir préparer un premier lot à l’issue de cette présentation.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Source : Pro-Spec-Methode-et-modeles.docx, version 0.3, sections méthode et modèles. Dossier Docs/Pro-Spec du projet MyLocalAgent.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VIDÉO</a:t>
            </a:r>
          </a:p>
          <a:p xmlns:a="http://schemas.openxmlformats.org/drawingml/2006/main">
            <a:r>
              <a:t/>
            </a:r>
          </a:p>
          <a:p xmlns:a="http://schemas.openxmlformats.org/drawingml/2006/main">
            <a:r>
              <a:t>Lorsque l’IA écrit une petite fonction, la demande, le code et la vérification peuvent tenir sous nos yeux. Le contexte est assez limité pour que nous gardions facilement la maîtrise de l’ensemble. La situation change lorsque la modification traverse plusieurs fichiers, puis plusieurs composants.</a:t>
            </a:r>
          </a:p>
          <a:p xmlns:a="http://schemas.openxmlformats.org/drawingml/2006/main">
            <a:r>
              <a:t>Un changement dans l’interface peut modifier le format enregistré. Ce format peut ensuite être lu par un service exécuté en arrière-plan. Une décision prise aujourd’hui devient alors une contrainte pour un travail réalisé la semaine suivante. Nous ne pouvons plus compter uniquement sur notre souvenir de la conversation.</a:t>
            </a:r>
          </a:p>
          <a:p xmlns:a="http://schemas.openxmlformats.org/drawingml/2006/main">
            <a:r>
              <a:t>La progression affichée représente cette augmentation du travail délégué. Elle ne prétend pas dater les étapes de l’histoire de l’IA. Elle explique le besoin de méthode. Plus l’IA peut accomplir de choses, plus il devient utile de rendre explicites les règles qu’elle doit respecter et les preuves que nous attendons.</a:t>
            </a:r>
          </a:p>
          <a:p xmlns:a="http://schemas.openxmlformats.org/drawingml/2006/main">
            <a:r>
              <a:t/>
            </a:r>
          </a:p>
          <a:p xmlns:a="http://schemas.openxmlformats.org/drawingml/2006/main">
            <a:r>
              <a:t>ANIMATION EN COURS</a:t>
            </a:r>
          </a:p>
          <a:p xmlns:a="http://schemas.openxmlformats.org/drawingml/2006/main">
            <a:r>
              <a:t>Aucune pause imposée. Laisser un temps de lecture au schéma ou à l’exemple affiché.</a:t>
            </a:r>
          </a:p>
          <a:p xmlns:a="http://schemas.openxmlformats.org/drawingml/2006/main">
            <a:r>
              <a:t/>
            </a:r>
          </a:p>
          <a:p xmlns:a="http://schemas.openxmlformats.org/drawingml/2006/main">
            <a:r>
              <a:t>SOURCES</a:t>
            </a:r>
          </a:p>
          <a:p xmlns:a="http://schemas.openxmlformats.org/drawingml/2006/main">
            <a:r>
              <a:t>Source : Pro-Spec-Methode-et-modeles.docx, version 0.3, sections méthode et modèles. Dossier Docs/Pro-Spec du projet MyLocalAgent. Méthode, §1 et §2. Progression conceptuelle, sans chronologie historique chiffrée.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Deux termes méritent une explication simple. Le modèle est le système qui interprète notre demande et produit des réponses ou des propositions de modifications. On emploie parfois l’expression modèle frontière pour désigner les modèles les plus avancés disponibles à une période donnée.</a:t>
            </a:r>
            <a:endParaRPr/>
          </a:p>
          <a:p xmlns:a="http://schemas.openxmlformats.org/drawingml/2006/main">
            <a:pPr marL="0" lvl="0" indent="0" algn="l">
              <a:spcBef>
                <a:spcPts val="0"/>
              </a:spcBef>
              <a:spcAft>
                <a:spcPts val="0"/>
              </a:spcAft>
              <a:buNone/>
            </a:pPr>
            <a:r>
              <a:t>Le harnais est l’environnement de travail autour du modèle. Il lui permet, selon les outils et les autorisations, de lire des fichiers, de modifier du code ou de lancer des tests. Cette combinaison permet un travail beaucoup plus continu qu’un simple échange de texte.</a:t>
            </a:r>
            <a:endParaRPr/>
          </a:p>
          <a:p xmlns:a="http://schemas.openxmlformats.org/drawingml/2006/main">
            <a:pPr marL="0" lvl="0" indent="0" algn="l">
              <a:spcBef>
                <a:spcPts val="0"/>
              </a:spcBef>
              <a:spcAft>
                <a:spcPts val="0"/>
              </a:spcAft>
              <a:buNone/>
            </a:pPr>
            <a:r>
              <a:t>Cependant, les moyens d’action ne définissent pas à eux seuls le résultat attendu. Le projet a encore besoin de règles sur les données, de limites de périmètre et d’une définition de la réussite. Pro-Spec organise ce cadre de travail. Nous pouvons changer de modèle ou de harnais tout en conservant les décisions et les documents du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Source : Pro-Spec-Methode-et-modeles.docx, version 0.3, sections méthode et modèles. Dossier Docs/Pro-Spec du projet MyLocalAgent. Méthode, §1. Définitions générales utilisées pour le cours.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Pro-Spec vient d’une pratique de développement. Au fil d’une vingtaine de projets avec l’IA, j’ai eu besoin de conserver les objectifs, de découper les travaux et d’éviter de répéter les mêmes contraintes dans chaque demande. La méthode a pris forme en répondant à ces difficultés concrètes.</a:t>
            </a:r>
            <a:endParaRPr/>
          </a:p>
          <a:p xmlns:a="http://schemas.openxmlformats.org/drawingml/2006/main">
            <a:pPr marL="0" lvl="0" indent="0" algn="l">
              <a:spcBef>
                <a:spcPts val="0"/>
              </a:spcBef>
              <a:spcAft>
                <a:spcPts val="0"/>
              </a:spcAft>
              <a:buNone/>
            </a:pPr>
            <a:r>
              <a:t>MyLocalAgent occupe une place importante dans cette présentation parce que sa surface fonctionnelle a demandé un usage poussé de cette organisation. Son dépôt permet d’observer des spécifications, des lots successifs, des décisions et des contrôles. Il fournit donc une matière utile pour expliquer la démarche.</a:t>
            </a:r>
            <a:endParaRPr/>
          </a:p>
          <a:p xmlns:a="http://schemas.openxmlformats.org/drawingml/2006/main">
            <a:pPr marL="0" lvl="0" indent="0" algn="l">
              <a:spcBef>
                <a:spcPts val="0"/>
              </a:spcBef>
              <a:spcAft>
                <a:spcPts val="0"/>
              </a:spcAft>
              <a:buNone/>
            </a:pPr>
            <a:r>
              <a:t>Il faut toutefois distinguer l’observation et la formalisation. Tous les documents historiques ne suivent pas exactement la même trame. Les identifiants uniformes et certains statuts que nous utiliserons sont des conventions proposées pour enseigner et réutiliser la méthode. Nous allons rendre la pratique explicite, sans lui attribuer une uniformité qu’elle n’avait pas encore.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Origine : précisions explicites fournies par Olivier Dahan dans la conversation. Corpus : Docs/Pro-Spec/03-Inventaire-et-observations.md.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MyLocalAgent est une application Windows qui permet de créer, d’exécuter et de planifier des tâches d’intelligence artificielle. Elle privilégie l’usage de modèles locaux, avec des possibilités cloud. Elle propose notamment la conversation, des workflows, la recherche web et documentaire, ainsi que le traitement de fichiers et des connecteurs vers des services externes.</a:t>
            </a:r>
            <a:endParaRPr/>
          </a:p>
          <a:p xmlns:a="http://schemas.openxmlformats.org/drawingml/2006/main">
            <a:pPr marL="0" lvl="0" indent="0" algn="l">
              <a:spcBef>
                <a:spcPts val="0"/>
              </a:spcBef>
              <a:spcAft>
                <a:spcPts val="0"/>
              </a:spcAft>
              <a:buNone/>
            </a:pPr>
            <a:r>
              <a:t>Ce qui nous intéresse ici est la combinaison de ces fonctions. L’interface et le moteur d’exécution sans interface doivent comprendre les mêmes données. Les permissions doivent rester cohérentes d’un parcours à l’autre. Les guides doivent décrire ce que la version livrée permet réellement de faire.</a:t>
            </a:r>
            <a:endParaRPr/>
          </a:p>
          <a:p xmlns:a="http://schemas.openxmlformats.org/drawingml/2006/main">
            <a:pPr marL="0" lvl="0" indent="0" algn="l">
              <a:spcBef>
                <a:spcPts val="0"/>
              </a:spcBef>
              <a:spcAft>
                <a:spcPts val="0"/>
              </a:spcAft>
              <a:buNone/>
            </a:pPr>
            <a:r>
              <a:t>Une modification apparemment locale peut donc toucher plusieurs contrats. C’est ce décor qui explique le besoin d’une gouvernance plus soutenue. Un prompt ponctuel aurait du mal à porter durablement l’ensemble des décisions. La documentation fournit une mémoire commune aux interventions successives.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Source : Pro-Spec-Methode-et-modeles.docx, version 0.3, sections méthode et modèles. Dossier Docs/Pro-Spec du projet MyLocalAgent. Note « MyLocalAgent en quelques mots ». README.md du produit.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Nous pouvons maintenant donner une définition précise. Pro-Spec est une méthode empirique de gouvernance des projets logiciels réalisés par ou avec l’IA. Elle organise le travail autour d’une intention écrite, de lots bornés, de points de validation fondés sur des preuves et d’une mémoire maintenue dans le projet.</a:t>
            </a:r>
            <a:endParaRPr/>
          </a:p>
          <a:p xmlns:a="http://schemas.openxmlformats.org/drawingml/2006/main">
            <a:pPr marL="0" lvl="0" indent="0" algn="l">
              <a:spcBef>
                <a:spcPts val="0"/>
              </a:spcBef>
              <a:spcAft>
                <a:spcPts val="0"/>
              </a:spcAft>
              <a:buNone/>
            </a:pPr>
            <a:r>
              <a:t>Chaque élément a une fonction. L’intention écrite décrit le produit voulu. Le lot borne l’intervention que l’on peut entreprendre maintenant. La preuve permet de juger ce qui a réellement été vérifié. La mémoire conserve les décisions et les réserves utiles à la suite.</a:t>
            </a:r>
            <a:endParaRPr/>
          </a:p>
          <a:p xmlns:a="http://schemas.openxmlformats.org/drawingml/2006/main">
            <a:pPr marL="0" lvl="0" indent="0" algn="l">
              <a:spcBef>
                <a:spcPts val="0"/>
              </a:spcBef>
              <a:spcAft>
                <a:spcPts val="0"/>
              </a:spcAft>
              <a:buNone/>
            </a:pPr>
            <a:r>
              <a:t>Cette organisation peut fonctionner avec une seule personne et une IA. Le responsable humain fixe les objectifs et tranche les choix qui dépassent le mandat. L’IA peut prendre des décisions techniques à l’intérieur du cadre confié. Le volume de documents doit rester proportionné au projet et aux conséquences des changements.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Source : Pro-Spec-Methode-et-modeles.docx, version 0.3, sections méthode et modèles. Dossier Docs/Pro-Spec du projet MyLocalAgent. Méthode, §2.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Voici la demande qui va nous accompagner. Dans une application fictive de suivi de dossiers, un utilisateur souhaite exporter la liste au format CSV pour la reprendre dans un tableur. La phrase paraît simple. Pourtant, elle laisse plusieurs décisions ouvertes.</a:t>
            </a:r>
            <a:endParaRPr/>
          </a:p>
          <a:p xmlns:a="http://schemas.openxmlformats.org/drawingml/2006/main">
            <a:pPr marL="0" lvl="0" indent="0" algn="l">
              <a:spcBef>
                <a:spcPts val="0"/>
              </a:spcBef>
              <a:spcAft>
                <a:spcPts val="0"/>
              </a:spcAft>
              <a:buNone/>
            </a:pPr>
            <a:r>
              <a:t>Faut-il exporter la page affichée ou tous les résultats du filtre ? Quelles colonnes faut-il inclure ? Les commentaires internes peuvent-ils sortir de l’application ? Que se passe-t-il si un utilisateur tente d’exporter des dossiers auxquels il n’a pas accès ? Et quel fichier doit-on produire lorsque la liste est vide ?</a:t>
            </a:r>
            <a:endParaRPr/>
          </a:p>
          <a:p xmlns:a="http://schemas.openxmlformats.org/drawingml/2006/main">
            <a:pPr marL="0" lvl="0" indent="0" algn="l">
              <a:spcBef>
                <a:spcPts val="0"/>
              </a:spcBef>
              <a:spcAft>
                <a:spcPts val="0"/>
              </a:spcAft>
              <a:buNone/>
            </a:pPr>
            <a:r>
              <a:t>Ces questions ne sont pas des raffinements décoratifs. Elles changent le comportement du produit et la manière de le vérifier. Nous allons donc transformer cette demande en un mandat concret. Tous les résultats et décisions de cet exemple sont fictifs. Ils servent à montrer la méthode, sans prétendre décrire une fonctionnalité de MyLocalAgent.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Pour commencer, cinq rôles documentaires suffisent à rendre le travail lisible. La spécification décrit le produit voulu et ses règles communes. L’index indique les lots, leurs dépendances et la fiche actuellement active. La fiche de lot donne le mandat de l’intervention en cours.</a:t>
            </a:r>
            <a:endParaRPr/>
          </a:p>
          <a:p xmlns:a="http://schemas.openxmlformats.org/drawingml/2006/main">
            <a:pPr marL="0" lvl="0" indent="0" algn="l">
              <a:spcBef>
                <a:spcPts val="0"/>
              </a:spcBef>
              <a:spcAft>
                <a:spcPts val="0"/>
              </a:spcAft>
              <a:buNone/>
            </a:pPr>
            <a:r>
              <a:t>Le ledger, que l’on peut appeler registre des décisions et des livraisons, conserve ce qui a été décidé, pour quelle raison et avec quelles conséquences. Enfin, le rapport de contrôle relie les critères attendus aux vérifications réellement réalisées.</a:t>
            </a:r>
            <a:endParaRPr/>
          </a:p>
          <a:p xmlns:a="http://schemas.openxmlformats.org/drawingml/2006/main">
            <a:pPr marL="0" lvl="0" indent="0" algn="l">
              <a:spcBef>
                <a:spcPts val="0"/>
              </a:spcBef>
              <a:spcAft>
                <a:spcPts val="0"/>
              </a:spcAft>
              <a:buNone/>
            </a:pPr>
            <a:r>
              <a:t>Il s’agit de rôles, pas d’une obligation de créer exactement cinq fichiers. Sur un petit projet, l’index et les vérifications peuvent être des sections d’un même document. La condition est de retrouver facilement la réponse à chaque question. Dans notre exemple, le contrat durable sur les droits appartient à la spécification. Les colonnes de cet export et ses contrôles appartiennent à la fiche du lot.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Source : Pro-Spec-Methode-et-modeles.docx, version 0.3, sections méthode et modèles. Dossier Docs/Pro-Spec du projet MyLocalAgent. Méthode, §4 et modèles, §1. Socle minimal proposé.</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Autour du socle, d’autres documents ont un rôle très concret. Le README présente le produit et son démarrage. Les instructions de travail indiquent les conventions du dépôt, les commandes et les limites d’action. Leur nom dépend de l’outil utilisé, mais leur fonction reste la même.</a:t>
            </a:r>
            <a:endParaRPr/>
          </a:p>
          <a:p xmlns:a="http://schemas.openxmlformats.org/drawingml/2006/main">
            <a:pPr marL="0" lvl="0" indent="0" algn="l">
              <a:spcBef>
                <a:spcPts val="0"/>
              </a:spcBef>
              <a:spcAft>
                <a:spcPts val="0"/>
              </a:spcAft>
              <a:buNone/>
            </a:pPr>
            <a:r>
              <a:t>La documentation technique décrit les contrats que le développeur ou l’intégrateur doit respecter. La documentation utilisateur explique les tâches que l’on peut réellement accomplir. Dans notre export CSV, elle devra préciser la portée du filtre et les colonnes disponibles.</a:t>
            </a:r>
            <a:endParaRPr/>
          </a:p>
          <a:p xmlns:a="http://schemas.openxmlformats.org/drawingml/2006/main">
            <a:pPr marL="0" lvl="0" indent="0" algn="l">
              <a:spcBef>
                <a:spcPts val="0"/>
              </a:spcBef>
              <a:spcAft>
                <a:spcPts val="0"/>
              </a:spcAft>
              <a:buNone/>
            </a:pPr>
            <a:r>
              <a:t>Les exemples et les audits servent à vérifier des usages ou des risques particuliers. Les archives conservent l’histoire tout en indiquant clairement qu’un document n’est plus actif. Une archive mal signalée peut réintroduire une ancienne exigence dans le travail courant. Le maintien des liens entre ces documents fait donc partie du développement.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Source : Pro-Spec-Methode-et-modeles.docx, version 0.3, sections méthode et modèles. Dossier Docs/Pro-Spec du projet MyLocalAgent. Méthode,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VIDÉO</a:t>
            </a:r>
          </a:p>
          <a:p xmlns:a="http://schemas.openxmlformats.org/drawingml/2006/main">
            <a:r>
              <a:t/>
            </a:r>
          </a:p>
          <a:p xmlns:a="http://schemas.openxmlformats.org/drawingml/2006/main">
            <a:r>
              <a:t>Le cycle d’un lot comporte quatre moments faciles à retenir. La préparation rassemble le contexte, borne le travail et définit les critères de réussite. La réalisation produit les changements tout en conservant les décisions significatives. La vérification confronte le résultat aux critères. La transmission met le projet en état d’être repris.</a:t>
            </a:r>
          </a:p>
          <a:p xmlns:a="http://schemas.openxmlformats.org/drawingml/2006/main">
            <a:r>
              <a:t>Ces moments ne sont pas étanches. On vérifie déjà pendant la réalisation et on écrit une décision lorsqu’elle intervient. Le schéma représente surtout les responsabilités à couvrir avant de considérer le lot comme terminé.</a:t>
            </a:r>
          </a:p>
          <a:p xmlns:a="http://schemas.openxmlformats.org/drawingml/2006/main">
            <a:r>
              <a:t>Un lot utile produit un résultat cohérent que l’on peut expliquer et contrôler. Il peut être nécessaire d’insérer un travail préparatoire lorsqu’une dépendance manque. Dans notre exemple, l’export dépend de règles de filtrage et d’accès déjà établies. Si ces règles sont ambiguës, leur clarification précède la réalisation de l’export. L’ordre des travaux suit ainsi les dépendances réelles.</a:t>
            </a:r>
          </a:p>
          <a:p xmlns:a="http://schemas.openxmlformats.org/drawingml/2006/main">
            <a:r>
              <a:t/>
            </a:r>
          </a:p>
          <a:p xmlns:a="http://schemas.openxmlformats.org/drawingml/2006/main">
            <a:r>
              <a:t>ANIMATION EN COURS</a:t>
            </a:r>
          </a:p>
          <a:p xmlns:a="http://schemas.openxmlformats.org/drawingml/2006/main">
            <a:r>
              <a:t>Aucune pause imposée. Laisser un temps de lecture au schéma ou à l’exemple affiché.</a:t>
            </a:r>
          </a:p>
          <a:p xmlns:a="http://schemas.openxmlformats.org/drawingml/2006/main">
            <a:r>
              <a:t/>
            </a:r>
          </a:p>
          <a:p xmlns:a="http://schemas.openxmlformats.org/drawingml/2006/main">
            <a:r>
              <a:t>SOURCES</a:t>
            </a:r>
          </a:p>
          <a:p xmlns:a="http://schemas.openxmlformats.org/drawingml/2006/main">
            <a:r>
              <a:t>Source : Pro-Spec-Methode-et-modeles.docx, version 0.3, sections méthode et modèles. Dossier Docs/Pro-Spec du projet MyLocalAgent. Méthode, §6 à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spécification partagée décrit ce qui doit rester vrai au-delà du lot du jour. Dans notre application, l’utilisateur suit ses dossiers et peut réutiliser les données auxquelles il a accès. Nous inscrivons donc une règle commune sur les droits. Chaque parcours doit respecter les mêmes restrictions.</a:t>
            </a:r>
            <a:endParaRPr/>
          </a:p>
          <a:p xmlns:a="http://schemas.openxmlformats.org/drawingml/2006/main">
            <a:pPr marL="0" lvl="0" indent="0" algn="l">
              <a:spcBef>
                <a:spcPts val="0"/>
              </a:spcBef>
              <a:spcAft>
                <a:spcPts val="0"/>
              </a:spcAft>
              <a:buNone/>
            </a:pPr>
            <a:r>
              <a:t>Nous ajoutons également une règle sur les commentaires internes. Pour cet exemple, le responsable du produit décide qu’ils ne doivent pas figurer dans les exports. Cette règle pourrait concerner d’autres fonctions à l’avenir. Elle mérite donc une place dans le contrat commun.</a:t>
            </a:r>
            <a:endParaRPr/>
          </a:p>
          <a:p xmlns:a="http://schemas.openxmlformats.org/drawingml/2006/main">
            <a:pPr marL="0" lvl="0" indent="0" algn="l">
              <a:spcBef>
                <a:spcPts val="0"/>
              </a:spcBef>
              <a:spcAft>
                <a:spcPts val="0"/>
              </a:spcAft>
              <a:buNone/>
            </a:pPr>
            <a:r>
              <a:t>La spécification doit expliquer le résultat utile, les utilisateurs, les exclusions et les contraintes partagées. Elle peut contenir des contrats de formats ou d’interfaces lorsque plusieurs composants en dépendent. Une référence stable, comme R-01, facilite ensuite les liens vers les lots et leurs preuves. Ces identifiants sont une convention pédagogique proposée.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 Source : Pro-Spec-Methode-et-modeles.docx, version 0.3, sections méthode et modèles. Dossier Docs/Pro-Spec du projet MyLocalAgent. Modèle de spécification partagée.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VIDÉO</a:t>
            </a:r>
          </a:p>
          <a:p xmlns:a="http://schemas.openxmlformats.org/drawingml/2006/main">
            <a:r>
              <a:t/>
            </a:r>
          </a:p>
          <a:p xmlns:a="http://schemas.openxmlformats.org/drawingml/2006/main">
            <a:r>
              <a:t>L’index des lots rend visibles l’ordre et les dépendances. Dans notre scénario, un premier lot établit la liste et les filtres. Un second définit et vérifie les droits d’accès. Le troisième ajoute l’export en s’appuyant sur ces deux contrats.</a:t>
            </a:r>
          </a:p>
          <a:p xmlns:a="http://schemas.openxmlformats.org/drawingml/2006/main">
            <a:r>
              <a:t>Cet ordre est propre à l’exemple. Sur un autre produit, on pourrait construire les droits plus tôt ou mener certains travaux en parallèle. La règle générale consiste à identifier ce dont un lot a besoin pour produire un résultat vérifiable.</a:t>
            </a:r>
          </a:p>
          <a:p xmlns:a="http://schemas.openxmlformats.org/drawingml/2006/main">
            <a:r>
              <a:t>L’index doit également donner le statut et le lien vers la fiche active. Un numéro de fichier ne suffit pas. Une fiche peut avoir été remplacée ou un lot préparatoire ajouté. Si l’export révèle une faiblesse du filtrage, nous pouvons insérer un travail préalable et actualiser les dépendances. Le plan reste lisible lorsque sa révision apparaît explicitement dans les documents.</a:t>
            </a:r>
          </a:p>
          <a:p xmlns:a="http://schemas.openxmlformats.org/drawingml/2006/main">
            <a:r>
              <a:t/>
            </a:r>
          </a:p>
          <a:p xmlns:a="http://schemas.openxmlformats.org/drawingml/2006/main">
            <a:r>
              <a:t>ANIMATION EN COURS</a:t>
            </a:r>
          </a:p>
          <a:p xmlns:a="http://schemas.openxmlformats.org/drawingml/2006/main">
            <a:r>
              <a:t>Aucune pause imposée. Laisser un temps de lecture au schéma ou à l’exemple affiché.</a:t>
            </a:r>
          </a:p>
          <a:p xmlns:a="http://schemas.openxmlformats.org/drawingml/2006/main">
            <a:r>
              <a:t/>
            </a:r>
          </a:p>
          <a:p xmlns:a="http://schemas.openxmlformats.org/drawingml/2006/main">
            <a:r>
              <a:t>SOURCES</a:t>
            </a:r>
          </a:p>
          <a:p xmlns:a="http://schemas.openxmlformats.org/drawingml/2006/main">
            <a:r>
              <a:t>Exemple pédagogique fictif, construit pour ce cours. Les identifiants, résultats et décisions illustrent la méthode et ne décrivent pas une livraison réelle de MyLocalAgent. Les flèches représentent un ordre de réalisation choisi pour cet exemple. L-03 dépend de L-01 et L-02.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fiche de lot transforme l’intention générale en une intervention bornée. Elle commence par les lectures et les dépendances, pour que l’IA retrouve les bonnes décisions avant de modifier le projet. Elle décrit ensuite le résultat attendu et les limites du périmètre.</a:t>
            </a:r>
            <a:endParaRPr/>
          </a:p>
          <a:p xmlns:a="http://schemas.openxmlformats.org/drawingml/2006/main">
            <a:pPr marL="0" lvl="0" indent="0" algn="l">
              <a:spcBef>
                <a:spcPts val="0"/>
              </a:spcBef>
              <a:spcAft>
                <a:spcPts val="0"/>
              </a:spcAft>
              <a:buNone/>
            </a:pPr>
            <a:r>
              <a:t>Les contrats méritent une attention particulière. Ils précisent les entrées, les sorties, les erreurs et les contraintes de compatibilité. La fiche expose aussi les décisions déjà prises et celles qui restent ouvertes. L’IA peut alors distinguer un choix d’implémentation d’une décision produit à soumettre.</a:t>
            </a:r>
            <a:endParaRPr/>
          </a:p>
          <a:p xmlns:a="http://schemas.openxmlformats.org/drawingml/2006/main">
            <a:pPr marL="0" lvl="0" indent="0" algn="l">
              <a:spcBef>
                <a:spcPts val="0"/>
              </a:spcBef>
              <a:spcAft>
                <a:spcPts val="0"/>
              </a:spcAft>
              <a:buNone/>
            </a:pPr>
            <a:r>
              <a:t>Enfin, elle annonce les conditions de clôture. Quels contrôles faut-il exécuter ? Quels documents doivent évoluer ? Quel compte rendu doit rester disponible ? Dans les lots observés de MyLocalAgent, ces fonctions reviennent avec des niveaux de détail variables. Notre trame les rassemble pour les rendre plus faciles à réutiliser.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Source : Pro-Spec-Methode-et-modeles.docx, version 0.3, sections méthode et modèles. Dossier Docs/Pro-Spec du projet MyLocalAgent. Méthode, §3. Modèles, fiche de lot. Corpus : Docs/Prompts/01-Stage0-Foundation.md et 28-Stage28-WorkflowStepEditor.md.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Voici notre fiche de lot résumée. L’export porte sur tous les dossiers correspondant au filtre actif et accessibles à l’utilisateur, même si l’écran n’en affiche qu’une page. Le fichier contient trois colonnes, l’identifiant, le titre et le statut. Nous retenons un encodage UTF-8 et un en-tête conservé lorsque le résultat est vide.</a:t>
            </a:r>
            <a:endParaRPr/>
          </a:p>
          <a:p xmlns:a="http://schemas.openxmlformats.org/drawingml/2006/main">
            <a:pPr marL="0" lvl="0" indent="0" algn="l">
              <a:spcBef>
                <a:spcPts val="0"/>
              </a:spcBef>
              <a:spcAft>
                <a:spcPts val="0"/>
              </a:spcAft>
              <a:buNone/>
            </a:pPr>
            <a:r>
              <a:t>Le mandat exclut les commentaires internes et l’envoi automatique du fichier. Il prévoit des contrôles sur les droits, le filtre, les caractères accentués et la liste vide. Dans une fiche complète, nous préciserions aussi le séparateur, les règles de citation des champs et les erreurs d’écriture.</a:t>
            </a:r>
            <a:endParaRPr/>
          </a:p>
          <a:p xmlns:a="http://schemas.openxmlformats.org/drawingml/2006/main">
            <a:pPr marL="0" lvl="0" indent="0" algn="l">
              <a:spcBef>
                <a:spcPts val="0"/>
              </a:spcBef>
              <a:spcAft>
                <a:spcPts val="0"/>
              </a:spcAft>
              <a:buNone/>
            </a:pPr>
            <a:r>
              <a:t>Ces choix sont maintenant visibles et discutables avant la réalisation. Ils évitent que l’IA devine ce que signifie exporter la liste. Nous pourrons revenir à cette fiche pour juger le résultat, sans réécrire la définition de la réussite après avoir vu ce qui fonctionne.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VIDÉO</a:t>
            </a:r>
          </a:p>
          <a:p xmlns:a="http://schemas.openxmlformats.org/drawingml/2006/main">
            <a:r>
              <a:t/>
            </a:r>
          </a:p>
          <a:p xmlns:a="http://schemas.openxmlformats.org/drawingml/2006/main">
            <a:r>
              <a:t>Avant de travailler, l’IA doit reconstruire le contexte utile. Elle commence par les règles du dépôt et l’index, pour identifier les commandes applicables et la fiche active. Elle lit cette fiche, puis les références qu’elle impose, notamment la spécification et les décisions du ledger.</a:t>
            </a:r>
          </a:p>
          <a:p xmlns:a="http://schemas.openxmlformats.org/drawingml/2006/main">
            <a:r>
              <a:t>Elle confronte ensuite ces documents au code et aux tests existants. Le dépôt peut contenir des modifications locales ou des écarts qu’il faut comprendre avant d’ajouter un changement. Lire seulement le prompt ne suffit donc pas.</a:t>
            </a:r>
          </a:p>
          <a:p xmlns:a="http://schemas.openxmlformats.org/drawingml/2006/main">
            <a:r>
              <a:t>Dans la pratique d’origine, de nombreux lots demandent une lecture complète de la spécification et du ledger. Une lecture ciblée peut devenir utile lorsque le volume augmente, à condition de disposer d’un index fiable et d’une synthèse réellement maintenue. Elle ne doit pas servir à ignorer une lecture obligatoire. Pour notre export, l’IA doit notamment retrouver les contrats de filtrage et de droits.</a:t>
            </a:r>
          </a:p>
          <a:p xmlns:a="http://schemas.openxmlformats.org/drawingml/2006/main">
            <a:r>
              <a:t/>
            </a:r>
          </a:p>
          <a:p xmlns:a="http://schemas.openxmlformats.org/drawingml/2006/main">
            <a:r>
              <a:t>ANIMATION EN COURS</a:t>
            </a:r>
          </a:p>
          <a:p xmlns:a="http://schemas.openxmlformats.org/drawingml/2006/main">
            <a:r>
              <a:t>Aucune pause imposée. Laisser un temps de lecture au schéma ou à l’exemple affiché.</a:t>
            </a:r>
          </a:p>
          <a:p xmlns:a="http://schemas.openxmlformats.org/drawingml/2006/main">
            <a:r>
              <a:t/>
            </a:r>
          </a:p>
          <a:p xmlns:a="http://schemas.openxmlformats.org/drawingml/2006/main">
            <a:r>
              <a:t>SOURCES</a:t>
            </a:r>
          </a:p>
          <a:p xmlns:a="http://schemas.openxmlformats.org/drawingml/2006/main">
            <a:r>
              <a:t>Source : Pro-Spec-Methode-et-modeles.docx, version 0.3, sections méthode et modèles. Dossier Docs/Pro-Spec du projet MyLocalAgent. Méthode, §7. L’ordre condensé est une proposition pédagogique. Les lectures obligatoires de chaque lot restent applicables.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Lorsque les documents existent, le prompt d’exécution peut rester court. Il désigne la fiche active, impose ses lectures et rappelle les responsabilités de clôture. Nous pouvons demander de réaliser L-03 à partir de sa fiche, de respecter son périmètre, de tracer les décisions et de présenter les contrôles exécutés.</a:t>
            </a:r>
            <a:endParaRPr/>
          </a:p>
          <a:p xmlns:a="http://schemas.openxmlformats.org/drawingml/2006/main">
            <a:pPr marL="0" lvl="0" indent="0" algn="l">
              <a:spcBef>
                <a:spcPts val="0"/>
              </a:spcBef>
              <a:spcAft>
                <a:spcPts val="0"/>
              </a:spcAft>
              <a:buNone/>
            </a:pPr>
            <a:r>
              <a:t>Le détail du comportement reste dans le document du lot. Nous évitons ainsi de maintenir deux versions du même contrat, l’une dans un fichier et l’autre dans une conversation. Une correction de périmètre doit mettre à jour la référence active de manière explicite.</a:t>
            </a:r>
            <a:endParaRPr/>
          </a:p>
          <a:p xmlns:a="http://schemas.openxmlformats.org/drawingml/2006/main">
            <a:pPr marL="0" lvl="0" indent="0" algn="l">
              <a:spcBef>
                <a:spcPts val="0"/>
              </a:spcBef>
              <a:spcAft>
                <a:spcPts val="0"/>
              </a:spcAft>
              <a:buNone/>
            </a:pPr>
            <a:r>
              <a:t>Le prompt peut également rappeler la limite de délégation. L’IA choisit une solution technique à l’intérieur du mandat. Si une question change les données exportées, les droits ou les critères d’acceptation, elle doit exposer le choix précis à arbitrer. Le bénéfice recherché est une reprise plus simple, avec moins de répétitions et moins de décisions implicites.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 Source : Pro-Spec-Methode-et-modeles.docx, version 0.3, sections méthode et modèles. Dossier Docs/Pro-Spec du projet MyLocalAgent. Modèles de prompts d’exécution.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Pendant l’examen du code, l’IA découvre un utilitaire d’export qui peut recevoir toutes les propriétés d’un dossier, y compris les commentaires internes. Cette capacité technique ne constitue pas une autorisation produit. Notre mandat indique exactement les colonnes à exporter.</a:t>
            </a:r>
            <a:endParaRPr/>
          </a:p>
          <a:p xmlns:a="http://schemas.openxmlformats.org/drawingml/2006/main">
            <a:pPr marL="0" lvl="0" indent="0" algn="l">
              <a:spcBef>
                <a:spcPts val="0"/>
              </a:spcBef>
              <a:spcAft>
                <a:spcPts val="0"/>
              </a:spcAft>
              <a:buNone/>
            </a:pPr>
            <a:r>
              <a:t>L’IA peut réutiliser l’utilitaire avec une liste explicite des champs autorisés, si cette solution respecte les contraintes techniques. Elle doit ensuite contrôler que les commentaires restent absents du fichier. C’est un choix d’implémentation à l’intérieur du mandat.</a:t>
            </a:r>
            <a:endParaRPr/>
          </a:p>
          <a:p xmlns:a="http://schemas.openxmlformats.org/drawingml/2006/main">
            <a:pPr marL="0" lvl="0" indent="0" algn="l">
              <a:spcBef>
                <a:spcPts val="0"/>
              </a:spcBef>
              <a:spcAft>
                <a:spcPts val="0"/>
              </a:spcAft>
              <a:buNone/>
            </a:pPr>
            <a:r>
              <a:t>En revanche, décider d’ajouter les commentaires parce que cela paraît pratique modifierait le produit. Il faudrait un arbitrage explicite. Il en irait de même pour un envoi automatique du fichier. Cette distinction permet à l’IA de continuer les travaux autorisés tout en isolant les décisions qui dépassent son rôle. Elle évite de bloquer tout le lot pour une question qui ne concerne qu’une branche du travail.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ledger conserve ici une décision simple, D-07. L’export utilise une liste explicite limitée à l’identifiant, au titre et au statut. Le motif est le respect de la règle R-02. La portée concerne l’export CSV du lot L-03, et la conséquence est un contrôle du jeu exact de colonnes.</a:t>
            </a:r>
            <a:endParaRPr/>
          </a:p>
          <a:p xmlns:a="http://schemas.openxmlformats.org/drawingml/2006/main">
            <a:pPr marL="0" lvl="0" indent="0" algn="l">
              <a:spcBef>
                <a:spcPts val="0"/>
              </a:spcBef>
              <a:spcAft>
                <a:spcPts val="0"/>
              </a:spcAft>
              <a:buNone/>
            </a:pPr>
            <a:r>
              <a:t>Une entrée complète porterait aussi la date, l’auteur ou l’autorisation de la décision et les liens vers les éléments concernés. Elle permet de comprendre pourquoi l’équipe a choisi cette solution. Lors d’une évolution future, nous pourrons distinguer une précaution délibérée d’une limitation accidentelle.</a:t>
            </a:r>
            <a:endParaRPr/>
          </a:p>
          <a:p xmlns:a="http://schemas.openxmlformats.org/drawingml/2006/main">
            <a:pPr marL="0" lvl="0" indent="0" algn="l">
              <a:spcBef>
                <a:spcPts val="0"/>
              </a:spcBef>
              <a:spcAft>
                <a:spcPts val="0"/>
              </a:spcAft>
              <a:buNone/>
            </a:pPr>
            <a:r>
              <a:t>Le registre ne doit pas devenir une copie de chaque échange ou de chaque ligne modifiée. Il conserve les décisions significatives, les changements de contrat, les écarts et les preuves utiles. Pour être fiable, il faut le maintenir lorsque les décisions se prennent, puis vérifier sa cohérence au moment de la clôture.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 Source : Pro-Spec-Methode-et-modeles.docx, version 0.3, sections méthode et modèles. Dossier Docs/Pro-Spec du projet MyLocalAgent. Modèle du ledger.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difficulté fréquente est la contradiction entre un ancien document et le comportement actuel. Le premier réflexe consiste à rechercher une décision explicite de remplacement. Que remplace-t-elle, avec quelle portée et sous quelle autorité ? Si elle existe, nous appliquons cette portée et nous corrigeons les références actives qui induisent en erreur.</a:t>
            </a:r>
            <a:endParaRPr/>
          </a:p>
          <a:p xmlns:a="http://schemas.openxmlformats.org/drawingml/2006/main">
            <a:pPr marL="0" lvl="0" indent="0" algn="l">
              <a:spcBef>
                <a:spcPts val="0"/>
              </a:spcBef>
              <a:spcAft>
                <a:spcPts val="0"/>
              </a:spcAft>
              <a:buNone/>
            </a:pPr>
            <a:r>
              <a:t>Sans cette décision, il faut qualifier l’écart. Si le code viole une exigence active, nous avons un défaut ou une demande de changement à examiner. Le fait que le comportement existe ne suffit pas à le rendre légitime. Si deux intentions actives restent incompatibles, le responsable doit trancher ce point précis.</a:t>
            </a:r>
            <a:endParaRPr/>
          </a:p>
          <a:p xmlns:a="http://schemas.openxmlformats.org/drawingml/2006/main">
            <a:pPr marL="0" lvl="0" indent="0" algn="l">
              <a:spcBef>
                <a:spcPts val="0"/>
              </a:spcBef>
              <a:spcAft>
                <a:spcPts val="0"/>
              </a:spcAft>
              <a:buNone/>
            </a:pPr>
            <a:r>
              <a:t>Dans notre exemple, un vieux guide qui mentionnerait les commentaires internes ne pourrait pas annuler silencieusement R-02. Nous vérifierions son statut et l’historique. La résolution laisserait une trace du motif, ainsi qu’une mise à jour des documents concernés.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Source : Pro-Spec-Methode-et-modeles.docx, version 0.3, sections méthode et modèles. Dossier Docs/Pro-Spec du projet MyLocalAgent. Méthode, §5. Protocole proposé de résolution des contradictions.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VIDÉO</a:t>
            </a:r>
          </a:p>
          <a:p xmlns:a="http://schemas.openxmlformats.org/drawingml/2006/main">
            <a:r>
              <a:t/>
            </a:r>
          </a:p>
          <a:p xmlns:a="http://schemas.openxmlformats.org/drawingml/2006/main">
            <a:r>
              <a:t>Un point de validation, ou gate, est une condition de passage. Les quatre repères affichés sont une convention proposée pour enseigner la méthode. P0 signifie que le mandat est prêt. Les dépendances sont disponibles et les critères suffisamment précis pour commencer.</a:t>
            </a:r>
          </a:p>
          <a:p xmlns:a="http://schemas.openxmlformats.org/drawingml/2006/main">
            <a:r>
              <a:t>P1 est facultatif. Il sert lorsqu’une inconnue importante justifie une exploration de faisabilité avant un investissement plus large. P2 concerne la vérification du lot. Les critères disposent de résultats et de preuves que l’on peut examiner. P3 concerne l’acceptation du résultat pour l’usage prévu.</a:t>
            </a:r>
          </a:p>
          <a:p xmlns:a="http://schemas.openxmlformats.org/drawingml/2006/main">
            <a:r>
              <a:t>Ces distinctions évitent de confondre compilation réussie, lot contrôlé, produit accepté et déploiement. Dans MyLocalAgent, les points de validation se trouvent dans les étapes et les listes d’acceptation. Leur forme varie. Le principe réutilisable consiste à définir les conditions de passage et à conserver le résultat réel des contrôles. Un point de validation sans preuve resterait une simple déclaration.</a:t>
            </a:r>
          </a:p>
          <a:p xmlns:a="http://schemas.openxmlformats.org/drawingml/2006/main">
            <a:r>
              <a:t/>
            </a:r>
          </a:p>
          <a:p xmlns:a="http://schemas.openxmlformats.org/drawingml/2006/main">
            <a:r>
              <a:t>ANIMATION EN COURS</a:t>
            </a:r>
          </a:p>
          <a:p xmlns:a="http://schemas.openxmlformats.org/drawingml/2006/main">
            <a:r>
              <a:t>Aucune pause imposée. Laisser un temps de lecture au schéma ou à l’exemple affiché.</a:t>
            </a:r>
          </a:p>
          <a:p xmlns:a="http://schemas.openxmlformats.org/drawingml/2006/main">
            <a:r>
              <a:t/>
            </a:r>
          </a:p>
          <a:p xmlns:a="http://schemas.openxmlformats.org/drawingml/2006/main">
            <a:r>
              <a:t>SOURCES</a:t>
            </a:r>
          </a:p>
          <a:p xmlns:a="http://schemas.openxmlformats.org/drawingml/2006/main">
            <a:r>
              <a:t>Source : Pro-Spec-Methode-et-modeles.docx, version 0.3, sections méthode et modèles. Dossier Docs/Pro-Spec du projet MyLocalAgent. Méthode, points de validation. P0 à P3 sont une nomenclature proposée, pas les noms historiques des gates MyLocalAgent.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 rapport de contrôle gagne beaucoup en clarté lorsqu’il distingue quatre états. Réussi signifie que le contrôle a réellement été exécuté et que le résultat attendu a été observé. Échoué signifie qu’un écart a été constaté. Non exécuté signifie que la preuve manque, avec un motif et une action restante.</a:t>
            </a:r>
            <a:endParaRPr/>
          </a:p>
          <a:p xmlns:a="http://schemas.openxmlformats.org/drawingml/2006/main">
            <a:pPr marL="0" lvl="0" indent="0" algn="l">
              <a:spcBef>
                <a:spcPts val="0"/>
              </a:spcBef>
              <a:spcAft>
                <a:spcPts val="0"/>
              </a:spcAft>
              <a:buNone/>
            </a:pPr>
            <a:r>
              <a:t>Non applicable répond à une autre situation. Le contrôle ne concerne pas le cas étudié, ce qu’il faut justifier. Ce statut ne doit pas masquer l’absence d’un environnement nécessaire ou une difficulté d’exécution.</a:t>
            </a:r>
            <a:endParaRPr/>
          </a:p>
          <a:p xmlns:a="http://schemas.openxmlformats.org/drawingml/2006/main">
            <a:pPr marL="0" lvl="0" indent="0" algn="l">
              <a:spcBef>
                <a:spcPts val="0"/>
              </a:spcBef>
              <a:spcAft>
                <a:spcPts val="0"/>
              </a:spcAft>
              <a:buNone/>
            </a:pPr>
            <a:r>
              <a:t>Chaque preuve doit indiquer ce qui a été contrôlé et dans quelles conditions. Un test sur des données synthétiques établit une propriété dans ce contexte. Il ne prouve pas automatiquement le parcours utilisateur complet. Pour notre export, contrôler les octets du fichier et ouvrir ce fichier dans le tableur cible apportent des informations différentes. Nous devons conserver cette différence dans le rapport.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Source : Pro-Spec-Methode-et-modeles.docx, version 0.3, sections méthode et modèles. Dossier Docs/Pro-Spec du projet MyLocalAgent. Modèle du rapport d’acceptation.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Examinons notre rapport fictif. Le contrôle des droits réussit, seuls les dossiers autorisés figurent dans l’export. Le contrôle du filtre réussit également, avec l’ensemble des résultats attendus. Les contrôles du fichier confirment les colonnes, l’encodage et le cas vide.</a:t>
            </a:r>
            <a:endParaRPr/>
          </a:p>
          <a:p xmlns:a="http://schemas.openxmlformats.org/drawingml/2006/main">
            <a:pPr marL="0" lvl="0" indent="0" algn="l">
              <a:spcBef>
                <a:spcPts val="0"/>
              </a:spcBef>
              <a:spcAft>
                <a:spcPts val="0"/>
              </a:spcAft>
              <a:buNone/>
            </a:pPr>
            <a:r>
              <a:t>En revanche, personne n’a encore ouvert le fichier dans le tableur cible, car cet environnement n’était pas disponible. Le rapport indique donc non exécuté pour V-04. Il ne transforme pas cette absence en succès.</a:t>
            </a:r>
            <a:endParaRPr/>
          </a:p>
          <a:p xmlns:a="http://schemas.openxmlformats.org/drawingml/2006/main">
            <a:pPr marL="0" lvl="0" indent="0" algn="l">
              <a:spcBef>
                <a:spcPts val="0"/>
              </a:spcBef>
              <a:spcAft>
                <a:spcPts val="0"/>
              </a:spcAft>
              <a:buNone/>
            </a:pPr>
            <a:r>
              <a:t>La conclusion doit refléter cette situation. Les contrôles réalisés apportent des preuves utiles, mais l’acceptation reste en attente du parcours prévu. Le responsable peut décider de différer l’usage ou d’accepter explicitement une réserve dans un autre contexte. Dans notre scénario, nous conservons le statut à accepter et nous programmons le contrôle restant. Aucun de ces résultats ne démontre que le logiciel a été déployé.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 Rapport fictif, aucune exécution réelle revendiquée.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clôture ne consiste pas seulement à annoncer les fichiers modifiés. Elle remet en cohérence les références du projet. Dans notre exemple, le ledger contient D-07. Le guide utilisateur explique que l’export couvre les résultats du filtre et précise les colonnes. La documentation technique décrit le format produit.</a:t>
            </a:r>
            <a:endParaRPr/>
          </a:p>
          <a:p xmlns:a="http://schemas.openxmlformats.org/drawingml/2006/main">
            <a:pPr marL="0" lvl="0" indent="0" algn="l">
              <a:spcBef>
                <a:spcPts val="0"/>
              </a:spcBef>
              <a:spcAft>
                <a:spcPts val="0"/>
              </a:spcAft>
              <a:buNone/>
            </a:pPr>
            <a:r>
              <a:t>Le rapport conserve l’état de chaque contrôle. L’index indique que L-03 reste à accepter et pointe vers la réserve concernant le tableur. Le compte rendu final donne la prochaine action, assez précisément pour qu’une autre session puisse l’exécuter.</a:t>
            </a:r>
            <a:endParaRPr/>
          </a:p>
          <a:p xmlns:a="http://schemas.openxmlformats.org/drawingml/2006/main">
            <a:pPr marL="0" lvl="0" indent="0" algn="l">
              <a:spcBef>
                <a:spcPts val="0"/>
              </a:spcBef>
              <a:spcAft>
                <a:spcPts val="0"/>
              </a:spcAft>
              <a:buNone/>
            </a:pPr>
            <a:r>
              <a:t>Il n’est pas nécessaire de réécrire tous les documents à chaque lot. Il faut actualiser ceux que le changement affecte, et signaler honnêtement les vérifications qui manquent. Cette discipline crée la continuité recherchée. La prochaine intervention retrouvera un état explicite au lieu de devoir reconstruire les intentions à partir d’une longue conversation.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 Source : Pro-Spec-Methode-et-modeles.docx, version 0.3, sections méthode et modèles. Dossier Docs/Pro-Spec du projet MyLocalAgent. Méthode, clôture du 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Imaginons maintenant une nouvelle session, avec une IA qui ne dispose pas de la conversation précédente. Le prompt de reprise désigne L-03 et le contrôle V-04. Il renvoie vers l’index, la fiche active, la décision D-07 et le rapport de contrôle.</a:t>
            </a:r>
            <a:endParaRPr/>
          </a:p>
          <a:p xmlns:a="http://schemas.openxmlformats.org/drawingml/2006/main">
            <a:pPr marL="0" lvl="0" indent="0" algn="l">
              <a:spcBef>
                <a:spcPts val="0"/>
              </a:spcBef>
              <a:spcAft>
                <a:spcPts val="0"/>
              </a:spcAft>
              <a:buNone/>
            </a:pPr>
            <a:r>
              <a:t>L’IA peut ainsi comprendre ce qui existe déjà et ce qui manque. Elle n’a pas à refaire les choix de colonnes ou à réimplémenter l’export. Elle vérifie le parcours dans le tableur cible, à partir du jeu de données prévu, puis consigne le résultat. Dans la suite de notre scénario fictif, les accents et les colonnes apparaissent correctement. V-04 réussit et le responsable accepte L-03. Le rapport et l’index conservent cette décision, sans la confondre avec un déploiement.</a:t>
            </a:r>
            <a:endParaRPr/>
          </a:p>
          <a:p xmlns:a="http://schemas.openxmlformats.org/drawingml/2006/main">
            <a:pPr marL="0" lvl="0" indent="0" algn="l">
              <a:spcBef>
                <a:spcPts val="0"/>
              </a:spcBef>
              <a:spcAft>
                <a:spcPts val="0"/>
              </a:spcAft>
              <a:buNone/>
            </a:pPr>
            <a:r>
              <a:t>En cas d’interruption au milieu d’un travail, la même logique s’applique. Il faut laisser les modifications réalisées, les contrôles lancés, les échecs éventuels et la prochaine action. Une question encore ouverte doit apparaître comme telle. La qualité de cette transmission se mesure à la facilité de reprendre sans deviner.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 Source : Pro-Spec-Methode-et-modeles.docx, version 0.3, sections méthode et modèles. Dossier Docs/Pro-Spec du projet MyLocalAgent. Modèles de reprise et de clôture.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méthode doit permettre au produit d’évoluer. Supposons que l’on souhaite maintenant ajouter la date de clôture à l’export. Ce besoin peut être légitime. Nous le traitons comme une nouvelle décision et une révision de périmètre, avec les conséquences sur le format, les contrôles et les guides.</a:t>
            </a:r>
            <a:endParaRPr/>
          </a:p>
          <a:p xmlns:a="http://schemas.openxmlformats.org/drawingml/2006/main">
            <a:pPr marL="0" lvl="0" indent="0" algn="l">
              <a:spcBef>
                <a:spcPts val="0"/>
              </a:spcBef>
              <a:spcAft>
                <a:spcPts val="0"/>
              </a:spcAft>
              <a:buNone/>
            </a:pPr>
            <a:r>
              <a:t>La version précédente reste utile pour comprendre l’histoire. Elle doit cependant porter un statut explicite et un lien vers son successeur. L’index pointe vers la fiche active et les liens courants ne doivent plus ramener par erreur à l’ancienne consigne.</a:t>
            </a:r>
            <a:endParaRPr/>
          </a:p>
          <a:p xmlns:a="http://schemas.openxmlformats.org/drawingml/2006/main">
            <a:pPr marL="0" lvl="0" indent="0" algn="l">
              <a:spcBef>
                <a:spcPts val="0"/>
              </a:spcBef>
              <a:spcAft>
                <a:spcPts val="0"/>
              </a:spcAft>
              <a:buNone/>
            </a:pPr>
            <a:r>
              <a:t>Une décision verrouillée signifie qu’on ne la rouvre pas spontanément pendant un lot. Le responsable conserve la possibilité de la modifier de manière tracée. Dans les archives observées de MyLocalAgent, certaines propositions portent une interdiction d’implémentation. Ce signal aide à conserver la mémoire sans transformer chaque ancien texte en instruction actuelle.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 Source : Pro-Spec-Methode-et-modeles.docx, version 0.3, sections méthode et modèles. Dossier Docs/Pro-Spec du projet MyLocalAgent. Méthode, autorité et archives. Docs/Prompts/OldSpecs/READM.MD.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 serait trompeur de présenter une méthode empirique comme un mécanisme parfait. Le corpus de MyLocalAgent montre aussi les problèmes qui peuvent apparaître. La spécification et le ledger prennent du volume. L’index peut conserver un lien vers une version remplacée. Une ancienne règle peut diverger de l’état du produit.</a:t>
            </a:r>
            <a:endParaRPr/>
          </a:p>
          <a:p xmlns:a="http://schemas.openxmlformats.org/drawingml/2006/main">
            <a:pPr marL="0" lvl="0" indent="0" algn="l">
              <a:spcBef>
                <a:spcPts val="0"/>
              </a:spcBef>
              <a:spcAft>
                <a:spcPts val="0"/>
              </a:spcAft>
              <a:buNone/>
            </a:pPr>
            <a:r>
              <a:t>Ces observations donnent des pistes d’entretien très concrètes. Il faut un point d’entrée fiable, des statuts lisibles, une distinction entre décisions actives et histoire, ainsi qu’une vérification des références lors des révisions. Une synthèse peut aider à la lecture si quelqu’un la maintient réellement.</a:t>
            </a:r>
            <a:endParaRPr/>
          </a:p>
          <a:p xmlns:a="http://schemas.openxmlformats.org/drawingml/2006/main">
            <a:pPr marL="0" lvl="0" indent="0" algn="l">
              <a:spcBef>
                <a:spcPts val="0"/>
              </a:spcBef>
              <a:spcAft>
                <a:spcPts val="0"/>
              </a:spcAft>
              <a:buNone/>
            </a:pPr>
            <a:r>
              <a:t>Les preuves ont également leurs limites. Un contrôle technique réussi n’établit pas tout l’usage du produit. Pro-Spec rend ces limites visibles et aide à organiser leur traitement. Le corpus ne permet pas de chiffrer un gain de productivité attribuable à la méthode. Nous présentons une démarche de maîtrise du travail, avec ses coûts et ses exigences.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Docs/Pro-Spec/03-Inventaire-et-observations.md. Exemples : index Docs/Prompts/README.md et archives OldSpecs, audit de thèmes et spécification, références de rapports absents. Observations au 11 septembre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 projet réalisé avec l’IA peut contenir des fonctions parfaitement déterministes, comme notre export CSV. Il peut aussi intégrer lui-même des fonctions d’intelligence artificielle. Les preuves attendues diffèrent selon ce que l’on cherche à établir.</a:t>
            </a:r>
            <a:endParaRPr/>
          </a:p>
          <a:p xmlns:a="http://schemas.openxmlformats.org/drawingml/2006/main">
            <a:pPr marL="0" lvl="0" indent="0" algn="l">
              <a:spcBef>
                <a:spcPts val="0"/>
              </a:spcBef>
              <a:spcAft>
                <a:spcPts val="0"/>
              </a:spcAft>
              <a:buNone/>
            </a:pPr>
            <a:r>
              <a:t>Un test déterministe peut vérifier les colonnes exactes, les droits ou la gestion d’une erreur. Pour une fonction qui produit des réponses ou classe des documents, la qualité exige aussi une évaluation sur des cas représentatifs et des critères explicites. Le bon fonctionnement du mécanisme ne suffit pas à établir la pertinence des résultats.</a:t>
            </a:r>
            <a:endParaRPr/>
          </a:p>
          <a:p xmlns:a="http://schemas.openxmlformats.org/drawingml/2006/main">
            <a:pPr marL="0" lvl="0" indent="0" algn="l">
              <a:spcBef>
                <a:spcPts val="0"/>
              </a:spcBef>
              <a:spcAft>
                <a:spcPts val="0"/>
              </a:spcAft>
              <a:buNone/>
            </a:pPr>
            <a:r>
              <a:t>Dans la documentation de MyLocalAgent, cette distinction apparaît notamment autour des évaluations et des briefs correctifs. La leçon pour Pro-Spec est simple. Avant de choisir un contrôle, il faut formuler la propriété que l’on veut prouver. On conserve ensuite le périmètre, les données et les limites de la preuve. Cela évite d’étendre une conclusion au-delà de ce qui a été observé.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Source : Pro-Spec-Methode-et-modeles.docx, version 0.3, sections méthode et modèles. Dossier Docs/Pro-Spec du projet MyLocalAgent. Corpus : Docs/Prompts/Discover-AntiRepetition-Implementation-Brief.md et Stage27, évaluation sur corpus. Distinction pédagogique générale.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Prenons un instant pour appliquer la méthode. Nous sommes à la fin de L-03. Les tests automatisés passent, mais le tableur cible n’a toujours pas été essayé. Dans son dernier message, l’IA écrit simplement terminé. À partir de ce que nous venons de voir, quel statut faut-il retenir ?</a:t>
            </a:r>
            <a:endParaRPr/>
          </a:p>
          <a:p xmlns:a="http://schemas.openxmlformats.org/drawingml/2006/main">
            <a:pPr marL="0" lvl="0" indent="0" algn="l">
              <a:spcBef>
                <a:spcPts val="0"/>
              </a:spcBef>
              <a:spcAft>
                <a:spcPts val="0"/>
              </a:spcAft>
              <a:buNone/>
            </a:pPr>
            <a:r>
              <a:t>Je vous propose également deux questions complémentaires. Quels documents doivent conserver cette situation ? Et quelle action précise faut-il confier à une nouvelle session pour avancer ? Essayez de formuler une réponse qui serait utilisable par quelqu’un qui n’a pas suivi la conversation.</a:t>
            </a:r>
            <a:endParaRPr/>
          </a:p>
          <a:p xmlns:a="http://schemas.openxmlformats.org/drawingml/2006/main">
            <a:pPr marL="0" lvl="0" indent="0" algn="l">
              <a:spcBef>
                <a:spcPts val="0"/>
              </a:spcBef>
              <a:spcAft>
                <a:spcPts val="0"/>
              </a:spcAft>
              <a:buNone/>
            </a:pPr>
            <a:r>
              <a:t>Si vous regardez la vidéo, vous pouvez la mettre en pause et noter votre réponse. En cours collectif, nous pouvons prendre quelques minutes pour comparer les propositions. Il n’est pas nécessaire de rédiger un long rapport. L’essentiel est de distinguer le travail réalisé, la preuve manquante et la décision qui reste à prendre.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En cours : 3 à 5 minutes de réflexion à deux, puis discussion. En vidéo : proposer une pause libre avant la diapositive suivante.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SCRIPT VIDÉO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notre scénario, le statut à accepter est le plus précis. Les trois premiers contrôles ont réussi. V-04 reste non exécuté et son motif apparaît dans le rapport. L’index doit refléter la même situation. Le mot terminé peut décrire la fin d’une intervention, mais il ne suffit pas à qualifier l’acceptation du lot.</a:t>
            </a:r>
            <a:endParaRPr/>
          </a:p>
          <a:p xmlns:a="http://schemas.openxmlformats.org/drawingml/2006/main">
            <a:pPr marL="0" lvl="0" indent="0" algn="l">
              <a:spcBef>
                <a:spcPts val="0"/>
              </a:spcBef>
              <a:spcAft>
                <a:spcPts val="0"/>
              </a:spcAft>
              <a:buNone/>
            </a:pPr>
            <a:r>
              <a:t>La prochaine action est d’exécuter V-04 dans le tableur cible, avec les données et le résultat attendu prévus. Il faut conserver l’observation, puis permettre au responsable de statuer. Le déploiement reste une information distincte.</a:t>
            </a:r>
            <a:endParaRPr/>
          </a:p>
          <a:p xmlns:a="http://schemas.openxmlformats.org/drawingml/2006/main">
            <a:pPr marL="0" lvl="0" indent="0" algn="l">
              <a:spcBef>
                <a:spcPts val="0"/>
              </a:spcBef>
              <a:spcAft>
                <a:spcPts val="0"/>
              </a:spcAft>
              <a:buNone/>
            </a:pPr>
            <a:r>
              <a:t>Le responsable pourrait, dans un autre contexte, accepter une réserve en connaissant ses conséquences. Cette décision devrait elle aussi être explicite. Ce que la méthode cherche à éviter est une acceptation implicite déduite d’un message optimiste. La réponse utile décrit ce que l’on sait, ce que l’on ignore encore et la manière de lever cette incertitude.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EN COURS</a:t>
            </a:r>
            <a:endParaRPr/>
          </a:p>
          <a:p xmlns:a="http://schemas.openxmlformats.org/drawingml/2006/main">
            <a:pPr marL="0" lvl="0" indent="0" algn="l">
              <a:spcBef>
                <a:spcPts val="0"/>
              </a:spcBef>
              <a:spcAft>
                <a:spcPts val="0"/>
              </a:spcAft>
              <a:buNone/>
            </a:pPr>
            <a:r>
              <a:t>Aucune pause imposée. Laisser un temps de lecture au schéma ou à l’exemple affiché.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Exemple pédagogique fictif, construit pour ce cours. Les identifiants, résultats et décisions illustrent la méthode et ne décrivent pas une livraison réelle de MyLocalAgent.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VIDÉO</a:t>
            </a:r>
          </a:p>
          <a:p xmlns:a="http://schemas.openxmlformats.org/drawingml/2006/main">
            <a:r>
              <a:t/>
            </a:r>
          </a:p>
          <a:p xmlns:a="http://schemas.openxmlformats.org/drawingml/2006/main">
            <a:r>
              <a:t>Pour appliquer Pro-Spec à votre prochain projet, vous pouvez commencer avec une organisation très légère. Écrivez le résultat utile et les règles qui doivent rester vraies. Choisissez ensuite un lot suffisamment cohérent pour être réalisé et vérifié, puis indiquez ses lectures, ses limites et ses critères.</a:t>
            </a:r>
          </a:p>
          <a:p xmlns:a="http://schemas.openxmlformats.org/drawingml/2006/main">
            <a:r>
              <a:t>Pendant le travail, conservez les décisions qui auront une conséquence pour la suite. À la fin, reliez chaque critère à un contrôle réel et qualifiez les preuves manquantes. Actualisez les références concernées et laissez une prochaine action explicite.</a:t>
            </a:r>
          </a:p>
          <a:p xmlns:a="http://schemas.openxmlformats.org/drawingml/2006/main">
            <a:r>
              <a:t>Le nombre de documents augmente seulement lorsque les rôles deviennent difficiles à retrouver dans un même fichier. La bonne question est de savoir si une nouvelle intervention peut comprendre le mandat et juger le résultat sans deviner. L’exemple de l’export montre cette continuité sur un petit périmètre. La même logique peut ensuite accompagner un logiciel beaucoup plus étendu, avec davantage de dépendances et de points de validation.</a:t>
            </a:r>
          </a:p>
          <a:p xmlns:a="http://schemas.openxmlformats.org/drawingml/2006/main">
            <a:r>
              <a:t/>
            </a:r>
          </a:p>
          <a:p xmlns:a="http://schemas.openxmlformats.org/drawingml/2006/main">
            <a:r>
              <a:t>ANIMATION EN COURS</a:t>
            </a:r>
          </a:p>
          <a:p xmlns:a="http://schemas.openxmlformats.org/drawingml/2006/main">
            <a:r>
              <a:t>Aucune pause imposée. Laisser un temps de lecture au schéma ou à l’exemple affiché.</a:t>
            </a:r>
          </a:p>
          <a:p xmlns:a="http://schemas.openxmlformats.org/drawingml/2006/main">
            <a:r>
              <a:t/>
            </a:r>
          </a:p>
          <a:p xmlns:a="http://schemas.openxmlformats.org/drawingml/2006/main">
            <a:r>
              <a:t>SOURCES</a:t>
            </a:r>
          </a:p>
          <a:p xmlns:a="http://schemas.openxmlformats.org/drawingml/2006/main">
            <a:r>
              <a:t>Source : Pro-Spec-Methode-et-modeles.docx, version 0.3, sections méthode et modèles. Dossier Docs/Pro-Spec du projet MyLocalAgent. Synthèse pédagogique de la méthode et de son organisation minimale.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VIDÉO</a:t>
            </a:r>
            <a:endParaRPr/>
          </a:p>
          <a:p xmlns:a="http://schemas.openxmlformats.org/drawingml/2006/main">
            <a:r>
              <a:t/>
            </a:r>
            <a:endParaRPr/>
          </a:p>
          <a:p xmlns:a="http://schemas.openxmlformats.org/drawingml/2006/main">
            <a:r>
              <a:t>Nous arrivons au terme de ce cours. Nous avons suivi une demande courte, puis construit le cadre qui permettait de la réaliser, de la vérifier et de la reprendre. Le document de formalisation de Pro-Spec fournit les trames de spécification, de fiche de lot, de ledger, de rapport et de prompts pour prolonger ce travail.</a:t>
            </a:r>
            <a:endParaRPr/>
          </a:p>
          <a:p xmlns:a="http://schemas.openxmlformats.org/drawingml/2006/main">
            <a:r>
              <a:t>Je suis Olivier Dahan, architecte Senior .NET et Microsoft MVP depuis 2008. Je travaille en indépendant, j’écris et je forme les développeurs. Depuis 2007, j’ai publié plus de mille trois cents articles sur DotBlog. Je partage aussi cette expérience avec les éditeurs de logiciels et les entreprises qui disposent d’un pôle informatique interne.</a:t>
            </a:r>
            <a:endParaRPr/>
          </a:p>
          <a:p xmlns:a="http://schemas.openxmlformats.org/drawingml/2006/main">
            <a:r>
              <a:t>Vous trouverez mes coordonnées à l’écran pour poursuivre les échanges. Je vous propose maintenant de choisir un lot réel dans votre projet et de préparer les documents qui permettront de le reprendre sans réexpliquer toute son histoire. Merci de votre attention.</a:t>
            </a:r>
            <a:endParaRPr/>
          </a:p>
          <a:p xmlns:a="http://schemas.openxmlformats.org/drawingml/2006/main">
            <a:r>
              <a:t/>
            </a:r>
            <a:endParaRPr/>
          </a:p>
          <a:p xmlns:a="http://schemas.openxmlformats.org/drawingml/2006/main">
            <a:r>
              <a:t>ANIMATION EN COURS</a:t>
            </a:r>
            <a:endParaRPr/>
          </a:p>
          <a:p xmlns:a="http://schemas.openxmlformats.org/drawingml/2006/main">
            <a:r>
              <a:t>Aucune pause imposée. Laisser un temps de lecture au schéma ou à l’exemple affiché.</a:t>
            </a:r>
            <a:endParaRPr/>
          </a:p>
          <a:p xmlns:a="http://schemas.openxmlformats.org/drawingml/2006/main">
            <a:r>
              <a:t/>
            </a:r>
            <a:endParaRPr/>
          </a:p>
          <a:p xmlns:a="http://schemas.openxmlformats.org/drawingml/2006/main">
            <a:r>
              <a:t>SOURCES</a:t>
            </a:r>
            <a:endParaRPr/>
          </a:p>
          <a:p xmlns:a="http://schemas.openxmlformats.org/drawingml/2006/main">
            <a:r>
              <a:t>Biographie, coordonnées et copyright fournis par Olivier Dahan. Ressource du cours : Pro-Spec-Methode-et-modeles.docx, version 0.3. © 2026 Olivier Dahan.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c015e89ad642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2c82e79e5c4f4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fba2c4bd3642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576e7f072442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62ee36f6fc4d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19f3d08633449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4ba0c83e24440f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5486c5cd1304e7a"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9db11fae4b4697" /><Relationship Type="http://schemas.openxmlformats.org/officeDocument/2006/relationships/slideLayout" Target="/ppt/slideLayouts/slideLayout1.xml" Id="R87ed392e772b4e1c" /><Relationship Type="http://schemas.openxmlformats.org/officeDocument/2006/relationships/slideLayout" Target="/ppt/slideLayouts/slideLayout2.xml" Id="Re41eaeefe64e4cb6" /><Relationship Type="http://schemas.openxmlformats.org/officeDocument/2006/relationships/slideLayout" Target="/ppt/slideLayouts/slideLayout3.xml" Id="R71c8b5ef60e4414c" /><Relationship Type="http://schemas.openxmlformats.org/officeDocument/2006/relationships/slideLayout" Target="/ppt/slideLayouts/slideLayout4.xml" Id="Rf4fe630ad7044621" /><Relationship Type="http://schemas.openxmlformats.org/officeDocument/2006/relationships/slideLayout" Target="/ppt/slideLayouts/slideLayout5.xml" Id="R5ca354962dfb4a95" /><Relationship Type="http://schemas.openxmlformats.org/officeDocument/2006/relationships/slideLayout" Target="/ppt/slideLayouts/slideLayout6.xml" Id="R70236b24fa404c35" /><Relationship Type="http://schemas.openxmlformats.org/officeDocument/2006/relationships/slideLayout" Target="/ppt/slideLayouts/slideLayout7.xml" Id="R810b5a78e1a04dd6" /><Relationship Type="http://schemas.openxmlformats.org/officeDocument/2006/relationships/slideLayout" Target="/ppt/slideLayouts/slideLayout8.xml" Id="Re4320280688e4775"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ed392e772b4e1c"/>
    <p:sldLayoutId xmlns:r="http://schemas.openxmlformats.org/officeDocument/2006/relationships" id="2147483650" r:id="Re41eaeefe64e4cb6"/>
    <p:sldLayoutId xmlns:r="http://schemas.openxmlformats.org/officeDocument/2006/relationships" id="2147483651" r:id="R71c8b5ef60e4414c"/>
    <p:sldLayoutId xmlns:r="http://schemas.openxmlformats.org/officeDocument/2006/relationships" id="2147483652" r:id="Rf4fe630ad7044621"/>
    <p:sldLayoutId xmlns:r="http://schemas.openxmlformats.org/officeDocument/2006/relationships" id="2147483653" r:id="R5ca354962dfb4a95"/>
    <p:sldLayoutId xmlns:r="http://schemas.openxmlformats.org/officeDocument/2006/relationships" id="2147483654" r:id="R70236b24fa404c35"/>
    <p:sldLayoutId xmlns:r="http://schemas.openxmlformats.org/officeDocument/2006/relationships" id="2147483655" r:id="R810b5a78e1a04dd6"/>
    <p:sldLayoutId xmlns:r="http://schemas.openxmlformats.org/officeDocument/2006/relationships" id="2147483656" r:id="Re4320280688e4775"/>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51a0c94c5b46e5" /><Relationship Type="http://schemas.openxmlformats.org/officeDocument/2006/relationships/notesSlide" Target="/ppt/notesSlides/notesSlide1.xml" Id="R3862198e106f41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cce5be7d3cb4a0f" /><Relationship Type="http://schemas.openxmlformats.org/officeDocument/2006/relationships/notesSlide" Target="/ppt/notesSlides/notesSlide2.xml" Id="Re89257131d3349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ce51c502b6364ee6" /><Relationship Type="http://schemas.openxmlformats.org/officeDocument/2006/relationships/notesSlide" Target="/ppt/notesSlides/notesSlide3.xml" Id="R557df46452f846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3ffb800be3d47fa" /><Relationship Type="http://schemas.openxmlformats.org/officeDocument/2006/relationships/notesSlide" Target="/ppt/notesSlides/notesSlide4.xml" Id="Rcdcccdf6138948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7c80a01ed0a4ae9" /><Relationship Type="http://schemas.openxmlformats.org/officeDocument/2006/relationships/notesSlide" Target="/ppt/notesSlides/notesSlide5.xml" Id="R7b3214bb69614a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cd044cd59e4d99" /><Relationship Type="http://schemas.openxmlformats.org/officeDocument/2006/relationships/notesSlide" Target="/ppt/notesSlides/notesSlide6.xml" Id="R2976e9bab50449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8aa46a3db8c4a27" /><Relationship Type="http://schemas.openxmlformats.org/officeDocument/2006/relationships/notesSlide" Target="/ppt/notesSlides/notesSlide7.xml" Id="R08fee82a39314d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27ef9e8482546f8" /><Relationship Type="http://schemas.openxmlformats.org/officeDocument/2006/relationships/notesSlide" Target="/ppt/notesSlides/notesSlide8.xml" Id="Rd72b2f06a58e4e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5b1edba40fb461f" /><Relationship Type="http://schemas.openxmlformats.org/officeDocument/2006/relationships/notesSlide" Target="/ppt/notesSlides/notesSlide9.xml" Id="R2e1089f54d8047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a928404229741d3" /><Relationship Type="http://schemas.openxmlformats.org/officeDocument/2006/relationships/notesSlide" Target="/ppt/notesSlides/notesSlide10.xml" Id="R5e46079018e74c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5.xml" Id="R6e235b771e60444c" /><Relationship Type="http://schemas.openxmlformats.org/officeDocument/2006/relationships/notesSlide" Target="/ppt/notesSlides/notesSlide11.xml" Id="R3bf095f7b3024f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28839af02bd4a2f" /><Relationship Type="http://schemas.openxmlformats.org/officeDocument/2006/relationships/notesSlide" Target="/ppt/notesSlides/notesSlide12.xml" Id="R53aa3f87fab84f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5.xml" Id="R9f730a9e19294fd6" /><Relationship Type="http://schemas.openxmlformats.org/officeDocument/2006/relationships/notesSlide" Target="/ppt/notesSlides/notesSlide13.xml" Id="R8e3e65fc68c043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40cd7824e8b4f47" /><Relationship Type="http://schemas.openxmlformats.org/officeDocument/2006/relationships/notesSlide" Target="/ppt/notesSlides/notesSlide14.xml" Id="Rdfcd9290d42145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56260d0146f34b7b" /><Relationship Type="http://schemas.openxmlformats.org/officeDocument/2006/relationships/notesSlide" Target="/ppt/notesSlides/notesSlide15.xml" Id="Rda40724f3ef34d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457e47b9dfe24104" /><Relationship Type="http://schemas.openxmlformats.org/officeDocument/2006/relationships/notesSlide" Target="/ppt/notesSlides/notesSlide16.xml" Id="R350dcbe5b25c4b2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aba19d3aa91e443b" /><Relationship Type="http://schemas.openxmlformats.org/officeDocument/2006/relationships/notesSlide" Target="/ppt/notesSlides/notesSlide17.xml" Id="R77a0ce7576d940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e28d3ad98dd8452c" /><Relationship Type="http://schemas.openxmlformats.org/officeDocument/2006/relationships/notesSlide" Target="/ppt/notesSlides/notesSlide18.xml" Id="R386e088cfe7e49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5b07bd237284ef7" /><Relationship Type="http://schemas.openxmlformats.org/officeDocument/2006/relationships/notesSlide" Target="/ppt/notesSlides/notesSlide19.xml" Id="Re1ad99d5f35c474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50ea9a2fd384d82" /><Relationship Type="http://schemas.openxmlformats.org/officeDocument/2006/relationships/notesSlide" Target="/ppt/notesSlides/notesSlide20.xml" Id="R129b98d11ceb4aa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5.xml" Id="Rf1f4dbbad3644ead" /><Relationship Type="http://schemas.openxmlformats.org/officeDocument/2006/relationships/notesSlide" Target="/ppt/notesSlides/notesSlide21.xml" Id="R59b1e4bc3d0e4a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97cc367fbed4e48" /><Relationship Type="http://schemas.openxmlformats.org/officeDocument/2006/relationships/notesSlide" Target="/ppt/notesSlides/notesSlide22.xml" Id="Rb512adda6ae1405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635ef3013a44b10" /><Relationship Type="http://schemas.openxmlformats.org/officeDocument/2006/relationships/notesSlide" Target="/ppt/notesSlides/notesSlide23.xml" Id="R930c9c7b3bc74df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0c69f18ecba4433a" /><Relationship Type="http://schemas.openxmlformats.org/officeDocument/2006/relationships/notesSlide" Target="/ppt/notesSlides/notesSlide24.xml" Id="R37aa64bcec954b4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fd9f78d6d1844a7e" /><Relationship Type="http://schemas.openxmlformats.org/officeDocument/2006/relationships/notesSlide" Target="/ppt/notesSlides/notesSlide25.xml" Id="R1eb30cd996dc404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6a364fd0d8b444e5" /><Relationship Type="http://schemas.openxmlformats.org/officeDocument/2006/relationships/notesSlide" Target="/ppt/notesSlides/notesSlide26.xml" Id="R093d29a4c5d54aa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8a671442b0c43f3" /><Relationship Type="http://schemas.openxmlformats.org/officeDocument/2006/relationships/notesSlide" Target="/ppt/notesSlides/notesSlide27.xml" Id="R499b1e53edb6428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483cb8039bc42b1" /><Relationship Type="http://schemas.openxmlformats.org/officeDocument/2006/relationships/notesSlide" Target="/ppt/notesSlides/notesSlide28.xml" Id="R42b6c1e9ddb3454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b46c3e7ee86a4a20" /><Relationship Type="http://schemas.openxmlformats.org/officeDocument/2006/relationships/notesSlide" Target="/ppt/notesSlides/notesSlide29.xml" Id="Re3834cbc1e864d1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8038def7869245f1" /><Relationship Type="http://schemas.openxmlformats.org/officeDocument/2006/relationships/notesSlide" Target="/ppt/notesSlides/notesSlide30.xml" Id="R01cb36165c8d4ec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5.xml" Id="R4e26635fff594772" /><Relationship Type="http://schemas.openxmlformats.org/officeDocument/2006/relationships/notesSlide" Target="/ppt/notesSlides/notesSlide31.xml" Id="R3ba05ee843ca4c4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bc9a4edfe51426f" /><Relationship Type="http://schemas.openxmlformats.org/officeDocument/2006/relationships/notesSlide" Target="/ppt/notesSlides/notesSlide32.xml" Id="R601d65cdf6904342" /></Relationships>
</file>

<file path=ppt/slides/slide1.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6" name="OLIVIER DAHAN">
            <a:extLst xmlns:a="http://schemas.openxmlformats.org/drawingml/2006/main">
              <a:ext uri="{FF2B5EF4-FFF2-40B4-BE49-F238E27FC236}">
                <a16:creationId xmlns:a16="http://schemas.microsoft.com/office/drawing/2014/main" id="{4550EA89-4D5A-436F-98DD-B9064F87B166}"/>
              </a:ext>
            </a:extLst>
          </p:cNvPr>
          <p:cNvSpPr>
            <a:spLocks xmlns:a="http://schemas.openxmlformats.org/drawingml/2006/main" noGrp="1"/>
          </p:cNvSpPr>
          <p:nvPr/>
        </p:nvSpPr>
        <p:spPr>
          <a:xfrm xmlns:a="http://schemas.openxmlformats.org/drawingml/2006/main">
            <a:off x="600075" y="5524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53616E"/>
                </a:solidFill>
                <a:latin typeface="Roboto Medium"/>
                <a:ea typeface="Roboto Medium"/>
                <a:cs typeface="Roboto Medium"/>
              </a:defRPr>
            </a:pPr>
            <a:r>
              <a:rPr sz="1800">
                <a:solidFill>
                  <a:srgbClr val="53616E"/>
                </a:solidFill>
                <a:latin typeface="Roboto Medium"/>
                <a:ea typeface="Roboto Medium"/>
                <a:cs typeface="Roboto Medium"/>
              </a:rPr>
              <a:t>OLIVIER DAHAN</a:t>
            </a:r>
          </a:p>
        </p:txBody>
      </p:sp>
      <p:sp>
        <p:nvSpPr>
          <p:cNvPr id="2" name="Pro-Spec">
            <a:extLst xmlns:a="http://schemas.openxmlformats.org/drawingml/2006/main">
              <a:ext uri="{FF2B5EF4-FFF2-40B4-BE49-F238E27FC236}">
                <a16:creationId xmlns:a16="http://schemas.microsoft.com/office/drawing/2014/main" id="{F2F0AFBF-1102-460E-8A49-1B5DBFE9F280}"/>
              </a:ext>
            </a:extLst>
          </p:cNvPr>
          <p:cNvSpPr>
            <a:spLocks xmlns:a="http://schemas.openxmlformats.org/drawingml/2006/main" noGrp="1"/>
          </p:cNvSpPr>
          <p:nvPr/>
        </p:nvSpPr>
        <p:spPr>
          <a:xfrm xmlns:a="http://schemas.openxmlformats.org/drawingml/2006/main">
            <a:off x="571500" y="144780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500">
                <a:solidFill>
                  <a:srgbClr val="3157C8"/>
                </a:solidFill>
                <a:latin typeface="Lora Medium"/>
                <a:ea typeface="Lora Medium"/>
                <a:cs typeface="Lora Medium"/>
              </a:defRPr>
            </a:pPr>
            <a:r>
              <a:rPr sz="5500">
                <a:solidFill>
                  <a:srgbClr val="3157C8"/>
                </a:solidFill>
                <a:latin typeface="Lora Medium"/>
                <a:ea typeface="Lora Medium"/>
                <a:cs typeface="Lora Medium"/>
              </a:rPr>
              <a:t>Pro-Spec</a:t>
            </a:r>
          </a:p>
        </p:txBody>
      </p:sp>
      <p:sp>
        <p:nvSpPr>
          <p:cNvPr id="3" name="Gouverner un projet logiciel&#10;réalisé avec l’IA">
            <a:extLst xmlns:a="http://schemas.openxmlformats.org/drawingml/2006/main">
              <a:ext uri="{FF2B5EF4-FFF2-40B4-BE49-F238E27FC236}">
                <a16:creationId xmlns:a16="http://schemas.microsoft.com/office/drawing/2014/main" id="{911DBB2B-D59C-4D07-B294-8BCC9646CFB3}"/>
              </a:ext>
            </a:extLst>
          </p:cNvPr>
          <p:cNvSpPr>
            <a:spLocks xmlns:a="http://schemas.openxmlformats.org/drawingml/2006/main" noGrp="1"/>
          </p:cNvSpPr>
          <p:nvPr/>
        </p:nvSpPr>
        <p:spPr>
          <a:xfrm xmlns:a="http://schemas.openxmlformats.org/drawingml/2006/main">
            <a:off x="600075" y="28575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Gouverner un projet logiciel</a:t>
            </a:r>
          </a:p>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réalisé avec l’IA</a:t>
            </a:r>
          </a:p>
        </p:txBody>
      </p:sp>
      <p:sp>
        <p:nvSpPr>
          <p:cNvPr id="4" name="Cours et script vidéo">
            <a:extLst xmlns:a="http://schemas.openxmlformats.org/drawingml/2006/main">
              <a:ext uri="{FF2B5EF4-FFF2-40B4-BE49-F238E27FC236}">
                <a16:creationId xmlns:a16="http://schemas.microsoft.com/office/drawing/2014/main" id="{2C693C6D-4FAA-4665-9E56-8E17A653AB7A}"/>
              </a:ext>
            </a:extLst>
          </p:cNvPr>
          <p:cNvSpPr>
            <a:spLocks xmlns:a="http://schemas.openxmlformats.org/drawingml/2006/main" noGrp="1"/>
          </p:cNvSpPr>
          <p:nvPr/>
        </p:nvSpPr>
        <p:spPr>
          <a:xfrm xmlns:a="http://schemas.openxmlformats.org/drawingml/2006/main">
            <a:off x="600075" y="4610100"/>
            <a:ext cx="904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3157C8"/>
                </a:solidFill>
                <a:latin typeface="Roboto Medium"/>
                <a:ea typeface="Roboto Medium"/>
                <a:cs typeface="Roboto Medium"/>
              </a:defRPr>
            </a:pPr>
            <a:r>
              <a:rPr sz="1800">
                <a:solidFill>
                  <a:srgbClr val="3157C8"/>
                </a:solidFill>
                <a:latin typeface="Roboto Medium"/>
                <a:ea typeface="Roboto Medium"/>
                <a:cs typeface="Roboto Medium"/>
              </a:rPr>
              <a:t>Cours et script vidéo</a:t>
            </a:r>
          </a:p>
        </p:txBody>
      </p:sp>
      <p:sp>
        <p:nvSpPr>
          <p:cNvPr id="5" name="Une méthode empirique, un exemple suivi&#10;© 2026 Oli">
            <a:extLst xmlns:a="http://schemas.openxmlformats.org/drawingml/2006/main">
              <a:ext uri="{FF2B5EF4-FFF2-40B4-BE49-F238E27FC236}">
                <a16:creationId xmlns:a16="http://schemas.microsoft.com/office/drawing/2014/main" id="{E5D608BF-DA38-4A74-82FF-ADF8400949F5}"/>
              </a:ext>
            </a:extLst>
          </p:cNvPr>
          <p:cNvSpPr>
            <a:spLocks xmlns:a="http://schemas.openxmlformats.org/drawingml/2006/main" noGrp="1"/>
          </p:cNvSpPr>
          <p:nvPr/>
        </p:nvSpPr>
        <p:spPr>
          <a:xfrm xmlns:a="http://schemas.openxmlformats.org/drawingml/2006/main">
            <a:off x="600075" y="514350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Une méthode empirique, un exemple suivi</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 2026 Olivier Dahan</a:t>
            </a:r>
          </a:p>
        </p:txBody>
      </p:sp>
    </p:spTree>
    <p:extLst>
      <p:ext uri="{BB962C8B-B14F-4D97-AF65-F5344CB8AC3E}">
        <p14:creationId xmlns:p14="http://schemas.microsoft.com/office/powerpoint/2010/main" val="1685088558"/>
      </p:ext>
    </p:extLst>
  </p:cSld>
</p:sld>
</file>

<file path=ppt/slides/slide2.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9" name="Le parcours du cours">
            <a:extLst xmlns:a="http://schemas.openxmlformats.org/drawingml/2006/main">
              <a:ext uri="{FF2B5EF4-FFF2-40B4-BE49-F238E27FC236}">
                <a16:creationId xmlns:a16="http://schemas.microsoft.com/office/drawing/2014/main" id="{4BBDE4ED-30B3-4E3B-9FB0-2FA9AA0AD6CF}"/>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 parcours du cours</a:t>
            </a:r>
          </a:p>
        </p:txBody>
      </p:sp>
      <p:sp>
        <p:nvSpPr>
          <p:cNvPr id="2" name="02">
            <a:extLst xmlns:a="http://schemas.openxmlformats.org/drawingml/2006/main">
              <a:ext uri="{FF2B5EF4-FFF2-40B4-BE49-F238E27FC236}">
                <a16:creationId xmlns:a16="http://schemas.microsoft.com/office/drawing/2014/main" id="{AE5548BD-F8ED-479B-AB62-2C874C221249}"/>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02</a:t>
            </a:r>
          </a:p>
        </p:txBody>
      </p:sp>
      <p:sp>
        <p:nvSpPr>
          <p:cNvPr id="3" name="PRO-SPEC  /  © 2026 Olivier Dahan">
            <a:extLst xmlns:a="http://schemas.openxmlformats.org/drawingml/2006/main">
              <a:ext uri="{FF2B5EF4-FFF2-40B4-BE49-F238E27FC236}">
                <a16:creationId xmlns:a16="http://schemas.microsoft.com/office/drawing/2014/main" id="{0128858A-014B-4775-A349-C46685FD5E7B}"/>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Un même exemple à chaque étape">
            <a:extLst xmlns:a="http://schemas.openxmlformats.org/drawingml/2006/main">
              <a:ext uri="{FF2B5EF4-FFF2-40B4-BE49-F238E27FC236}">
                <a16:creationId xmlns:a16="http://schemas.microsoft.com/office/drawing/2014/main" id="{7BF76275-8C87-44ED-BDAA-6B4DC9096E6D}"/>
              </a:ext>
            </a:extLst>
          </p:cNvPr>
          <p:cNvSpPr>
            <a:spLocks xmlns:a="http://schemas.openxmlformats.org/drawingml/2006/main" noGrp="1"/>
          </p:cNvSpPr>
          <p:nvPr/>
        </p:nvSpPr>
        <p:spPr>
          <a:xfrm xmlns:a="http://schemas.openxmlformats.org/drawingml/2006/main">
            <a:off x="390525" y="1419225"/>
            <a:ext cx="1128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Lora Medium"/>
                <a:ea typeface="Lora Medium"/>
                <a:cs typeface="Lora Medium"/>
              </a:defRPr>
            </a:pPr>
            <a:r>
              <a:rPr sz="2175">
                <a:solidFill>
                  <a:srgbClr val="17202A"/>
                </a:solidFill>
                <a:latin typeface="Lora Medium"/>
                <a:ea typeface="Lora Medium"/>
                <a:cs typeface="Lora Medium"/>
              </a:rPr>
              <a:t>Un même exemple à chaque étape</a:t>
            </a:r>
          </a:p>
        </p:txBody>
      </p:sp>
      <p:sp>
        <p:nvSpPr>
          <p:cNvPr id="5" name="Comprendre le besoin">
            <a:extLst xmlns:a="http://schemas.openxmlformats.org/drawingml/2006/main">
              <a:ext uri="{FF2B5EF4-FFF2-40B4-BE49-F238E27FC236}">
                <a16:creationId xmlns:a16="http://schemas.microsoft.com/office/drawing/2014/main" id="{F4FF940F-F051-4801-9E09-3BF26E168C45}"/>
              </a:ext>
            </a:extLst>
          </p:cNvPr>
          <p:cNvSpPr>
            <a:spLocks xmlns:a="http://schemas.openxmlformats.org/drawingml/2006/main" noGrp="1"/>
          </p:cNvSpPr>
          <p:nvPr/>
        </p:nvSpPr>
        <p:spPr>
          <a:xfrm xmlns:a="http://schemas.openxmlformats.org/drawingml/2006/main">
            <a:off x="390525" y="235267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Comprendre le besoin</a:t>
            </a:r>
          </a:p>
        </p:txBody>
      </p:sp>
      <p:sp>
        <p:nvSpPr>
          <p:cNvPr id="6" name="Pourquoi la délégation à l’IA demande un cadre&#10;&#10;Le">
            <a:extLst xmlns:a="http://schemas.openxmlformats.org/drawingml/2006/main">
              <a:ext uri="{FF2B5EF4-FFF2-40B4-BE49-F238E27FC236}">
                <a16:creationId xmlns:a16="http://schemas.microsoft.com/office/drawing/2014/main" id="{DCC992D8-A45D-4298-BF37-D1CBC7363FBE}"/>
              </a:ext>
            </a:extLst>
          </p:cNvPr>
          <p:cNvSpPr>
            <a:spLocks xmlns:a="http://schemas.openxmlformats.org/drawingml/2006/main" noGrp="1"/>
          </p:cNvSpPr>
          <p:nvPr/>
        </p:nvSpPr>
        <p:spPr>
          <a:xfrm xmlns:a="http://schemas.openxmlformats.org/drawingml/2006/main">
            <a:off x="390525" y="3124200"/>
            <a:ext cx="54768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Pourquoi la délégation à l’IA demande un cadre</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Les documents et leur rôle</a:t>
            </a:r>
          </a:p>
        </p:txBody>
      </p:sp>
      <p:sp>
        <p:nvSpPr>
          <p:cNvPr id="7" name="Appliquer la méthode">
            <a:extLst xmlns:a="http://schemas.openxmlformats.org/drawingml/2006/main">
              <a:ext uri="{FF2B5EF4-FFF2-40B4-BE49-F238E27FC236}">
                <a16:creationId xmlns:a16="http://schemas.microsoft.com/office/drawing/2014/main" id="{3AE26B1B-9038-40A3-ACF8-FDA9616CB8D7}"/>
              </a:ext>
            </a:extLst>
          </p:cNvPr>
          <p:cNvSpPr>
            <a:spLocks xmlns:a="http://schemas.openxmlformats.org/drawingml/2006/main" noGrp="1"/>
          </p:cNvSpPr>
          <p:nvPr/>
        </p:nvSpPr>
        <p:spPr>
          <a:xfrm xmlns:a="http://schemas.openxmlformats.org/drawingml/2006/main">
            <a:off x="6267450" y="2352675"/>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Appliquer la méthode</a:t>
            </a:r>
          </a:p>
        </p:txBody>
      </p:sp>
      <p:sp>
        <p:nvSpPr>
          <p:cNvPr id="8" name="Préparer et conduire un lot&#10;&#10;Vérifier, décider et ">
            <a:extLst xmlns:a="http://schemas.openxmlformats.org/drawingml/2006/main">
              <a:ext uri="{FF2B5EF4-FFF2-40B4-BE49-F238E27FC236}">
                <a16:creationId xmlns:a16="http://schemas.microsoft.com/office/drawing/2014/main" id="{C9B9E585-8006-4421-9BE7-71219F57ECAF}"/>
              </a:ext>
            </a:extLst>
          </p:cNvPr>
          <p:cNvSpPr>
            <a:spLocks xmlns:a="http://schemas.openxmlformats.org/drawingml/2006/main" noGrp="1"/>
          </p:cNvSpPr>
          <p:nvPr/>
        </p:nvSpPr>
        <p:spPr>
          <a:xfrm xmlns:a="http://schemas.openxmlformats.org/drawingml/2006/main">
            <a:off x="6267450" y="3124200"/>
            <a:ext cx="55245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Préparer et conduire un lot</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Vérifier, décider et reprendre le travail</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3" name="La délégation change d’échelle">
            <a:extLst xmlns:a="http://schemas.openxmlformats.org/drawingml/2006/main">
              <a:ext uri="{FF2B5EF4-FFF2-40B4-BE49-F238E27FC236}">
                <a16:creationId xmlns:a16="http://schemas.microsoft.com/office/drawing/2014/main" id="{67BADC3C-60C6-4D68-946E-C2A55088C58E}"/>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La délégation change d’échelle</a:t>
            </a:r>
          </a:p>
        </p:txBody>
      </p:sp>
      <p:sp>
        <p:nvSpPr>
          <p:cNvPr id="2" name="03">
            <a:extLst xmlns:a="http://schemas.openxmlformats.org/drawingml/2006/main">
              <a:ext uri="{FF2B5EF4-FFF2-40B4-BE49-F238E27FC236}">
                <a16:creationId xmlns:a16="http://schemas.microsoft.com/office/drawing/2014/main" id="{94F550E9-5AC7-4F69-9084-8DE01C7647C7}"/>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03</a:t>
            </a:r>
          </a:p>
        </p:txBody>
      </p:sp>
      <p:sp>
        <p:nvSpPr>
          <p:cNvPr id="3" name="PRO-SPEC  /  © 2026 Olivier Dahan">
            <a:extLst xmlns:a="http://schemas.openxmlformats.org/drawingml/2006/main">
              <a:ext uri="{FF2B5EF4-FFF2-40B4-BE49-F238E27FC236}">
                <a16:creationId xmlns:a16="http://schemas.microsoft.com/office/drawing/2014/main" id="{2E8F637E-D39F-4E28-A732-4A29015850CD}"/>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e contexte à conserver grandit avec le travail co">
            <a:extLst xmlns:a="http://schemas.openxmlformats.org/drawingml/2006/main">
              <a:ext uri="{FF2B5EF4-FFF2-40B4-BE49-F238E27FC236}">
                <a16:creationId xmlns:a16="http://schemas.microsoft.com/office/drawing/2014/main" id="{E1EBE061-29CA-4E0D-B3EA-55F6300EB55B}"/>
              </a:ext>
            </a:extLst>
          </p:cNvPr>
          <p:cNvSpPr>
            <a:spLocks xmlns:a="http://schemas.openxmlformats.org/drawingml/2006/main" noGrp="1"/>
          </p:cNvSpPr>
          <p:nvPr/>
        </p:nvSpPr>
        <p:spPr>
          <a:xfrm xmlns:a="http://schemas.openxmlformats.org/drawingml/2006/main">
            <a:off x="390525" y="1381125"/>
            <a:ext cx="11410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Le contexte à conserver grandit avec le travail confié.</a:t>
            </a:r>
          </a:p>
        </p:txBody>
      </p:sp>
      <p:sp>
        <p:nvSpPr>
          <p:cNvPr id="5" name="Une fonction">
            <a:extLst xmlns:a="http://schemas.openxmlformats.org/drawingml/2006/main">
              <a:ext uri="{FF2B5EF4-FFF2-40B4-BE49-F238E27FC236}">
                <a16:creationId xmlns:a16="http://schemas.microsoft.com/office/drawing/2014/main" id="{AC44F7A2-DC48-4EBC-B703-51CFD0E7BECB}"/>
              </a:ext>
            </a:extLst>
          </p:cNvPr>
          <p:cNvSpPr>
            <a:spLocks xmlns:a="http://schemas.openxmlformats.org/drawingml/2006/main" noGrp="1"/>
          </p:cNvSpPr>
          <p:nvPr/>
        </p:nvSpPr>
        <p:spPr>
          <a:xfrm xmlns:a="http://schemas.openxmlformats.org/drawingml/2006/main">
            <a:off x="390525" y="2762250"/>
            <a:ext cx="314325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Une fonction</a:t>
            </a:r>
          </a:p>
        </p:txBody>
      </p:sp>
      <p:sp>
        <p:nvSpPr>
          <p:cNvPr id="6" name="Une demande locale&#10;Un résultat immédiat">
            <a:extLst xmlns:a="http://schemas.openxmlformats.org/drawingml/2006/main">
              <a:ext uri="{FF2B5EF4-FFF2-40B4-BE49-F238E27FC236}">
                <a16:creationId xmlns:a16="http://schemas.microsoft.com/office/drawing/2014/main" id="{3FB6F124-7102-41AE-9F25-2C64A4131319}"/>
              </a:ext>
            </a:extLst>
          </p:cNvPr>
          <p:cNvSpPr>
            <a:spLocks xmlns:a="http://schemas.openxmlformats.org/drawingml/2006/main" noGrp="1"/>
          </p:cNvSpPr>
          <p:nvPr/>
        </p:nvSpPr>
        <p:spPr>
          <a:xfrm xmlns:a="http://schemas.openxmlformats.org/drawingml/2006/main">
            <a:off x="390525" y="4095750"/>
            <a:ext cx="314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Une demande locale</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Un résultat immédiat</a:t>
            </a:r>
          </a:p>
        </p:txBody>
      </p:sp>
      <p:sp>
        <p:nvSpPr>
          <p:cNvPr id="7" name="Plusieurs fichiers">
            <a:extLst xmlns:a="http://schemas.openxmlformats.org/drawingml/2006/main">
              <a:ext uri="{FF2B5EF4-FFF2-40B4-BE49-F238E27FC236}">
                <a16:creationId xmlns:a16="http://schemas.microsoft.com/office/drawing/2014/main" id="{4DCD8047-900B-4E16-B5F5-CF3450C8ABDB}"/>
              </a:ext>
            </a:extLst>
          </p:cNvPr>
          <p:cNvSpPr>
            <a:spLocks xmlns:a="http://schemas.openxmlformats.org/drawingml/2006/main" noGrp="1"/>
          </p:cNvSpPr>
          <p:nvPr/>
        </p:nvSpPr>
        <p:spPr>
          <a:xfrm xmlns:a="http://schemas.openxmlformats.org/drawingml/2006/main">
            <a:off x="4524375" y="2762250"/>
            <a:ext cx="314325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Plusieurs fichiers</a:t>
            </a:r>
          </a:p>
        </p:txBody>
      </p:sp>
      <p:cxnSp>
        <p:nvCxnSpPr>
          <p:cNvPr id="20" name=""/>
          <p:cNvCxnSpPr>
            <a:stCxn xmlns:a="http://schemas.openxmlformats.org/drawingml/2006/main" id="5" idx="3"/>
            <a:endCxn xmlns:a="http://schemas.openxmlformats.org/drawingml/2006/main" id="7" idx="1"/>
          </p:cNvCxnSpPr>
          <p:nvPr/>
        </p:nvCxnSpPr>
        <p:spPr>
          <a:xfrm xmlns:a="http://schemas.openxmlformats.org/drawingml/2006/main">
            <a:off x="3533775" y="3238500"/>
            <a:ext cx="99060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9" name="Des contrats communs&#10;Des effets indirects">
            <a:extLst xmlns:a="http://schemas.openxmlformats.org/drawingml/2006/main">
              <a:ext uri="{FF2B5EF4-FFF2-40B4-BE49-F238E27FC236}">
                <a16:creationId xmlns:a16="http://schemas.microsoft.com/office/drawing/2014/main" id="{2FDB785F-C999-4B56-B844-D505725720FA}"/>
              </a:ext>
            </a:extLst>
          </p:cNvPr>
          <p:cNvSpPr>
            <a:spLocks xmlns:a="http://schemas.openxmlformats.org/drawingml/2006/main" noGrp="1"/>
          </p:cNvSpPr>
          <p:nvPr/>
        </p:nvSpPr>
        <p:spPr>
          <a:xfrm xmlns:a="http://schemas.openxmlformats.org/drawingml/2006/main">
            <a:off x="4524375" y="4095750"/>
            <a:ext cx="314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Des contrats communs</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Des effets indirects</a:t>
            </a:r>
          </a:p>
        </p:txBody>
      </p:sp>
      <p:sp>
        <p:nvSpPr>
          <p:cNvPr id="10" name="Plusieurs sessions">
            <a:extLst xmlns:a="http://schemas.openxmlformats.org/drawingml/2006/main">
              <a:ext uri="{FF2B5EF4-FFF2-40B4-BE49-F238E27FC236}">
                <a16:creationId xmlns:a16="http://schemas.microsoft.com/office/drawing/2014/main" id="{A9812817-C76D-43E0-91E4-8167A46AE676}"/>
              </a:ext>
            </a:extLst>
          </p:cNvPr>
          <p:cNvSpPr>
            <a:spLocks xmlns:a="http://schemas.openxmlformats.org/drawingml/2006/main" noGrp="1"/>
          </p:cNvSpPr>
          <p:nvPr/>
        </p:nvSpPr>
        <p:spPr>
          <a:xfrm xmlns:a="http://schemas.openxmlformats.org/drawingml/2006/main">
            <a:off x="8658225" y="2762250"/>
            <a:ext cx="314325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Plusieurs sessions</a:t>
            </a:r>
          </a:p>
        </p:txBody>
      </p:sp>
      <p:cxnSp>
        <p:nvCxnSpPr>
          <p:cNvPr id="23" name=""/>
          <p:cNvCxnSpPr>
            <a:stCxn xmlns:a="http://schemas.openxmlformats.org/drawingml/2006/main" id="7" idx="3"/>
            <a:endCxn xmlns:a="http://schemas.openxmlformats.org/drawingml/2006/main" id="10" idx="1"/>
          </p:cNvCxnSpPr>
          <p:nvPr/>
        </p:nvCxnSpPr>
        <p:spPr>
          <a:xfrm xmlns:a="http://schemas.openxmlformats.org/drawingml/2006/main">
            <a:off x="7667625" y="3238500"/>
            <a:ext cx="99060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12" name="Des décisions à retrouver&#10;Des travaux dépendants">
            <a:extLst xmlns:a="http://schemas.openxmlformats.org/drawingml/2006/main">
              <a:ext uri="{FF2B5EF4-FFF2-40B4-BE49-F238E27FC236}">
                <a16:creationId xmlns:a16="http://schemas.microsoft.com/office/drawing/2014/main" id="{A837E89F-6C9B-471D-A49A-26DDE6261208}"/>
              </a:ext>
            </a:extLst>
          </p:cNvPr>
          <p:cNvSpPr>
            <a:spLocks xmlns:a="http://schemas.openxmlformats.org/drawingml/2006/main" noGrp="1"/>
          </p:cNvSpPr>
          <p:nvPr/>
        </p:nvSpPr>
        <p:spPr>
          <a:xfrm xmlns:a="http://schemas.openxmlformats.org/drawingml/2006/main">
            <a:off x="8658225" y="4095750"/>
            <a:ext cx="314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Des décisions à retrouver</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Des travaux dépendants</a:t>
            </a:r>
          </a:p>
        </p:txBody>
      </p:sp>
    </p:spTree>
    <p:extLst>
      <p:ext uri="{BB962C8B-B14F-4D97-AF65-F5344CB8AC3E}">
        <p14:creationId xmlns:p14="http://schemas.microsoft.com/office/powerpoint/2010/main" val="3446338916"/>
      </p:ext>
    </p:extLst>
  </p:cSld>
</p:sld>
</file>

<file path=ppt/slides/slide4.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9" name="Le modèle et son harnais">
            <a:extLst xmlns:a="http://schemas.openxmlformats.org/drawingml/2006/main">
              <a:ext uri="{FF2B5EF4-FFF2-40B4-BE49-F238E27FC236}">
                <a16:creationId xmlns:a16="http://schemas.microsoft.com/office/drawing/2014/main" id="{C97A3CAA-0C69-436C-880A-50CF13B95DC0}"/>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 modèle et son harnais</a:t>
            </a:r>
          </a:p>
        </p:txBody>
      </p:sp>
      <p:sp>
        <p:nvSpPr>
          <p:cNvPr id="2" name="04">
            <a:extLst xmlns:a="http://schemas.openxmlformats.org/drawingml/2006/main">
              <a:ext uri="{FF2B5EF4-FFF2-40B4-BE49-F238E27FC236}">
                <a16:creationId xmlns:a16="http://schemas.microsoft.com/office/drawing/2014/main" id="{14FB562A-9DAD-4E14-9CB3-E20958A94360}"/>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04</a:t>
            </a:r>
          </a:p>
        </p:txBody>
      </p:sp>
      <p:sp>
        <p:nvSpPr>
          <p:cNvPr id="3" name="PRO-SPEC  /  © 2026 Olivier Dahan">
            <a:extLst xmlns:a="http://schemas.openxmlformats.org/drawingml/2006/main">
              <a:ext uri="{FF2B5EF4-FFF2-40B4-BE49-F238E27FC236}">
                <a16:creationId xmlns:a16="http://schemas.microsoft.com/office/drawing/2014/main" id="{1EC3FB4F-1BA3-4618-AAAD-D3457912C202}"/>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Des moyens d’action, avec un mandat à définir">
            <a:extLst xmlns:a="http://schemas.openxmlformats.org/drawingml/2006/main">
              <a:ext uri="{FF2B5EF4-FFF2-40B4-BE49-F238E27FC236}">
                <a16:creationId xmlns:a16="http://schemas.microsoft.com/office/drawing/2014/main" id="{99EB7069-EB9A-465D-8BA6-2C2476D29439}"/>
              </a:ext>
            </a:extLst>
          </p:cNvPr>
          <p:cNvSpPr>
            <a:spLocks xmlns:a="http://schemas.openxmlformats.org/drawingml/2006/main" noGrp="1"/>
          </p:cNvSpPr>
          <p:nvPr/>
        </p:nvSpPr>
        <p:spPr>
          <a:xfrm xmlns:a="http://schemas.openxmlformats.org/drawingml/2006/main">
            <a:off x="390525" y="1419225"/>
            <a:ext cx="1128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Lora Medium"/>
                <a:ea typeface="Lora Medium"/>
                <a:cs typeface="Lora Medium"/>
              </a:defRPr>
            </a:pPr>
            <a:r>
              <a:rPr sz="2175">
                <a:solidFill>
                  <a:srgbClr val="17202A"/>
                </a:solidFill>
                <a:latin typeface="Lora Medium"/>
                <a:ea typeface="Lora Medium"/>
                <a:cs typeface="Lora Medium"/>
              </a:rPr>
              <a:t>Des moyens d’action, avec un mandat à définir</a:t>
            </a:r>
          </a:p>
        </p:txBody>
      </p:sp>
      <p:sp>
        <p:nvSpPr>
          <p:cNvPr id="5" name="Le modèle">
            <a:extLst xmlns:a="http://schemas.openxmlformats.org/drawingml/2006/main">
              <a:ext uri="{FF2B5EF4-FFF2-40B4-BE49-F238E27FC236}">
                <a16:creationId xmlns:a16="http://schemas.microsoft.com/office/drawing/2014/main" id="{14A9B652-5F73-468C-AFB9-F03E79FA918C}"/>
              </a:ext>
            </a:extLst>
          </p:cNvPr>
          <p:cNvSpPr>
            <a:spLocks xmlns:a="http://schemas.openxmlformats.org/drawingml/2006/main" noGrp="1"/>
          </p:cNvSpPr>
          <p:nvPr/>
        </p:nvSpPr>
        <p:spPr>
          <a:xfrm xmlns:a="http://schemas.openxmlformats.org/drawingml/2006/main">
            <a:off x="390525" y="235267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Le modèle</a:t>
            </a:r>
          </a:p>
        </p:txBody>
      </p:sp>
      <p:sp>
        <p:nvSpPr>
          <p:cNvPr id="6" name="Il interprète la demande et propose des changement">
            <a:extLst xmlns:a="http://schemas.openxmlformats.org/drawingml/2006/main">
              <a:ext uri="{FF2B5EF4-FFF2-40B4-BE49-F238E27FC236}">
                <a16:creationId xmlns:a16="http://schemas.microsoft.com/office/drawing/2014/main" id="{E4D1EFC3-9E64-4A3F-8BF4-A280B371034F}"/>
              </a:ext>
            </a:extLst>
          </p:cNvPr>
          <p:cNvSpPr>
            <a:spLocks xmlns:a="http://schemas.openxmlformats.org/drawingml/2006/main" noGrp="1"/>
          </p:cNvSpPr>
          <p:nvPr/>
        </p:nvSpPr>
        <p:spPr>
          <a:xfrm xmlns:a="http://schemas.openxmlformats.org/drawingml/2006/main">
            <a:off x="390525" y="3124200"/>
            <a:ext cx="54768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Il interprète la demande et propose des changements.</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Les modèles les plus avancés sont parfois dits « frontière ».</a:t>
            </a:r>
          </a:p>
        </p:txBody>
      </p:sp>
      <p:sp>
        <p:nvSpPr>
          <p:cNvPr id="7" name="Le harnais">
            <a:extLst xmlns:a="http://schemas.openxmlformats.org/drawingml/2006/main">
              <a:ext uri="{FF2B5EF4-FFF2-40B4-BE49-F238E27FC236}">
                <a16:creationId xmlns:a16="http://schemas.microsoft.com/office/drawing/2014/main" id="{FC98DBD1-C255-4CEE-80FA-810890C03460}"/>
              </a:ext>
            </a:extLst>
          </p:cNvPr>
          <p:cNvSpPr>
            <a:spLocks xmlns:a="http://schemas.openxmlformats.org/drawingml/2006/main" noGrp="1"/>
          </p:cNvSpPr>
          <p:nvPr/>
        </p:nvSpPr>
        <p:spPr>
          <a:xfrm xmlns:a="http://schemas.openxmlformats.org/drawingml/2006/main">
            <a:off x="6267450" y="2352675"/>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Le harnais</a:t>
            </a:r>
          </a:p>
        </p:txBody>
      </p:sp>
      <p:sp>
        <p:nvSpPr>
          <p:cNvPr id="8" name="Il donne accès aux fichiers et aux outils.&#10;&#10;Il per">
            <a:extLst xmlns:a="http://schemas.openxmlformats.org/drawingml/2006/main">
              <a:ext uri="{FF2B5EF4-FFF2-40B4-BE49-F238E27FC236}">
                <a16:creationId xmlns:a16="http://schemas.microsoft.com/office/drawing/2014/main" id="{0CBB851E-193B-41A6-B203-19617A9F15DA}"/>
              </a:ext>
            </a:extLst>
          </p:cNvPr>
          <p:cNvSpPr>
            <a:spLocks xmlns:a="http://schemas.openxmlformats.org/drawingml/2006/main" noGrp="1"/>
          </p:cNvSpPr>
          <p:nvPr/>
        </p:nvSpPr>
        <p:spPr>
          <a:xfrm xmlns:a="http://schemas.openxmlformats.org/drawingml/2006/main">
            <a:off x="6267450" y="3124200"/>
            <a:ext cx="55245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Il donne accès aux fichiers et aux outils.</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Il permet de modifier le projet et de lancer des vérifications.</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7" name="Une méthode construite par la pratique">
            <a:extLst xmlns:a="http://schemas.openxmlformats.org/drawingml/2006/main">
              <a:ext uri="{FF2B5EF4-FFF2-40B4-BE49-F238E27FC236}">
                <a16:creationId xmlns:a16="http://schemas.microsoft.com/office/drawing/2014/main" id="{9A584B0F-02DB-4065-B915-F3E7A82CA0D1}"/>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Une méthode construite par la pratique</a:t>
            </a:r>
          </a:p>
        </p:txBody>
      </p:sp>
      <p:sp>
        <p:nvSpPr>
          <p:cNvPr id="2" name="05">
            <a:extLst xmlns:a="http://schemas.openxmlformats.org/drawingml/2006/main">
              <a:ext uri="{FF2B5EF4-FFF2-40B4-BE49-F238E27FC236}">
                <a16:creationId xmlns:a16="http://schemas.microsoft.com/office/drawing/2014/main" id="{5D7278D7-2930-48EA-B515-C11B7432EDBC}"/>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05</a:t>
            </a:r>
          </a:p>
        </p:txBody>
      </p:sp>
      <p:sp>
        <p:nvSpPr>
          <p:cNvPr id="3" name="PRO-SPEC  /  © 2026 Olivier Dahan">
            <a:extLst xmlns:a="http://schemas.openxmlformats.org/drawingml/2006/main">
              <a:ext uri="{FF2B5EF4-FFF2-40B4-BE49-F238E27FC236}">
                <a16:creationId xmlns:a16="http://schemas.microsoft.com/office/drawing/2014/main" id="{AF422AE5-7BA4-4C61-B77B-96FF590A0FA2}"/>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Une vingtaine de développements avec l’IA">
            <a:extLst xmlns:a="http://schemas.openxmlformats.org/drawingml/2006/main">
              <a:ext uri="{FF2B5EF4-FFF2-40B4-BE49-F238E27FC236}">
                <a16:creationId xmlns:a16="http://schemas.microsoft.com/office/drawing/2014/main" id="{E01D3F5F-D330-42BF-A115-22A9053B7E41}"/>
              </a:ext>
            </a:extLst>
          </p:cNvPr>
          <p:cNvSpPr>
            <a:spLocks xmlns:a="http://schemas.openxmlformats.org/drawingml/2006/main" noGrp="1"/>
          </p:cNvSpPr>
          <p:nvPr/>
        </p:nvSpPr>
        <p:spPr>
          <a:xfrm xmlns:a="http://schemas.openxmlformats.org/drawingml/2006/main">
            <a:off x="714375" y="1809750"/>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Une vingtaine de développements avec l’IA</a:t>
            </a:r>
          </a:p>
        </p:txBody>
      </p:sp>
      <p:sp>
        <p:nvSpPr>
          <p:cNvPr id="5" name="">
            <a:extLst xmlns:a="http://schemas.openxmlformats.org/drawingml/2006/main">
              <a:ext uri="{FF2B5EF4-FFF2-40B4-BE49-F238E27FC236}">
                <a16:creationId xmlns:a16="http://schemas.microsoft.com/office/drawing/2014/main" id="{C047087D-2FC5-4E52-8EA6-CE88E25AD320}"/>
              </a:ext>
            </a:extLst>
          </p:cNvPr>
          <p:cNvSpPr>
            <a:spLocks xmlns:a="http://schemas.openxmlformats.org/drawingml/2006/main" noGrp="1"/>
          </p:cNvSpPr>
          <p:nvPr/>
        </p:nvSpPr>
        <p:spPr>
          <a:xfrm xmlns:a="http://schemas.openxmlformats.org/drawingml/2006/main">
            <a:off x="714375" y="4191000"/>
            <a:ext cx="10763250"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Olivier Dahan a construit Pro-Spec par l’expérienc">
            <a:extLst xmlns:a="http://schemas.openxmlformats.org/drawingml/2006/main">
              <a:ext uri="{FF2B5EF4-FFF2-40B4-BE49-F238E27FC236}">
                <a16:creationId xmlns:a16="http://schemas.microsoft.com/office/drawing/2014/main" id="{DEFE33FD-1672-45F2-837D-0BA430E1204B}"/>
              </a:ext>
            </a:extLst>
          </p:cNvPr>
          <p:cNvSpPr>
            <a:spLocks xmlns:a="http://schemas.openxmlformats.org/drawingml/2006/main" noGrp="1"/>
          </p:cNvSpPr>
          <p:nvPr/>
        </p:nvSpPr>
        <p:spPr>
          <a:xfrm xmlns:a="http://schemas.openxmlformats.org/drawingml/2006/main">
            <a:off x="714375" y="46005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Olivier Dahan a construit Pro-Spec par l’expérience.</a:t>
            </a:r>
          </a:p>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MyLocalAgent en montre une application particulièrement documentée.</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7" name="Le terrain d’observation : MyLocalAgent">
            <a:extLst xmlns:a="http://schemas.openxmlformats.org/drawingml/2006/main">
              <a:ext uri="{FF2B5EF4-FFF2-40B4-BE49-F238E27FC236}">
                <a16:creationId xmlns:a16="http://schemas.microsoft.com/office/drawing/2014/main" id="{B47E5B0D-5176-4223-9DBB-BDF362C6F3BE}"/>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 terrain d’observation : MyLocalAgent</a:t>
            </a:r>
          </a:p>
        </p:txBody>
      </p:sp>
      <p:sp>
        <p:nvSpPr>
          <p:cNvPr id="2" name="06">
            <a:extLst xmlns:a="http://schemas.openxmlformats.org/drawingml/2006/main">
              <a:ext uri="{FF2B5EF4-FFF2-40B4-BE49-F238E27FC236}">
                <a16:creationId xmlns:a16="http://schemas.microsoft.com/office/drawing/2014/main" id="{5420EE31-650F-484E-A3DC-3C70F9A70AFB}"/>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06</a:t>
            </a:r>
          </a:p>
        </p:txBody>
      </p:sp>
      <p:sp>
        <p:nvSpPr>
          <p:cNvPr id="3" name="PRO-SPEC  /  © 2026 Olivier Dahan">
            <a:extLst xmlns:a="http://schemas.openxmlformats.org/drawingml/2006/main">
              <a:ext uri="{FF2B5EF4-FFF2-40B4-BE49-F238E27FC236}">
                <a16:creationId xmlns:a16="http://schemas.microsoft.com/office/drawing/2014/main" id="{4CF496C4-7EA4-4970-B501-5547FD57EEB6}"/>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Une application Windows pour créer, exécuter et pl">
            <a:extLst xmlns:a="http://schemas.openxmlformats.org/drawingml/2006/main">
              <a:ext uri="{FF2B5EF4-FFF2-40B4-BE49-F238E27FC236}">
                <a16:creationId xmlns:a16="http://schemas.microsoft.com/office/drawing/2014/main" id="{C4C592D0-00D6-41A5-AB96-24562B6EA8E6}"/>
              </a:ext>
            </a:extLst>
          </p:cNvPr>
          <p:cNvSpPr>
            <a:spLocks xmlns:a="http://schemas.openxmlformats.org/drawingml/2006/main" noGrp="1"/>
          </p:cNvSpPr>
          <p:nvPr/>
        </p:nvSpPr>
        <p:spPr>
          <a:xfrm xmlns:a="http://schemas.openxmlformats.org/drawingml/2006/main">
            <a:off x="390525" y="1381125"/>
            <a:ext cx="11410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Une application Windows pour créer, exécuter et planifier des tâches IA.</a:t>
            </a:r>
          </a:p>
        </p:txBody>
      </p:sp>
      <p:sp>
        <p:nvSpPr>
          <p:cNvPr id="5" name="">
            <a:extLst xmlns:a="http://schemas.openxmlformats.org/drawingml/2006/main">
              <a:ext uri="{FF2B5EF4-FFF2-40B4-BE49-F238E27FC236}">
                <a16:creationId xmlns:a16="http://schemas.microsoft.com/office/drawing/2014/main" id="{C1C5DCE9-D294-4538-A66C-7CBB4E33248A}"/>
              </a:ext>
            </a:extLst>
          </p:cNvPr>
          <p:cNvSpPr>
            <a:spLocks xmlns:a="http://schemas.openxmlformats.org/drawingml/2006/main" noGrp="1"/>
          </p:cNvSpPr>
          <p:nvPr/>
        </p:nvSpPr>
        <p:spPr>
          <a:xfrm xmlns:a="http://schemas.openxmlformats.org/drawingml/2006/main">
            <a:off x="704850" y="2590800"/>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Interaction">
            <a:extLst xmlns:a="http://schemas.openxmlformats.org/drawingml/2006/main">
              <a:ext uri="{FF2B5EF4-FFF2-40B4-BE49-F238E27FC236}">
                <a16:creationId xmlns:a16="http://schemas.microsoft.com/office/drawing/2014/main" id="{BCE946BC-6762-425D-ABCF-39CDE2E074DB}"/>
              </a:ext>
            </a:extLst>
          </p:cNvPr>
          <p:cNvSpPr>
            <a:spLocks xmlns:a="http://schemas.openxmlformats.org/drawingml/2006/main" noGrp="1"/>
          </p:cNvSpPr>
          <p:nvPr/>
        </p:nvSpPr>
        <p:spPr>
          <a:xfrm xmlns:a="http://schemas.openxmlformats.org/drawingml/2006/main">
            <a:off x="704850" y="27622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Interaction</a:t>
            </a:r>
          </a:p>
        </p:txBody>
      </p:sp>
      <p:sp>
        <p:nvSpPr>
          <p:cNvPr id="7" name="Conversation et workflows&#10;Interface native Windows">
            <a:extLst xmlns:a="http://schemas.openxmlformats.org/drawingml/2006/main">
              <a:ext uri="{FF2B5EF4-FFF2-40B4-BE49-F238E27FC236}">
                <a16:creationId xmlns:a16="http://schemas.microsoft.com/office/drawing/2014/main" id="{605198E1-F9AF-490B-B643-281A5B12B934}"/>
              </a:ext>
            </a:extLst>
          </p:cNvPr>
          <p:cNvSpPr>
            <a:spLocks xmlns:a="http://schemas.openxmlformats.org/drawingml/2006/main" noGrp="1"/>
          </p:cNvSpPr>
          <p:nvPr/>
        </p:nvSpPr>
        <p:spPr>
          <a:xfrm xmlns:a="http://schemas.openxmlformats.org/drawingml/2006/main">
            <a:off x="704850" y="3305175"/>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Conversation et workflows</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Interface native Windows</a:t>
            </a:r>
          </a:p>
        </p:txBody>
      </p:sp>
      <p:sp>
        <p:nvSpPr>
          <p:cNvPr id="8" name="">
            <a:extLst xmlns:a="http://schemas.openxmlformats.org/drawingml/2006/main">
              <a:ext uri="{FF2B5EF4-FFF2-40B4-BE49-F238E27FC236}">
                <a16:creationId xmlns:a16="http://schemas.microsoft.com/office/drawing/2014/main" id="{FA1FC7DD-A129-40D7-9C21-CDED114CDC10}"/>
              </a:ext>
            </a:extLst>
          </p:cNvPr>
          <p:cNvSpPr>
            <a:spLocks xmlns:a="http://schemas.openxmlformats.org/drawingml/2006/main" noGrp="1"/>
          </p:cNvSpPr>
          <p:nvPr/>
        </p:nvSpPr>
        <p:spPr>
          <a:xfrm xmlns:a="http://schemas.openxmlformats.org/drawingml/2006/main">
            <a:off x="6553200" y="2590800"/>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9" name="Exécution">
            <a:extLst xmlns:a="http://schemas.openxmlformats.org/drawingml/2006/main">
              <a:ext uri="{FF2B5EF4-FFF2-40B4-BE49-F238E27FC236}">
                <a16:creationId xmlns:a16="http://schemas.microsoft.com/office/drawing/2014/main" id="{DD874D61-ED30-48E3-9B43-E46D913E51C7}"/>
              </a:ext>
            </a:extLst>
          </p:cNvPr>
          <p:cNvSpPr>
            <a:spLocks xmlns:a="http://schemas.openxmlformats.org/drawingml/2006/main" noGrp="1"/>
          </p:cNvSpPr>
          <p:nvPr/>
        </p:nvSpPr>
        <p:spPr>
          <a:xfrm xmlns:a="http://schemas.openxmlformats.org/drawingml/2006/main">
            <a:off x="6553200" y="27622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Exécution</a:t>
            </a:r>
          </a:p>
        </p:txBody>
      </p:sp>
      <p:sp>
        <p:nvSpPr>
          <p:cNvPr id="10" name="Modèles locaux par défaut&#10;Cloud en option, exécuti">
            <a:extLst xmlns:a="http://schemas.openxmlformats.org/drawingml/2006/main">
              <a:ext uri="{FF2B5EF4-FFF2-40B4-BE49-F238E27FC236}">
                <a16:creationId xmlns:a16="http://schemas.microsoft.com/office/drawing/2014/main" id="{12F18BCF-4D79-4D9C-906A-3ECCB31E99A6}"/>
              </a:ext>
            </a:extLst>
          </p:cNvPr>
          <p:cNvSpPr>
            <a:spLocks xmlns:a="http://schemas.openxmlformats.org/drawingml/2006/main" noGrp="1"/>
          </p:cNvSpPr>
          <p:nvPr/>
        </p:nvSpPr>
        <p:spPr>
          <a:xfrm xmlns:a="http://schemas.openxmlformats.org/drawingml/2006/main">
            <a:off x="6553200" y="3305175"/>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Modèles locaux par défaut</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Cloud en option, exécution sans interface</a:t>
            </a:r>
          </a:p>
        </p:txBody>
      </p:sp>
      <p:sp>
        <p:nvSpPr>
          <p:cNvPr id="11" name="">
            <a:extLst xmlns:a="http://schemas.openxmlformats.org/drawingml/2006/main">
              <a:ext uri="{FF2B5EF4-FFF2-40B4-BE49-F238E27FC236}">
                <a16:creationId xmlns:a16="http://schemas.microsoft.com/office/drawing/2014/main" id="{A641522D-72D4-4942-8E0F-9898518A2277}"/>
              </a:ext>
            </a:extLst>
          </p:cNvPr>
          <p:cNvSpPr>
            <a:spLocks xmlns:a="http://schemas.openxmlformats.org/drawingml/2006/main" noGrp="1"/>
          </p:cNvSpPr>
          <p:nvPr/>
        </p:nvSpPr>
        <p:spPr>
          <a:xfrm xmlns:a="http://schemas.openxmlformats.org/drawingml/2006/main">
            <a:off x="704850" y="4448175"/>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12" name="Informations">
            <a:extLst xmlns:a="http://schemas.openxmlformats.org/drawingml/2006/main">
              <a:ext uri="{FF2B5EF4-FFF2-40B4-BE49-F238E27FC236}">
                <a16:creationId xmlns:a16="http://schemas.microsoft.com/office/drawing/2014/main" id="{C81DD986-AD87-487B-9421-0A9AD530D925}"/>
              </a:ext>
            </a:extLst>
          </p:cNvPr>
          <p:cNvSpPr>
            <a:spLocks xmlns:a="http://schemas.openxmlformats.org/drawingml/2006/main" noGrp="1"/>
          </p:cNvSpPr>
          <p:nvPr/>
        </p:nvSpPr>
        <p:spPr>
          <a:xfrm xmlns:a="http://schemas.openxmlformats.org/drawingml/2006/main">
            <a:off x="704850" y="46196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Informations</a:t>
            </a:r>
          </a:p>
        </p:txBody>
      </p:sp>
      <p:sp>
        <p:nvSpPr>
          <p:cNvPr id="13" name="Recherche web et documentaire&#10;Traitement de fichie">
            <a:extLst xmlns:a="http://schemas.openxmlformats.org/drawingml/2006/main">
              <a:ext uri="{FF2B5EF4-FFF2-40B4-BE49-F238E27FC236}">
                <a16:creationId xmlns:a16="http://schemas.microsoft.com/office/drawing/2014/main" id="{1F2E6D83-528B-4079-AE4F-9ED9728DB89A}"/>
              </a:ext>
            </a:extLst>
          </p:cNvPr>
          <p:cNvSpPr>
            <a:spLocks xmlns:a="http://schemas.openxmlformats.org/drawingml/2006/main" noGrp="1"/>
          </p:cNvSpPr>
          <p:nvPr/>
        </p:nvSpPr>
        <p:spPr>
          <a:xfrm xmlns:a="http://schemas.openxmlformats.org/drawingml/2006/main">
            <a:off x="704850" y="5162550"/>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Recherche web et documentaire</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Traitement de fichiers, connecteurs</a:t>
            </a:r>
          </a:p>
        </p:txBody>
      </p:sp>
      <p:sp>
        <p:nvSpPr>
          <p:cNvPr id="14" name="">
            <a:extLst xmlns:a="http://schemas.openxmlformats.org/drawingml/2006/main">
              <a:ext uri="{FF2B5EF4-FFF2-40B4-BE49-F238E27FC236}">
                <a16:creationId xmlns:a16="http://schemas.microsoft.com/office/drawing/2014/main" id="{89F1265B-A9B8-43AF-AD76-473F9FA2E80A}"/>
              </a:ext>
            </a:extLst>
          </p:cNvPr>
          <p:cNvSpPr>
            <a:spLocks xmlns:a="http://schemas.openxmlformats.org/drawingml/2006/main" noGrp="1"/>
          </p:cNvSpPr>
          <p:nvPr/>
        </p:nvSpPr>
        <p:spPr>
          <a:xfrm xmlns:a="http://schemas.openxmlformats.org/drawingml/2006/main">
            <a:off x="6553200" y="4448175"/>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15" name="Règles communes">
            <a:extLst xmlns:a="http://schemas.openxmlformats.org/drawingml/2006/main">
              <a:ext uri="{FF2B5EF4-FFF2-40B4-BE49-F238E27FC236}">
                <a16:creationId xmlns:a16="http://schemas.microsoft.com/office/drawing/2014/main" id="{28F9F6CE-0DC4-439C-8C23-DA6CFBB74541}"/>
              </a:ext>
            </a:extLst>
          </p:cNvPr>
          <p:cNvSpPr>
            <a:spLocks xmlns:a="http://schemas.openxmlformats.org/drawingml/2006/main" noGrp="1"/>
          </p:cNvSpPr>
          <p:nvPr/>
        </p:nvSpPr>
        <p:spPr>
          <a:xfrm xmlns:a="http://schemas.openxmlformats.org/drawingml/2006/main">
            <a:off x="6553200" y="46196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Règles communes</a:t>
            </a:r>
          </a:p>
        </p:txBody>
      </p:sp>
      <p:sp>
        <p:nvSpPr>
          <p:cNvPr id="16" name="Données persistantes, permissions&#10;Contrats entre p">
            <a:extLst xmlns:a="http://schemas.openxmlformats.org/drawingml/2006/main">
              <a:ext uri="{FF2B5EF4-FFF2-40B4-BE49-F238E27FC236}">
                <a16:creationId xmlns:a16="http://schemas.microsoft.com/office/drawing/2014/main" id="{158BDEEC-3B5F-4370-A213-1FE18DF72057}"/>
              </a:ext>
            </a:extLst>
          </p:cNvPr>
          <p:cNvSpPr>
            <a:spLocks xmlns:a="http://schemas.openxmlformats.org/drawingml/2006/main" noGrp="1"/>
          </p:cNvSpPr>
          <p:nvPr/>
        </p:nvSpPr>
        <p:spPr>
          <a:xfrm xmlns:a="http://schemas.openxmlformats.org/drawingml/2006/main">
            <a:off x="6553200" y="5162550"/>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Données persistantes, permissions</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Contrats entre plusieurs composants</a:t>
            </a:r>
          </a:p>
        </p:txBody>
      </p:sp>
    </p:spTree>
    <p:extLst>
      <p:ext uri="{BB962C8B-B14F-4D97-AF65-F5344CB8AC3E}">
        <p14:creationId xmlns:p14="http://schemas.microsoft.com/office/powerpoint/2010/main" val="2179535326"/>
      </p:ext>
    </p:extLst>
  </p:cSld>
</p:sld>
</file>

<file path=ppt/slides/slide7.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7" name="La définition de Pro-Spec">
            <a:extLst xmlns:a="http://schemas.openxmlformats.org/drawingml/2006/main">
              <a:ext uri="{FF2B5EF4-FFF2-40B4-BE49-F238E27FC236}">
                <a16:creationId xmlns:a16="http://schemas.microsoft.com/office/drawing/2014/main" id="{70F66C85-7808-4DC9-AFB7-3605FB760D32}"/>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La définition de Pro-Spec</a:t>
            </a:r>
          </a:p>
        </p:txBody>
      </p:sp>
      <p:sp>
        <p:nvSpPr>
          <p:cNvPr id="2" name="07">
            <a:extLst xmlns:a="http://schemas.openxmlformats.org/drawingml/2006/main">
              <a:ext uri="{FF2B5EF4-FFF2-40B4-BE49-F238E27FC236}">
                <a16:creationId xmlns:a16="http://schemas.microsoft.com/office/drawing/2014/main" id="{9E57B29F-D6AE-40D6-9254-D53389D5FB6F}"/>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07</a:t>
            </a:r>
          </a:p>
        </p:txBody>
      </p:sp>
      <p:sp>
        <p:nvSpPr>
          <p:cNvPr id="3" name="PRO-SPEC  /  © 2026 Olivier Dahan">
            <a:extLst xmlns:a="http://schemas.openxmlformats.org/drawingml/2006/main">
              <a:ext uri="{FF2B5EF4-FFF2-40B4-BE49-F238E27FC236}">
                <a16:creationId xmlns:a16="http://schemas.microsoft.com/office/drawing/2014/main" id="{20651E1A-F226-4C58-AF6C-6CB1315DD4A5}"/>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Une intention écrite, des lots bornés,&#10;des preuves">
            <a:extLst xmlns:a="http://schemas.openxmlformats.org/drawingml/2006/main">
              <a:ext uri="{FF2B5EF4-FFF2-40B4-BE49-F238E27FC236}">
                <a16:creationId xmlns:a16="http://schemas.microsoft.com/office/drawing/2014/main" id="{3C609512-4097-4889-9425-5516C7BEA2D9}"/>
              </a:ext>
            </a:extLst>
          </p:cNvPr>
          <p:cNvSpPr>
            <a:spLocks xmlns:a="http://schemas.openxmlformats.org/drawingml/2006/main" noGrp="1"/>
          </p:cNvSpPr>
          <p:nvPr/>
        </p:nvSpPr>
        <p:spPr>
          <a:xfrm xmlns:a="http://schemas.openxmlformats.org/drawingml/2006/main">
            <a:off x="714375" y="1809750"/>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Une intention écrite, des lots bornés,</a:t>
            </a:r>
          </a:p>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des preuves et une mémoire maintenue</a:t>
            </a:r>
          </a:p>
        </p:txBody>
      </p:sp>
      <p:sp>
        <p:nvSpPr>
          <p:cNvPr id="5" name="">
            <a:extLst xmlns:a="http://schemas.openxmlformats.org/drawingml/2006/main">
              <a:ext uri="{FF2B5EF4-FFF2-40B4-BE49-F238E27FC236}">
                <a16:creationId xmlns:a16="http://schemas.microsoft.com/office/drawing/2014/main" id="{DA42DC4F-9D4F-483B-ADDE-6294D63D2706}"/>
              </a:ext>
            </a:extLst>
          </p:cNvPr>
          <p:cNvSpPr>
            <a:spLocks xmlns:a="http://schemas.openxmlformats.org/drawingml/2006/main" noGrp="1"/>
          </p:cNvSpPr>
          <p:nvPr/>
        </p:nvSpPr>
        <p:spPr>
          <a:xfrm xmlns:a="http://schemas.openxmlformats.org/drawingml/2006/main">
            <a:off x="714375" y="4191000"/>
            <a:ext cx="10763250"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Une méthode empirique de gouvernance des projets l">
            <a:extLst xmlns:a="http://schemas.openxmlformats.org/drawingml/2006/main">
              <a:ext uri="{FF2B5EF4-FFF2-40B4-BE49-F238E27FC236}">
                <a16:creationId xmlns:a16="http://schemas.microsoft.com/office/drawing/2014/main" id="{771ECC73-9367-4CED-8EE6-4EE5A1813668}"/>
              </a:ext>
            </a:extLst>
          </p:cNvPr>
          <p:cNvSpPr>
            <a:spLocks xmlns:a="http://schemas.openxmlformats.org/drawingml/2006/main" noGrp="1"/>
          </p:cNvSpPr>
          <p:nvPr/>
        </p:nvSpPr>
        <p:spPr>
          <a:xfrm xmlns:a="http://schemas.openxmlformats.org/drawingml/2006/main">
            <a:off x="714375" y="46005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Une méthode empirique de gouvernance des projets logiciels</a:t>
            </a:r>
          </a:p>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réalisés par ou avec l’IA.</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7" name="Notre exemple suivi">
            <a:extLst xmlns:a="http://schemas.openxmlformats.org/drawingml/2006/main">
              <a:ext uri="{FF2B5EF4-FFF2-40B4-BE49-F238E27FC236}">
                <a16:creationId xmlns:a16="http://schemas.microsoft.com/office/drawing/2014/main" id="{4B33068C-AB5C-4D00-83E1-0B76BB38297C}"/>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Notre exemple suivi</a:t>
            </a:r>
          </a:p>
        </p:txBody>
      </p:sp>
      <p:sp>
        <p:nvSpPr>
          <p:cNvPr id="2" name="08">
            <a:extLst xmlns:a="http://schemas.openxmlformats.org/drawingml/2006/main">
              <a:ext uri="{FF2B5EF4-FFF2-40B4-BE49-F238E27FC236}">
                <a16:creationId xmlns:a16="http://schemas.microsoft.com/office/drawing/2014/main" id="{06EFD682-3A23-49BD-A3A9-AE384F26A9D7}"/>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08</a:t>
            </a:r>
          </a:p>
        </p:txBody>
      </p:sp>
      <p:sp>
        <p:nvSpPr>
          <p:cNvPr id="3" name="PRO-SPEC  /  © 2026 Olivier Dahan">
            <a:extLst xmlns:a="http://schemas.openxmlformats.org/drawingml/2006/main">
              <a:ext uri="{FF2B5EF4-FFF2-40B4-BE49-F238E27FC236}">
                <a16:creationId xmlns:a16="http://schemas.microsoft.com/office/drawing/2014/main" id="{5689FCEB-4160-4B19-94E2-52938B3A273D}"/>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 Ajoute un export CSV&#10;à la liste des dossiers. »">
            <a:extLst xmlns:a="http://schemas.openxmlformats.org/drawingml/2006/main">
              <a:ext uri="{FF2B5EF4-FFF2-40B4-BE49-F238E27FC236}">
                <a16:creationId xmlns:a16="http://schemas.microsoft.com/office/drawing/2014/main" id="{62684E38-9716-4CB7-A9B1-D2E2F3429580}"/>
              </a:ext>
            </a:extLst>
          </p:cNvPr>
          <p:cNvSpPr>
            <a:spLocks xmlns:a="http://schemas.openxmlformats.org/drawingml/2006/main" noGrp="1"/>
          </p:cNvSpPr>
          <p:nvPr/>
        </p:nvSpPr>
        <p:spPr>
          <a:xfrm xmlns:a="http://schemas.openxmlformats.org/drawingml/2006/main">
            <a:off x="714375" y="1809750"/>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 Ajoute un export CSV</a:t>
            </a:r>
          </a:p>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à la liste des dossiers. »</a:t>
            </a:r>
          </a:p>
        </p:txBody>
      </p:sp>
      <p:sp>
        <p:nvSpPr>
          <p:cNvPr id="5" name="">
            <a:extLst xmlns:a="http://schemas.openxmlformats.org/drawingml/2006/main">
              <a:ext uri="{FF2B5EF4-FFF2-40B4-BE49-F238E27FC236}">
                <a16:creationId xmlns:a16="http://schemas.microsoft.com/office/drawing/2014/main" id="{BFDAC9CC-103A-4BAE-A664-096FF899A981}"/>
              </a:ext>
            </a:extLst>
          </p:cNvPr>
          <p:cNvSpPr>
            <a:spLocks xmlns:a="http://schemas.openxmlformats.org/drawingml/2006/main" noGrp="1"/>
          </p:cNvSpPr>
          <p:nvPr/>
        </p:nvSpPr>
        <p:spPr>
          <a:xfrm xmlns:a="http://schemas.openxmlformats.org/drawingml/2006/main">
            <a:off x="714375" y="4191000"/>
            <a:ext cx="10763250"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Application fictive de suivi de dossiers&#10;Utilisate">
            <a:extLst xmlns:a="http://schemas.openxmlformats.org/drawingml/2006/main">
              <a:ext uri="{FF2B5EF4-FFF2-40B4-BE49-F238E27FC236}">
                <a16:creationId xmlns:a16="http://schemas.microsoft.com/office/drawing/2014/main" id="{E11F2862-3989-4219-AC92-00A9A6BA80A6}"/>
              </a:ext>
            </a:extLst>
          </p:cNvPr>
          <p:cNvSpPr>
            <a:spLocks xmlns:a="http://schemas.openxmlformats.org/drawingml/2006/main" noGrp="1"/>
          </p:cNvSpPr>
          <p:nvPr/>
        </p:nvSpPr>
        <p:spPr>
          <a:xfrm xmlns:a="http://schemas.openxmlformats.org/drawingml/2006/main">
            <a:off x="714375" y="46005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Application fictive de suivi de dossiers</a:t>
            </a:r>
          </a:p>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Utilisateurs avec droits d’accès, filtres et commentaires internes</a:t>
            </a:r>
          </a:p>
        </p:txBody>
      </p:sp>
    </p:spTree>
    <p:extLst>
      <p:ext uri="{BB962C8B-B14F-4D97-AF65-F5344CB8AC3E}">
        <p14:creationId xmlns:p14="http://schemas.microsoft.com/office/powerpoint/2010/main" val="546221724"/>
      </p:ext>
    </p:extLst>
  </p:cSld>
</p:sld>
</file>

<file path=ppt/slides/slide9.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7" name="Les cinq rôles documentaires du socle">
            <a:extLst xmlns:a="http://schemas.openxmlformats.org/drawingml/2006/main">
              <a:ext uri="{FF2B5EF4-FFF2-40B4-BE49-F238E27FC236}">
                <a16:creationId xmlns:a16="http://schemas.microsoft.com/office/drawing/2014/main" id="{CDCE8A33-C028-43B4-9F61-B0406004836F}"/>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Les cinq rôles documentaires du socle</a:t>
            </a:r>
          </a:p>
        </p:txBody>
      </p:sp>
      <p:sp>
        <p:nvSpPr>
          <p:cNvPr id="2" name="09">
            <a:extLst xmlns:a="http://schemas.openxmlformats.org/drawingml/2006/main">
              <a:ext uri="{FF2B5EF4-FFF2-40B4-BE49-F238E27FC236}">
                <a16:creationId xmlns:a16="http://schemas.microsoft.com/office/drawing/2014/main" id="{2A17692B-204E-457B-A924-8A4D3989840C}"/>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09</a:t>
            </a:r>
          </a:p>
        </p:txBody>
      </p:sp>
      <p:sp>
        <p:nvSpPr>
          <p:cNvPr id="3" name="PRO-SPEC  /  © 2026 Olivier Dahan">
            <a:extLst xmlns:a="http://schemas.openxmlformats.org/drawingml/2006/main">
              <a:ext uri="{FF2B5EF4-FFF2-40B4-BE49-F238E27FC236}">
                <a16:creationId xmlns:a16="http://schemas.microsoft.com/office/drawing/2014/main" id="{DD45C584-8183-4FF4-BA0F-627BA0F3379C}"/>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Chaque document répond à une question">
            <a:extLst xmlns:a="http://schemas.openxmlformats.org/drawingml/2006/main">
              <a:ext uri="{FF2B5EF4-FFF2-40B4-BE49-F238E27FC236}">
                <a16:creationId xmlns:a16="http://schemas.microsoft.com/office/drawing/2014/main" id="{B225617B-82F2-4B84-808B-4A1A207CF64D}"/>
              </a:ext>
            </a:extLst>
          </p:cNvPr>
          <p:cNvSpPr>
            <a:spLocks xmlns:a="http://schemas.openxmlformats.org/drawingml/2006/main" noGrp="1"/>
          </p:cNvSpPr>
          <p:nvPr/>
        </p:nvSpPr>
        <p:spPr>
          <a:xfrm xmlns:a="http://schemas.openxmlformats.org/drawingml/2006/main">
            <a:off x="390525" y="1619250"/>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a:solidFill>
                  <a:srgbClr val="17202A"/>
                </a:solidFill>
                <a:latin typeface="Lora Medium"/>
                <a:ea typeface="Lora Medium"/>
                <a:cs typeface="Lora Medium"/>
              </a:defRPr>
            </a:pPr>
            <a:r>
              <a:rPr sz="2250">
                <a:solidFill>
                  <a:srgbClr val="17202A"/>
                </a:solidFill>
                <a:latin typeface="Lora Medium"/>
                <a:ea typeface="Lora Medium"/>
                <a:cs typeface="Lora Medium"/>
              </a:rPr>
              <a:t>Chaque document répond à une question</a:t>
            </a:r>
          </a:p>
        </p:txBody>
      </p:sp>
      <p:sp>
        <p:nvSpPr>
          <p:cNvPr id="5" name="Les noms de fichiers sont libres.&#10;&#10;Plusieurs rôles">
            <a:extLst xmlns:a="http://schemas.openxmlformats.org/drawingml/2006/main">
              <a:ext uri="{FF2B5EF4-FFF2-40B4-BE49-F238E27FC236}">
                <a16:creationId xmlns:a16="http://schemas.microsoft.com/office/drawing/2014/main" id="{D6E5A188-0F6B-4438-ADC7-A44BB9074406}"/>
              </a:ext>
            </a:extLst>
          </p:cNvPr>
          <p:cNvSpPr>
            <a:spLocks xmlns:a="http://schemas.openxmlformats.org/drawingml/2006/main" noGrp="1"/>
          </p:cNvSpPr>
          <p:nvPr/>
        </p:nvSpPr>
        <p:spPr>
          <a:xfrm xmlns:a="http://schemas.openxmlformats.org/drawingml/2006/main">
            <a:off x="390525" y="3000375"/>
            <a:ext cx="3476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Les noms de fichiers sont libres.</a:t>
            </a:r>
          </a:p>
          <a:p xmlns:a="http://schemas.openxmlformats.org/drawingml/2006/main">
            <a:r>
              <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Plusieurs rôles peuvent tenir dans un même document.</a:t>
            </a:r>
          </a:p>
        </p:txBody>
      </p:sp>
      <p:graphicFrame>
        <p:nvGraphicFramePr>
          <p:cNvPr id="12" name=""/>
          <p:cNvGraphicFramePr/>
          <p:nvPr/>
        </p:nvGraphicFramePr>
        <p:xfrm>
          <a:off xmlns:a="http://schemas.openxmlformats.org/drawingml/2006/main" x="4238625" y="1714500"/>
          <a:ext xmlns:a="http://schemas.openxmlformats.org/drawingml/2006/main" cx="7477125" cy="4191000"/>
        </p:xfrm>
        <a:graphic xmlns:a="http://schemas.openxmlformats.org/drawingml/2006/main">
          <a:graphicData uri="http://schemas.openxmlformats.org/drawingml/2006/table">
            <a:tbl>
              <a:tblPr/>
              <a:tblGrid>
                <a:gridCol w="2476500"/>
                <a:gridCol w="5000625"/>
              </a:tblGrid>
              <a:tr h="698500">
                <a:tc>
                  <a:txBody>
                    <a:bodyPr>
                      <a:noAutofit/>
                    </a:bodyPr>
                    <a:lstStyle/>
                    <a:p>
                      <a:r>
                        <a:rPr sz="1650" b="1">
                          <a:solidFill>
                            <a:srgbClr val="FFFFFF"/>
                          </a:solidFill>
                          <a:latin typeface="Helvetica Neue"/>
                          <a:ea typeface="Helvetica Neue"/>
                          <a:cs typeface="Helvetica Neue"/>
                        </a:rPr>
                        <a:t>Rôle</a:t>
                      </a:r>
                    </a:p>
                  </a:txBody>
                  <a:tcPr marL="91440" marR="91440" marT="45720" marB="45720">
                    <a:solidFill>
                      <a:srgbClr val="3157C8"/>
                    </a:solidFill>
                  </a:tcPr>
                </a:tc>
                <a:tc>
                  <a:txBody>
                    <a:bodyPr>
                      <a:noAutofit/>
                    </a:bodyPr>
                    <a:lstStyle/>
                    <a:p>
                      <a:r>
                        <a:rPr sz="1650" b="1">
                          <a:solidFill>
                            <a:srgbClr val="FFFFFF"/>
                          </a:solidFill>
                          <a:latin typeface="Helvetica Neue"/>
                          <a:ea typeface="Helvetica Neue"/>
                          <a:cs typeface="Helvetica Neue"/>
                        </a:rPr>
                        <a:t>Question</a:t>
                      </a:r>
                    </a:p>
                  </a:txBody>
                  <a:tcPr marL="91440" marR="91440" marT="45720" marB="45720">
                    <a:solidFill>
                      <a:srgbClr val="3157C8"/>
                    </a:solidFill>
                  </a:tcPr>
                </a:tc>
              </a:tr>
              <a:tr h="698500">
                <a:tc>
                  <a:txBody>
                    <a:bodyPr>
                      <a:noAutofit/>
                    </a:bodyPr>
                    <a:lstStyle/>
                    <a:p>
                      <a:r>
                        <a:rPr sz="1650" b="0">
                          <a:solidFill>
                            <a:srgbClr val="17202A"/>
                          </a:solidFill>
                          <a:latin typeface="Helvetica Neue"/>
                          <a:ea typeface="Helvetica Neue"/>
                          <a:cs typeface="Helvetica Neue"/>
                        </a:rPr>
                        <a:t>Spécification</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Quel produit veut-on ?</a:t>
                      </a:r>
                    </a:p>
                  </a:txBody>
                  <a:tcPr marL="91440" marR="91440" marT="45720" marB="45720">
                    <a:solidFill>
                      <a:srgbClr val="F8FBFD"/>
                    </a:solidFill>
                  </a:tcPr>
                </a:tc>
              </a:tr>
              <a:tr h="698500">
                <a:tc>
                  <a:txBody>
                    <a:bodyPr>
                      <a:noAutofit/>
                    </a:bodyPr>
                    <a:lstStyle/>
                    <a:p>
                      <a:r>
                        <a:rPr sz="1650" b="0">
                          <a:solidFill>
                            <a:srgbClr val="17202A"/>
                          </a:solidFill>
                          <a:latin typeface="Helvetica Neue"/>
                          <a:ea typeface="Helvetica Neue"/>
                          <a:cs typeface="Helvetica Neue"/>
                        </a:rPr>
                        <a:t>Index des lots</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Quel travail est actif ?</a:t>
                      </a:r>
                    </a:p>
                  </a:txBody>
                  <a:tcPr marL="91440" marR="91440" marT="45720" marB="45720">
                    <a:solidFill>
                      <a:srgbClr val="F8FBFD"/>
                    </a:solidFill>
                  </a:tcPr>
                </a:tc>
              </a:tr>
              <a:tr h="698500">
                <a:tc>
                  <a:txBody>
                    <a:bodyPr>
                      <a:noAutofit/>
                    </a:bodyPr>
                    <a:lstStyle/>
                    <a:p>
                      <a:r>
                        <a:rPr sz="1650" b="0">
                          <a:solidFill>
                            <a:srgbClr val="17202A"/>
                          </a:solidFill>
                          <a:latin typeface="Helvetica Neue"/>
                          <a:ea typeface="Helvetica Neue"/>
                          <a:cs typeface="Helvetica Neue"/>
                        </a:rPr>
                        <a:t>Fiche de lot</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Que faire maintenant ?</a:t>
                      </a:r>
                    </a:p>
                  </a:txBody>
                  <a:tcPr marL="91440" marR="91440" marT="45720" marB="45720">
                    <a:solidFill>
                      <a:srgbClr val="F8FBFD"/>
                    </a:solidFill>
                  </a:tcPr>
                </a:tc>
              </a:tr>
              <a:tr h="698500">
                <a:tc>
                  <a:txBody>
                    <a:bodyPr>
                      <a:noAutofit/>
                    </a:bodyPr>
                    <a:lstStyle/>
                    <a:p>
                      <a:r>
                        <a:rPr sz="1650" b="0">
                          <a:solidFill>
                            <a:srgbClr val="17202A"/>
                          </a:solidFill>
                          <a:latin typeface="Helvetica Neue"/>
                          <a:ea typeface="Helvetica Neue"/>
                          <a:cs typeface="Helvetica Neue"/>
                        </a:rPr>
                        <a:t>Ledger</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Pourquoi ces décisions ?</a:t>
                      </a:r>
                    </a:p>
                  </a:txBody>
                  <a:tcPr marL="91440" marR="91440" marT="45720" marB="45720">
                    <a:solidFill>
                      <a:srgbClr val="F8FBFD"/>
                    </a:solidFill>
                  </a:tcPr>
                </a:tc>
              </a:tr>
              <a:tr h="698500">
                <a:tc>
                  <a:txBody>
                    <a:bodyPr>
                      <a:noAutofit/>
                    </a:bodyPr>
                    <a:lstStyle/>
                    <a:p>
                      <a:r>
                        <a:rPr sz="1650" b="0">
                          <a:solidFill>
                            <a:srgbClr val="17202A"/>
                          </a:solidFill>
                          <a:latin typeface="Helvetica Neue"/>
                          <a:ea typeface="Helvetica Neue"/>
                          <a:cs typeface="Helvetica Neue"/>
                        </a:rPr>
                        <a:t>Rapport de contrôle</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Qu’a-t-on vérifié ?</a:t>
                      </a:r>
                    </a:p>
                  </a:txBody>
                  <a:tcPr marL="91440" marR="91440" marT="45720" marB="45720">
                    <a:solidFill>
                      <a:srgbClr val="F8FBFD"/>
                    </a:solidFill>
                  </a:tcPr>
                </a:tc>
              </a:tr>
            </a:tbl>
          </a:graphicData>
        </a:graphic>
      </p:graphicFrame>
    </p:spTree>
    <p:extLst>
      <p:ext uri="{BB962C8B-B14F-4D97-AF65-F5344CB8AC3E}">
        <p14:creationId xmlns:p14="http://schemas.microsoft.com/office/powerpoint/2010/main" val="2553894934"/>
      </p:ext>
    </p:extLst>
  </p:cSld>
</p:sld>
</file>

<file path=ppt/slides/slide10.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7" name="Les documents qui entourent le socle">
            <a:extLst xmlns:a="http://schemas.openxmlformats.org/drawingml/2006/main">
              <a:ext uri="{FF2B5EF4-FFF2-40B4-BE49-F238E27FC236}">
                <a16:creationId xmlns:a16="http://schemas.microsoft.com/office/drawing/2014/main" id="{66DB3A75-0587-4C67-9158-EF4DC3040622}"/>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Les documents qui entourent le socle</a:t>
            </a:r>
          </a:p>
        </p:txBody>
      </p:sp>
      <p:sp>
        <p:nvSpPr>
          <p:cNvPr id="2" name="10">
            <a:extLst xmlns:a="http://schemas.openxmlformats.org/drawingml/2006/main">
              <a:ext uri="{FF2B5EF4-FFF2-40B4-BE49-F238E27FC236}">
                <a16:creationId xmlns:a16="http://schemas.microsoft.com/office/drawing/2014/main" id="{36A3B635-0C7B-4864-8960-212E078507AF}"/>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10</a:t>
            </a:r>
          </a:p>
        </p:txBody>
      </p:sp>
      <p:sp>
        <p:nvSpPr>
          <p:cNvPr id="3" name="PRO-SPEC  /  © 2026 Olivier Dahan">
            <a:extLst xmlns:a="http://schemas.openxmlformats.org/drawingml/2006/main">
              <a:ext uri="{FF2B5EF4-FFF2-40B4-BE49-F238E27FC236}">
                <a16:creationId xmlns:a16="http://schemas.microsoft.com/office/drawing/2014/main" id="{E4F747D8-4C99-4B03-82D9-D28016C310F0}"/>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Ils relient la gouvernance au travail quotidien et">
            <a:extLst xmlns:a="http://schemas.openxmlformats.org/drawingml/2006/main">
              <a:ext uri="{FF2B5EF4-FFF2-40B4-BE49-F238E27FC236}">
                <a16:creationId xmlns:a16="http://schemas.microsoft.com/office/drawing/2014/main" id="{DA630BE8-8BB7-4D2A-BF65-D92F086AE01B}"/>
              </a:ext>
            </a:extLst>
          </p:cNvPr>
          <p:cNvSpPr>
            <a:spLocks xmlns:a="http://schemas.openxmlformats.org/drawingml/2006/main" noGrp="1"/>
          </p:cNvSpPr>
          <p:nvPr/>
        </p:nvSpPr>
        <p:spPr>
          <a:xfrm xmlns:a="http://schemas.openxmlformats.org/drawingml/2006/main">
            <a:off x="390525" y="1381125"/>
            <a:ext cx="11410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Ils relient la gouvernance au travail quotidien et au produit livré.</a:t>
            </a:r>
          </a:p>
        </p:txBody>
      </p:sp>
      <p:sp>
        <p:nvSpPr>
          <p:cNvPr id="5" name="">
            <a:extLst xmlns:a="http://schemas.openxmlformats.org/drawingml/2006/main">
              <a:ext uri="{FF2B5EF4-FFF2-40B4-BE49-F238E27FC236}">
                <a16:creationId xmlns:a16="http://schemas.microsoft.com/office/drawing/2014/main" id="{5E07AAAA-8B50-4A8C-90A5-F24452DC603D}"/>
              </a:ext>
            </a:extLst>
          </p:cNvPr>
          <p:cNvSpPr>
            <a:spLocks xmlns:a="http://schemas.openxmlformats.org/drawingml/2006/main" noGrp="1"/>
          </p:cNvSpPr>
          <p:nvPr/>
        </p:nvSpPr>
        <p:spPr>
          <a:xfrm xmlns:a="http://schemas.openxmlformats.org/drawingml/2006/main">
            <a:off x="704850" y="2590800"/>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README et règles de travail">
            <a:extLst xmlns:a="http://schemas.openxmlformats.org/drawingml/2006/main">
              <a:ext uri="{FF2B5EF4-FFF2-40B4-BE49-F238E27FC236}">
                <a16:creationId xmlns:a16="http://schemas.microsoft.com/office/drawing/2014/main" id="{C044322E-AA69-4A9E-ABFA-AFC6BD835942}"/>
              </a:ext>
            </a:extLst>
          </p:cNvPr>
          <p:cNvSpPr>
            <a:spLocks xmlns:a="http://schemas.openxmlformats.org/drawingml/2006/main" noGrp="1"/>
          </p:cNvSpPr>
          <p:nvPr/>
        </p:nvSpPr>
        <p:spPr>
          <a:xfrm xmlns:a="http://schemas.openxmlformats.org/drawingml/2006/main">
            <a:off x="704850" y="27622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README et règles de travail</a:t>
            </a:r>
          </a:p>
        </p:txBody>
      </p:sp>
      <p:sp>
        <p:nvSpPr>
          <p:cNvPr id="7" name="Démarrage du produit, commandes&#10;Conventions et lim">
            <a:extLst xmlns:a="http://schemas.openxmlformats.org/drawingml/2006/main">
              <a:ext uri="{FF2B5EF4-FFF2-40B4-BE49-F238E27FC236}">
                <a16:creationId xmlns:a16="http://schemas.microsoft.com/office/drawing/2014/main" id="{605ECE3D-B7CB-4D26-BD38-12A276F1F124}"/>
              </a:ext>
            </a:extLst>
          </p:cNvPr>
          <p:cNvSpPr>
            <a:spLocks xmlns:a="http://schemas.openxmlformats.org/drawingml/2006/main" noGrp="1"/>
          </p:cNvSpPr>
          <p:nvPr/>
        </p:nvSpPr>
        <p:spPr>
          <a:xfrm xmlns:a="http://schemas.openxmlformats.org/drawingml/2006/main">
            <a:off x="704850" y="3305175"/>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Démarrage du produit, commandes</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Conventions et limites de l’IA</a:t>
            </a:r>
          </a:p>
        </p:txBody>
      </p:sp>
      <p:sp>
        <p:nvSpPr>
          <p:cNvPr id="8" name="">
            <a:extLst xmlns:a="http://schemas.openxmlformats.org/drawingml/2006/main">
              <a:ext uri="{FF2B5EF4-FFF2-40B4-BE49-F238E27FC236}">
                <a16:creationId xmlns:a16="http://schemas.microsoft.com/office/drawing/2014/main" id="{04DB0D6A-9787-47DA-8289-E35DFA42F34F}"/>
              </a:ext>
            </a:extLst>
          </p:cNvPr>
          <p:cNvSpPr>
            <a:spLocks xmlns:a="http://schemas.openxmlformats.org/drawingml/2006/main" noGrp="1"/>
          </p:cNvSpPr>
          <p:nvPr/>
        </p:nvSpPr>
        <p:spPr>
          <a:xfrm xmlns:a="http://schemas.openxmlformats.org/drawingml/2006/main">
            <a:off x="6553200" y="2590800"/>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9" name="Documentation technique">
            <a:extLst xmlns:a="http://schemas.openxmlformats.org/drawingml/2006/main">
              <a:ext uri="{FF2B5EF4-FFF2-40B4-BE49-F238E27FC236}">
                <a16:creationId xmlns:a16="http://schemas.microsoft.com/office/drawing/2014/main" id="{7D7936E7-FFE8-4D6C-9426-5E357B4CE05C}"/>
              </a:ext>
            </a:extLst>
          </p:cNvPr>
          <p:cNvSpPr>
            <a:spLocks xmlns:a="http://schemas.openxmlformats.org/drawingml/2006/main" noGrp="1"/>
          </p:cNvSpPr>
          <p:nvPr/>
        </p:nvSpPr>
        <p:spPr>
          <a:xfrm xmlns:a="http://schemas.openxmlformats.org/drawingml/2006/main">
            <a:off x="6553200" y="27622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Documentation technique</a:t>
            </a:r>
          </a:p>
        </p:txBody>
      </p:sp>
      <p:sp>
        <p:nvSpPr>
          <p:cNvPr id="10" name="Formats, interfaces et erreurs&#10;Exemples cohérents ">
            <a:extLst xmlns:a="http://schemas.openxmlformats.org/drawingml/2006/main">
              <a:ext uri="{FF2B5EF4-FFF2-40B4-BE49-F238E27FC236}">
                <a16:creationId xmlns:a16="http://schemas.microsoft.com/office/drawing/2014/main" id="{8D2C6191-2660-48B2-AAC4-18215B7A29F6}"/>
              </a:ext>
            </a:extLst>
          </p:cNvPr>
          <p:cNvSpPr>
            <a:spLocks xmlns:a="http://schemas.openxmlformats.org/drawingml/2006/main" noGrp="1"/>
          </p:cNvSpPr>
          <p:nvPr/>
        </p:nvSpPr>
        <p:spPr>
          <a:xfrm xmlns:a="http://schemas.openxmlformats.org/drawingml/2006/main">
            <a:off x="6553200" y="3305175"/>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Formats, interfaces et erreurs</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Exemples cohérents avec le code</a:t>
            </a:r>
          </a:p>
        </p:txBody>
      </p:sp>
      <p:sp>
        <p:nvSpPr>
          <p:cNvPr id="11" name="">
            <a:extLst xmlns:a="http://schemas.openxmlformats.org/drawingml/2006/main">
              <a:ext uri="{FF2B5EF4-FFF2-40B4-BE49-F238E27FC236}">
                <a16:creationId xmlns:a16="http://schemas.microsoft.com/office/drawing/2014/main" id="{154691E1-24EF-4C97-BA5E-9284B3D1DF16}"/>
              </a:ext>
            </a:extLst>
          </p:cNvPr>
          <p:cNvSpPr>
            <a:spLocks xmlns:a="http://schemas.openxmlformats.org/drawingml/2006/main" noGrp="1"/>
          </p:cNvSpPr>
          <p:nvPr/>
        </p:nvSpPr>
        <p:spPr>
          <a:xfrm xmlns:a="http://schemas.openxmlformats.org/drawingml/2006/main">
            <a:off x="704850" y="4448175"/>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12" name="Documentation utilisateur">
            <a:extLst xmlns:a="http://schemas.openxmlformats.org/drawingml/2006/main">
              <a:ext uri="{FF2B5EF4-FFF2-40B4-BE49-F238E27FC236}">
                <a16:creationId xmlns:a16="http://schemas.microsoft.com/office/drawing/2014/main" id="{93FA6DD5-A214-424F-B73E-C2BAF3894384}"/>
              </a:ext>
            </a:extLst>
          </p:cNvPr>
          <p:cNvSpPr>
            <a:spLocks xmlns:a="http://schemas.openxmlformats.org/drawingml/2006/main" noGrp="1"/>
          </p:cNvSpPr>
          <p:nvPr/>
        </p:nvSpPr>
        <p:spPr>
          <a:xfrm xmlns:a="http://schemas.openxmlformats.org/drawingml/2006/main">
            <a:off x="704850" y="46196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Documentation utilisateur</a:t>
            </a:r>
          </a:p>
        </p:txBody>
      </p:sp>
      <p:sp>
        <p:nvSpPr>
          <p:cNvPr id="13" name="Parcours, prérequis et limites&#10;Fonctions réellemen">
            <a:extLst xmlns:a="http://schemas.openxmlformats.org/drawingml/2006/main">
              <a:ext uri="{FF2B5EF4-FFF2-40B4-BE49-F238E27FC236}">
                <a16:creationId xmlns:a16="http://schemas.microsoft.com/office/drawing/2014/main" id="{1908EC38-B68E-4329-B7AE-E6F5C1B92912}"/>
              </a:ext>
            </a:extLst>
          </p:cNvPr>
          <p:cNvSpPr>
            <a:spLocks xmlns:a="http://schemas.openxmlformats.org/drawingml/2006/main" noGrp="1"/>
          </p:cNvSpPr>
          <p:nvPr/>
        </p:nvSpPr>
        <p:spPr>
          <a:xfrm xmlns:a="http://schemas.openxmlformats.org/drawingml/2006/main">
            <a:off x="704850" y="5162550"/>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Parcours, prérequis et limites</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Fonctions réellement disponibles</a:t>
            </a:r>
          </a:p>
        </p:txBody>
      </p:sp>
      <p:sp>
        <p:nvSpPr>
          <p:cNvPr id="14" name="">
            <a:extLst xmlns:a="http://schemas.openxmlformats.org/drawingml/2006/main">
              <a:ext uri="{FF2B5EF4-FFF2-40B4-BE49-F238E27FC236}">
                <a16:creationId xmlns:a16="http://schemas.microsoft.com/office/drawing/2014/main" id="{AAE8CEC1-5D95-4C9F-956D-9F6C52EB2A7E}"/>
              </a:ext>
            </a:extLst>
          </p:cNvPr>
          <p:cNvSpPr>
            <a:spLocks xmlns:a="http://schemas.openxmlformats.org/drawingml/2006/main" noGrp="1"/>
          </p:cNvSpPr>
          <p:nvPr/>
        </p:nvSpPr>
        <p:spPr>
          <a:xfrm xmlns:a="http://schemas.openxmlformats.org/drawingml/2006/main">
            <a:off x="6553200" y="4448175"/>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15" name="Archives et audits">
            <a:extLst xmlns:a="http://schemas.openxmlformats.org/drawingml/2006/main">
              <a:ext uri="{FF2B5EF4-FFF2-40B4-BE49-F238E27FC236}">
                <a16:creationId xmlns:a16="http://schemas.microsoft.com/office/drawing/2014/main" id="{66DD3E23-5B6E-4799-9DC9-3428564DD0B4}"/>
              </a:ext>
            </a:extLst>
          </p:cNvPr>
          <p:cNvSpPr>
            <a:spLocks xmlns:a="http://schemas.openxmlformats.org/drawingml/2006/main" noGrp="1"/>
          </p:cNvSpPr>
          <p:nvPr/>
        </p:nvSpPr>
        <p:spPr>
          <a:xfrm xmlns:a="http://schemas.openxmlformats.org/drawingml/2006/main">
            <a:off x="6553200" y="46196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Archives et audits</a:t>
            </a:r>
          </a:p>
        </p:txBody>
      </p:sp>
      <p:sp>
        <p:nvSpPr>
          <p:cNvPr id="16" name="Anciennes décisions identifiables&#10;Contrôles ciblés">
            <a:extLst xmlns:a="http://schemas.openxmlformats.org/drawingml/2006/main">
              <a:ext uri="{FF2B5EF4-FFF2-40B4-BE49-F238E27FC236}">
                <a16:creationId xmlns:a16="http://schemas.microsoft.com/office/drawing/2014/main" id="{A5EF458A-AFED-49E4-90E7-54706F57691D}"/>
              </a:ext>
            </a:extLst>
          </p:cNvPr>
          <p:cNvSpPr>
            <a:spLocks xmlns:a="http://schemas.openxmlformats.org/drawingml/2006/main" noGrp="1"/>
          </p:cNvSpPr>
          <p:nvPr/>
        </p:nvSpPr>
        <p:spPr>
          <a:xfrm xmlns:a="http://schemas.openxmlformats.org/drawingml/2006/main">
            <a:off x="6553200" y="5162550"/>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Anciennes décisions identifiables</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Contrôles ciblés sur certains risques</a:t>
            </a:r>
          </a:p>
        </p:txBody>
      </p:sp>
    </p:spTree>
    <p:extLst>
      <p:ext uri="{BB962C8B-B14F-4D97-AF65-F5344CB8AC3E}">
        <p14:creationId xmlns:p14="http://schemas.microsoft.com/office/powerpoint/2010/main" val="2179535326"/>
      </p:ext>
    </p:extLst>
  </p:cSld>
</p:sld>
</file>

<file path=ppt/slides/slide11.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6" name="Le cycle d’un lot">
            <a:extLst xmlns:a="http://schemas.openxmlformats.org/drawingml/2006/main">
              <a:ext uri="{FF2B5EF4-FFF2-40B4-BE49-F238E27FC236}">
                <a16:creationId xmlns:a16="http://schemas.microsoft.com/office/drawing/2014/main" id="{CD165EF2-A056-4978-ABB4-0281EA0EE1D9}"/>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 cycle d’un lot</a:t>
            </a:r>
          </a:p>
        </p:txBody>
      </p:sp>
      <p:sp>
        <p:nvSpPr>
          <p:cNvPr id="2" name="11">
            <a:extLst xmlns:a="http://schemas.openxmlformats.org/drawingml/2006/main">
              <a:ext uri="{FF2B5EF4-FFF2-40B4-BE49-F238E27FC236}">
                <a16:creationId xmlns:a16="http://schemas.microsoft.com/office/drawing/2014/main" id="{B2CFFF90-ACA8-42E5-A680-BC1C84E630BD}"/>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11</a:t>
            </a:r>
          </a:p>
        </p:txBody>
      </p:sp>
      <p:sp>
        <p:nvSpPr>
          <p:cNvPr id="3" name="PRO-SPEC  /  © 2026 Olivier Dahan">
            <a:extLst xmlns:a="http://schemas.openxmlformats.org/drawingml/2006/main">
              <a:ext uri="{FF2B5EF4-FFF2-40B4-BE49-F238E27FC236}">
                <a16:creationId xmlns:a16="http://schemas.microsoft.com/office/drawing/2014/main" id="{840B5D4D-4335-4D09-8140-B88EE93D1AFF}"/>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a clôture prépare déjà la prochaine intervention.">
            <a:extLst xmlns:a="http://schemas.openxmlformats.org/drawingml/2006/main">
              <a:ext uri="{FF2B5EF4-FFF2-40B4-BE49-F238E27FC236}">
                <a16:creationId xmlns:a16="http://schemas.microsoft.com/office/drawing/2014/main" id="{83E5DED8-4ECF-4B91-8E95-D349D501B021}"/>
              </a:ext>
            </a:extLst>
          </p:cNvPr>
          <p:cNvSpPr>
            <a:spLocks xmlns:a="http://schemas.openxmlformats.org/drawingml/2006/main" noGrp="1"/>
          </p:cNvSpPr>
          <p:nvPr/>
        </p:nvSpPr>
        <p:spPr>
          <a:xfrm xmlns:a="http://schemas.openxmlformats.org/drawingml/2006/main">
            <a:off x="390525" y="1381125"/>
            <a:ext cx="11410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La clôture prépare déjà la prochaine intervention.</a:t>
            </a:r>
          </a:p>
        </p:txBody>
      </p:sp>
      <p:sp>
        <p:nvSpPr>
          <p:cNvPr id="5" name="Préparer">
            <a:extLst xmlns:a="http://schemas.openxmlformats.org/drawingml/2006/main">
              <a:ext uri="{FF2B5EF4-FFF2-40B4-BE49-F238E27FC236}">
                <a16:creationId xmlns:a16="http://schemas.microsoft.com/office/drawing/2014/main" id="{84F65AC9-075C-41C9-A80F-6E1AE4CDE4BA}"/>
              </a:ext>
            </a:extLst>
          </p:cNvPr>
          <p:cNvSpPr>
            <a:spLocks xmlns:a="http://schemas.openxmlformats.org/drawingml/2006/main" noGrp="1"/>
          </p:cNvSpPr>
          <p:nvPr/>
        </p:nvSpPr>
        <p:spPr>
          <a:xfrm xmlns:a="http://schemas.openxmlformats.org/drawingml/2006/main">
            <a:off x="39052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Préparer</a:t>
            </a:r>
          </a:p>
        </p:txBody>
      </p:sp>
      <p:sp>
        <p:nvSpPr>
          <p:cNvPr id="6" name="Lectures et mandat&#10;Critères de réussite">
            <a:extLst xmlns:a="http://schemas.openxmlformats.org/drawingml/2006/main">
              <a:ext uri="{FF2B5EF4-FFF2-40B4-BE49-F238E27FC236}">
                <a16:creationId xmlns:a16="http://schemas.microsoft.com/office/drawing/2014/main" id="{5172727F-8781-403B-A815-C85BEABFBA8A}"/>
              </a:ext>
            </a:extLst>
          </p:cNvPr>
          <p:cNvSpPr>
            <a:spLocks xmlns:a="http://schemas.openxmlformats.org/drawingml/2006/main" noGrp="1"/>
          </p:cNvSpPr>
          <p:nvPr/>
        </p:nvSpPr>
        <p:spPr>
          <a:xfrm xmlns:a="http://schemas.openxmlformats.org/drawingml/2006/main">
            <a:off x="39052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Lectures et mandat</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Critères de réussite</a:t>
            </a:r>
          </a:p>
        </p:txBody>
      </p:sp>
      <p:sp>
        <p:nvSpPr>
          <p:cNvPr id="7" name="Réaliser">
            <a:extLst xmlns:a="http://schemas.openxmlformats.org/drawingml/2006/main">
              <a:ext uri="{FF2B5EF4-FFF2-40B4-BE49-F238E27FC236}">
                <a16:creationId xmlns:a16="http://schemas.microsoft.com/office/drawing/2014/main" id="{BBFEAB3C-A56C-40F3-BE62-2740F28E818D}"/>
              </a:ext>
            </a:extLst>
          </p:cNvPr>
          <p:cNvSpPr>
            <a:spLocks xmlns:a="http://schemas.openxmlformats.org/drawingml/2006/main" noGrp="1"/>
          </p:cNvSpPr>
          <p:nvPr/>
        </p:nvSpPr>
        <p:spPr>
          <a:xfrm xmlns:a="http://schemas.openxmlformats.org/drawingml/2006/main">
            <a:off x="338137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Réaliser</a:t>
            </a:r>
          </a:p>
        </p:txBody>
      </p:sp>
      <p:cxnSp>
        <p:nvCxnSpPr>
          <p:cNvPr id="23" name=""/>
          <p:cNvCxnSpPr>
            <a:stCxn xmlns:a="http://schemas.openxmlformats.org/drawingml/2006/main" id="5" idx="3"/>
            <a:endCxn xmlns:a="http://schemas.openxmlformats.org/drawingml/2006/main" id="7" idx="1"/>
          </p:cNvCxnSpPr>
          <p:nvPr/>
        </p:nvCxnSpPr>
        <p:spPr>
          <a:xfrm xmlns:a="http://schemas.openxmlformats.org/drawingml/2006/main">
            <a:off x="2828925" y="3238500"/>
            <a:ext cx="55245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9" name="Changements bornés&#10;Décisions tracées">
            <a:extLst xmlns:a="http://schemas.openxmlformats.org/drawingml/2006/main">
              <a:ext uri="{FF2B5EF4-FFF2-40B4-BE49-F238E27FC236}">
                <a16:creationId xmlns:a16="http://schemas.microsoft.com/office/drawing/2014/main" id="{3580D72B-62B6-45DF-A30E-3D859DD265EE}"/>
              </a:ext>
            </a:extLst>
          </p:cNvPr>
          <p:cNvSpPr>
            <a:spLocks xmlns:a="http://schemas.openxmlformats.org/drawingml/2006/main" noGrp="1"/>
          </p:cNvSpPr>
          <p:nvPr/>
        </p:nvSpPr>
        <p:spPr>
          <a:xfrm xmlns:a="http://schemas.openxmlformats.org/drawingml/2006/main">
            <a:off x="338137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Changements bornés</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Décisions tracées</a:t>
            </a:r>
          </a:p>
        </p:txBody>
      </p:sp>
      <p:sp>
        <p:nvSpPr>
          <p:cNvPr id="10" name="Vérifier">
            <a:extLst xmlns:a="http://schemas.openxmlformats.org/drawingml/2006/main">
              <a:ext uri="{FF2B5EF4-FFF2-40B4-BE49-F238E27FC236}">
                <a16:creationId xmlns:a16="http://schemas.microsoft.com/office/drawing/2014/main" id="{1F3D662A-313E-409C-8E80-4D8F18D9EFDC}"/>
              </a:ext>
            </a:extLst>
          </p:cNvPr>
          <p:cNvSpPr>
            <a:spLocks xmlns:a="http://schemas.openxmlformats.org/drawingml/2006/main" noGrp="1"/>
          </p:cNvSpPr>
          <p:nvPr/>
        </p:nvSpPr>
        <p:spPr>
          <a:xfrm xmlns:a="http://schemas.openxmlformats.org/drawingml/2006/main">
            <a:off x="637222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Vérifier</a:t>
            </a:r>
          </a:p>
        </p:txBody>
      </p:sp>
      <p:cxnSp>
        <p:nvCxnSpPr>
          <p:cNvPr id="26" name=""/>
          <p:cNvCxnSpPr>
            <a:stCxn xmlns:a="http://schemas.openxmlformats.org/drawingml/2006/main" id="7" idx="3"/>
            <a:endCxn xmlns:a="http://schemas.openxmlformats.org/drawingml/2006/main" id="10" idx="1"/>
          </p:cNvCxnSpPr>
          <p:nvPr/>
        </p:nvCxnSpPr>
        <p:spPr>
          <a:xfrm xmlns:a="http://schemas.openxmlformats.org/drawingml/2006/main">
            <a:off x="5819775" y="3238500"/>
            <a:ext cx="55245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12" name="Contrôles exécutés&#10;Preuves et limites">
            <a:extLst xmlns:a="http://schemas.openxmlformats.org/drawingml/2006/main">
              <a:ext uri="{FF2B5EF4-FFF2-40B4-BE49-F238E27FC236}">
                <a16:creationId xmlns:a16="http://schemas.microsoft.com/office/drawing/2014/main" id="{4BE53368-A76D-4717-A900-E8DDDFB24802}"/>
              </a:ext>
            </a:extLst>
          </p:cNvPr>
          <p:cNvSpPr>
            <a:spLocks xmlns:a="http://schemas.openxmlformats.org/drawingml/2006/main" noGrp="1"/>
          </p:cNvSpPr>
          <p:nvPr/>
        </p:nvSpPr>
        <p:spPr>
          <a:xfrm xmlns:a="http://schemas.openxmlformats.org/drawingml/2006/main">
            <a:off x="637222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Contrôles exécutés</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Preuves et limites</a:t>
            </a:r>
          </a:p>
        </p:txBody>
      </p:sp>
      <p:sp>
        <p:nvSpPr>
          <p:cNvPr id="13" name="Transmettre">
            <a:extLst xmlns:a="http://schemas.openxmlformats.org/drawingml/2006/main">
              <a:ext uri="{FF2B5EF4-FFF2-40B4-BE49-F238E27FC236}">
                <a16:creationId xmlns:a16="http://schemas.microsoft.com/office/drawing/2014/main" id="{1C6CC73C-E97E-443E-8979-5DB8E6574449}"/>
              </a:ext>
            </a:extLst>
          </p:cNvPr>
          <p:cNvSpPr>
            <a:spLocks xmlns:a="http://schemas.openxmlformats.org/drawingml/2006/main" noGrp="1"/>
          </p:cNvSpPr>
          <p:nvPr/>
        </p:nvSpPr>
        <p:spPr>
          <a:xfrm xmlns:a="http://schemas.openxmlformats.org/drawingml/2006/main">
            <a:off x="936307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Transmettre</a:t>
            </a:r>
          </a:p>
        </p:txBody>
      </p:sp>
      <p:cxnSp>
        <p:nvCxnSpPr>
          <p:cNvPr id="29" name=""/>
          <p:cNvCxnSpPr>
            <a:stCxn xmlns:a="http://schemas.openxmlformats.org/drawingml/2006/main" id="10" idx="3"/>
            <a:endCxn xmlns:a="http://schemas.openxmlformats.org/drawingml/2006/main" id="13" idx="1"/>
          </p:cNvCxnSpPr>
          <p:nvPr/>
        </p:nvCxnSpPr>
        <p:spPr>
          <a:xfrm xmlns:a="http://schemas.openxmlformats.org/drawingml/2006/main">
            <a:off x="8810625" y="3238500"/>
            <a:ext cx="55245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15" name="Documents à jour&#10;État et suite explicites">
            <a:extLst xmlns:a="http://schemas.openxmlformats.org/drawingml/2006/main">
              <a:ext uri="{FF2B5EF4-FFF2-40B4-BE49-F238E27FC236}">
                <a16:creationId xmlns:a16="http://schemas.microsoft.com/office/drawing/2014/main" id="{5A161208-575E-4073-B38D-5F26AA29B266}"/>
              </a:ext>
            </a:extLst>
          </p:cNvPr>
          <p:cNvSpPr>
            <a:spLocks xmlns:a="http://schemas.openxmlformats.org/drawingml/2006/main" noGrp="1"/>
          </p:cNvSpPr>
          <p:nvPr/>
        </p:nvSpPr>
        <p:spPr>
          <a:xfrm xmlns:a="http://schemas.openxmlformats.org/drawingml/2006/main">
            <a:off x="936307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Documents à jour</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État et suite explicites</a:t>
            </a:r>
          </a:p>
        </p:txBody>
      </p:sp>
    </p:spTree>
    <p:extLst>
      <p:ext uri="{BB962C8B-B14F-4D97-AF65-F5344CB8AC3E}">
        <p14:creationId xmlns:p14="http://schemas.microsoft.com/office/powerpoint/2010/main" val="3446338916"/>
      </p:ext>
    </p:extLst>
  </p:cSld>
</p:sld>
</file>

<file path=ppt/slides/slide12.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9" name="La spécification partagée">
            <a:extLst xmlns:a="http://schemas.openxmlformats.org/drawingml/2006/main">
              <a:ext uri="{FF2B5EF4-FFF2-40B4-BE49-F238E27FC236}">
                <a16:creationId xmlns:a16="http://schemas.microsoft.com/office/drawing/2014/main" id="{F883F173-C4F2-4874-BEC6-BC6383E51D90}"/>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La spécification partagée</a:t>
            </a:r>
          </a:p>
        </p:txBody>
      </p:sp>
      <p:sp>
        <p:nvSpPr>
          <p:cNvPr id="2" name="12">
            <a:extLst xmlns:a="http://schemas.openxmlformats.org/drawingml/2006/main">
              <a:ext uri="{FF2B5EF4-FFF2-40B4-BE49-F238E27FC236}">
                <a16:creationId xmlns:a16="http://schemas.microsoft.com/office/drawing/2014/main" id="{C416695F-9EF4-471D-9959-80508EED1C17}"/>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12</a:t>
            </a:r>
          </a:p>
        </p:txBody>
      </p:sp>
      <p:sp>
        <p:nvSpPr>
          <p:cNvPr id="3" name="PRO-SPEC  /  © 2026 Olivier Dahan">
            <a:extLst xmlns:a="http://schemas.openxmlformats.org/drawingml/2006/main">
              <a:ext uri="{FF2B5EF4-FFF2-40B4-BE49-F238E27FC236}">
                <a16:creationId xmlns:a16="http://schemas.microsoft.com/office/drawing/2014/main" id="{C5E024D7-C739-4C3F-9BF7-3DEB5263E8C6}"/>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es règles durables de notre application fictive">
            <a:extLst xmlns:a="http://schemas.openxmlformats.org/drawingml/2006/main">
              <a:ext uri="{FF2B5EF4-FFF2-40B4-BE49-F238E27FC236}">
                <a16:creationId xmlns:a16="http://schemas.microsoft.com/office/drawing/2014/main" id="{13BC3795-988D-4B14-8542-46E30E087B48}"/>
              </a:ext>
            </a:extLst>
          </p:cNvPr>
          <p:cNvSpPr>
            <a:spLocks xmlns:a="http://schemas.openxmlformats.org/drawingml/2006/main" noGrp="1"/>
          </p:cNvSpPr>
          <p:nvPr/>
        </p:nvSpPr>
        <p:spPr>
          <a:xfrm xmlns:a="http://schemas.openxmlformats.org/drawingml/2006/main">
            <a:off x="390525" y="1419225"/>
            <a:ext cx="1128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Lora Medium"/>
                <a:ea typeface="Lora Medium"/>
                <a:cs typeface="Lora Medium"/>
              </a:defRPr>
            </a:pPr>
            <a:r>
              <a:rPr sz="2175">
                <a:solidFill>
                  <a:srgbClr val="17202A"/>
                </a:solidFill>
                <a:latin typeface="Lora Medium"/>
                <a:ea typeface="Lora Medium"/>
                <a:cs typeface="Lora Medium"/>
              </a:rPr>
              <a:t>Les règles durables de notre application fictive</a:t>
            </a:r>
          </a:p>
        </p:txBody>
      </p:sp>
      <p:sp>
        <p:nvSpPr>
          <p:cNvPr id="5" name="Le résultat utile">
            <a:extLst xmlns:a="http://schemas.openxmlformats.org/drawingml/2006/main">
              <a:ext uri="{FF2B5EF4-FFF2-40B4-BE49-F238E27FC236}">
                <a16:creationId xmlns:a16="http://schemas.microsoft.com/office/drawing/2014/main" id="{512248E3-6D83-431B-81FB-0AD3DC1E8701}"/>
              </a:ext>
            </a:extLst>
          </p:cNvPr>
          <p:cNvSpPr>
            <a:spLocks xmlns:a="http://schemas.openxmlformats.org/drawingml/2006/main" noGrp="1"/>
          </p:cNvSpPr>
          <p:nvPr/>
        </p:nvSpPr>
        <p:spPr>
          <a:xfrm xmlns:a="http://schemas.openxmlformats.org/drawingml/2006/main">
            <a:off x="390525" y="235267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Le résultat utile</a:t>
            </a:r>
          </a:p>
        </p:txBody>
      </p:sp>
      <p:sp>
        <p:nvSpPr>
          <p:cNvPr id="6" name="L’utilisateur suit ses dossiers et peut réutiliser">
            <a:extLst xmlns:a="http://schemas.openxmlformats.org/drawingml/2006/main">
              <a:ext uri="{FF2B5EF4-FFF2-40B4-BE49-F238E27FC236}">
                <a16:creationId xmlns:a16="http://schemas.microsoft.com/office/drawing/2014/main" id="{C93E4FC5-2009-444C-81A9-A28D4E3B1B95}"/>
              </a:ext>
            </a:extLst>
          </p:cNvPr>
          <p:cNvSpPr>
            <a:spLocks xmlns:a="http://schemas.openxmlformats.org/drawingml/2006/main" noGrp="1"/>
          </p:cNvSpPr>
          <p:nvPr/>
        </p:nvSpPr>
        <p:spPr>
          <a:xfrm xmlns:a="http://schemas.openxmlformats.org/drawingml/2006/main">
            <a:off x="390525" y="3124200"/>
            <a:ext cx="54768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L’utilisateur suit ses dossiers et peut réutiliser les données autorisées.</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L’application applique ses règles d’accès à chaque parcours.</a:t>
            </a:r>
          </a:p>
        </p:txBody>
      </p:sp>
      <p:sp>
        <p:nvSpPr>
          <p:cNvPr id="7" name="Le contrat commun">
            <a:extLst xmlns:a="http://schemas.openxmlformats.org/drawingml/2006/main">
              <a:ext uri="{FF2B5EF4-FFF2-40B4-BE49-F238E27FC236}">
                <a16:creationId xmlns:a16="http://schemas.microsoft.com/office/drawing/2014/main" id="{01551FD7-1405-4CB7-9CA8-E7B10935F31D}"/>
              </a:ext>
            </a:extLst>
          </p:cNvPr>
          <p:cNvSpPr>
            <a:spLocks xmlns:a="http://schemas.openxmlformats.org/drawingml/2006/main" noGrp="1"/>
          </p:cNvSpPr>
          <p:nvPr/>
        </p:nvSpPr>
        <p:spPr>
          <a:xfrm xmlns:a="http://schemas.openxmlformats.org/drawingml/2006/main">
            <a:off x="6267450" y="2352675"/>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Le contrat commun</a:t>
            </a:r>
          </a:p>
        </p:txBody>
      </p:sp>
      <p:sp>
        <p:nvSpPr>
          <p:cNvPr id="8" name="R-01 : accès limité aux dossiers autorisés&#10;&#10;R-02 :">
            <a:extLst xmlns:a="http://schemas.openxmlformats.org/drawingml/2006/main">
              <a:ext uri="{FF2B5EF4-FFF2-40B4-BE49-F238E27FC236}">
                <a16:creationId xmlns:a16="http://schemas.microsoft.com/office/drawing/2014/main" id="{4A322220-15FF-4973-903E-5452774EBF1B}"/>
              </a:ext>
            </a:extLst>
          </p:cNvPr>
          <p:cNvSpPr>
            <a:spLocks xmlns:a="http://schemas.openxmlformats.org/drawingml/2006/main" noGrp="1"/>
          </p:cNvSpPr>
          <p:nvPr/>
        </p:nvSpPr>
        <p:spPr>
          <a:xfrm xmlns:a="http://schemas.openxmlformats.org/drawingml/2006/main">
            <a:off x="6267450" y="3124200"/>
            <a:ext cx="55245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R-01 : accès limité aux dossiers autorisés</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R-02 : commentaires internes exclus des exports</a:t>
            </a:r>
          </a:p>
        </p:txBody>
      </p:sp>
    </p:spTree>
    <p:extLst>
      <p:ext uri="{BB962C8B-B14F-4D97-AF65-F5344CB8AC3E}">
        <p14:creationId xmlns:p14="http://schemas.microsoft.com/office/powerpoint/2010/main" val="546221724"/>
      </p:ext>
    </p:extLst>
  </p:cSld>
</p:sld>
</file>

<file path=ppt/slides/slide13.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3" name="L’ordre des lots suit les dépendances">
            <a:extLst xmlns:a="http://schemas.openxmlformats.org/drawingml/2006/main">
              <a:ext uri="{FF2B5EF4-FFF2-40B4-BE49-F238E27FC236}">
                <a16:creationId xmlns:a16="http://schemas.microsoft.com/office/drawing/2014/main" id="{2FB4A45D-67B3-4572-AFF1-F67569A63058}"/>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L’ordre des lots suit les dépendances</a:t>
            </a:r>
          </a:p>
        </p:txBody>
      </p:sp>
      <p:sp>
        <p:nvSpPr>
          <p:cNvPr id="2" name="13">
            <a:extLst xmlns:a="http://schemas.openxmlformats.org/drawingml/2006/main">
              <a:ext uri="{FF2B5EF4-FFF2-40B4-BE49-F238E27FC236}">
                <a16:creationId xmlns:a16="http://schemas.microsoft.com/office/drawing/2014/main" id="{90450077-6D88-428F-96F9-C01D2D0E5D0F}"/>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13</a:t>
            </a:r>
          </a:p>
        </p:txBody>
      </p:sp>
      <p:sp>
        <p:nvSpPr>
          <p:cNvPr id="3" name="PRO-SPEC  /  © 2026 Olivier Dahan">
            <a:extLst xmlns:a="http://schemas.openxmlformats.org/drawingml/2006/main">
              <a:ext uri="{FF2B5EF4-FFF2-40B4-BE49-F238E27FC236}">
                <a16:creationId xmlns:a16="http://schemas.microsoft.com/office/drawing/2014/main" id="{946C708B-C3D9-411A-8D27-A5667E02F386}"/>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03 peut démarrer lorsque les contrats dont il dé">
            <a:extLst xmlns:a="http://schemas.openxmlformats.org/drawingml/2006/main">
              <a:ext uri="{FF2B5EF4-FFF2-40B4-BE49-F238E27FC236}">
                <a16:creationId xmlns:a16="http://schemas.microsoft.com/office/drawing/2014/main" id="{6CAB360E-DF9B-4BC6-A1D8-91276413D4F7}"/>
              </a:ext>
            </a:extLst>
          </p:cNvPr>
          <p:cNvSpPr>
            <a:spLocks xmlns:a="http://schemas.openxmlformats.org/drawingml/2006/main" noGrp="1"/>
          </p:cNvSpPr>
          <p:nvPr/>
        </p:nvSpPr>
        <p:spPr>
          <a:xfrm xmlns:a="http://schemas.openxmlformats.org/drawingml/2006/main">
            <a:off x="390525" y="1381125"/>
            <a:ext cx="11410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L-03 peut démarrer lorsque les contrats dont il dépend sont établis.</a:t>
            </a:r>
          </a:p>
        </p:txBody>
      </p:sp>
      <p:sp>
        <p:nvSpPr>
          <p:cNvPr id="5" name="L-01&#10;Liste et filtres">
            <a:extLst xmlns:a="http://schemas.openxmlformats.org/drawingml/2006/main">
              <a:ext uri="{FF2B5EF4-FFF2-40B4-BE49-F238E27FC236}">
                <a16:creationId xmlns:a16="http://schemas.microsoft.com/office/drawing/2014/main" id="{1ED9D461-0D84-4558-AE11-E1B441A922B9}"/>
              </a:ext>
            </a:extLst>
          </p:cNvPr>
          <p:cNvSpPr>
            <a:spLocks xmlns:a="http://schemas.openxmlformats.org/drawingml/2006/main" noGrp="1"/>
          </p:cNvSpPr>
          <p:nvPr/>
        </p:nvSpPr>
        <p:spPr>
          <a:xfrm xmlns:a="http://schemas.openxmlformats.org/drawingml/2006/main">
            <a:off x="390525" y="2762250"/>
            <a:ext cx="314325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L-01</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Liste et filtres</a:t>
            </a:r>
          </a:p>
        </p:txBody>
      </p:sp>
      <p:sp>
        <p:nvSpPr>
          <p:cNvPr id="6" name="Définir les résultats&#10;qui correspondent au filtre">
            <a:extLst xmlns:a="http://schemas.openxmlformats.org/drawingml/2006/main">
              <a:ext uri="{FF2B5EF4-FFF2-40B4-BE49-F238E27FC236}">
                <a16:creationId xmlns:a16="http://schemas.microsoft.com/office/drawing/2014/main" id="{CB8C34AE-6A55-49C2-9938-DF471061AFA5}"/>
              </a:ext>
            </a:extLst>
          </p:cNvPr>
          <p:cNvSpPr>
            <a:spLocks xmlns:a="http://schemas.openxmlformats.org/drawingml/2006/main" noGrp="1"/>
          </p:cNvSpPr>
          <p:nvPr/>
        </p:nvSpPr>
        <p:spPr>
          <a:xfrm xmlns:a="http://schemas.openxmlformats.org/drawingml/2006/main">
            <a:off x="390525" y="4095750"/>
            <a:ext cx="314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Définir les résultats</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qui correspondent au filtre</a:t>
            </a:r>
          </a:p>
        </p:txBody>
      </p:sp>
      <p:sp>
        <p:nvSpPr>
          <p:cNvPr id="7" name="L-02&#10;Droits d’accès">
            <a:extLst xmlns:a="http://schemas.openxmlformats.org/drawingml/2006/main">
              <a:ext uri="{FF2B5EF4-FFF2-40B4-BE49-F238E27FC236}">
                <a16:creationId xmlns:a16="http://schemas.microsoft.com/office/drawing/2014/main" id="{DEEB3CDE-DC9D-4F28-90A4-EC88822A4509}"/>
              </a:ext>
            </a:extLst>
          </p:cNvPr>
          <p:cNvSpPr>
            <a:spLocks xmlns:a="http://schemas.openxmlformats.org/drawingml/2006/main" noGrp="1"/>
          </p:cNvSpPr>
          <p:nvPr/>
        </p:nvSpPr>
        <p:spPr>
          <a:xfrm xmlns:a="http://schemas.openxmlformats.org/drawingml/2006/main">
            <a:off x="4524375" y="2762250"/>
            <a:ext cx="314325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L-02</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Droits d’accès</a:t>
            </a:r>
          </a:p>
        </p:txBody>
      </p:sp>
      <p:cxnSp>
        <p:nvCxnSpPr>
          <p:cNvPr id="20" name=""/>
          <p:cNvCxnSpPr>
            <a:stCxn xmlns:a="http://schemas.openxmlformats.org/drawingml/2006/main" id="5" idx="3"/>
            <a:endCxn xmlns:a="http://schemas.openxmlformats.org/drawingml/2006/main" id="7" idx="1"/>
          </p:cNvCxnSpPr>
          <p:nvPr/>
        </p:nvCxnSpPr>
        <p:spPr>
          <a:xfrm xmlns:a="http://schemas.openxmlformats.org/drawingml/2006/main">
            <a:off x="3533775" y="3238500"/>
            <a:ext cx="99060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9" name="Définir et vérifier&#10;les dossiers autorisés">
            <a:extLst xmlns:a="http://schemas.openxmlformats.org/drawingml/2006/main">
              <a:ext uri="{FF2B5EF4-FFF2-40B4-BE49-F238E27FC236}">
                <a16:creationId xmlns:a16="http://schemas.microsoft.com/office/drawing/2014/main" id="{B1A26F97-6CCA-4619-AE46-F17A434DF238}"/>
              </a:ext>
            </a:extLst>
          </p:cNvPr>
          <p:cNvSpPr>
            <a:spLocks xmlns:a="http://schemas.openxmlformats.org/drawingml/2006/main" noGrp="1"/>
          </p:cNvSpPr>
          <p:nvPr/>
        </p:nvSpPr>
        <p:spPr>
          <a:xfrm xmlns:a="http://schemas.openxmlformats.org/drawingml/2006/main">
            <a:off x="4524375" y="4095750"/>
            <a:ext cx="314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Définir et vérifier</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les dossiers autorisés</a:t>
            </a:r>
          </a:p>
        </p:txBody>
      </p:sp>
      <p:sp>
        <p:nvSpPr>
          <p:cNvPr id="10" name="L-03&#10;Export CSV">
            <a:extLst xmlns:a="http://schemas.openxmlformats.org/drawingml/2006/main">
              <a:ext uri="{FF2B5EF4-FFF2-40B4-BE49-F238E27FC236}">
                <a16:creationId xmlns:a16="http://schemas.microsoft.com/office/drawing/2014/main" id="{B1E2BB6C-F5C6-494A-9FB4-F11843AD6376}"/>
              </a:ext>
            </a:extLst>
          </p:cNvPr>
          <p:cNvSpPr>
            <a:spLocks xmlns:a="http://schemas.openxmlformats.org/drawingml/2006/main" noGrp="1"/>
          </p:cNvSpPr>
          <p:nvPr/>
        </p:nvSpPr>
        <p:spPr>
          <a:xfrm xmlns:a="http://schemas.openxmlformats.org/drawingml/2006/main">
            <a:off x="8658225" y="2762250"/>
            <a:ext cx="314325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L-03</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Export CSV</a:t>
            </a:r>
          </a:p>
        </p:txBody>
      </p:sp>
      <p:cxnSp>
        <p:nvCxnSpPr>
          <p:cNvPr id="23" name=""/>
          <p:cNvCxnSpPr>
            <a:stCxn xmlns:a="http://schemas.openxmlformats.org/drawingml/2006/main" id="7" idx="3"/>
            <a:endCxn xmlns:a="http://schemas.openxmlformats.org/drawingml/2006/main" id="10" idx="1"/>
          </p:cNvCxnSpPr>
          <p:nvPr/>
        </p:nvCxnSpPr>
        <p:spPr>
          <a:xfrm xmlns:a="http://schemas.openxmlformats.org/drawingml/2006/main">
            <a:off x="7667625" y="3238500"/>
            <a:ext cx="99060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12" name="Réutiliser les contrats&#10;et contrôler leur respect">
            <a:extLst xmlns:a="http://schemas.openxmlformats.org/drawingml/2006/main">
              <a:ext uri="{FF2B5EF4-FFF2-40B4-BE49-F238E27FC236}">
                <a16:creationId xmlns:a16="http://schemas.microsoft.com/office/drawing/2014/main" id="{BB17D864-B479-40B5-AAAB-7EAF49FFDBB4}"/>
              </a:ext>
            </a:extLst>
          </p:cNvPr>
          <p:cNvSpPr>
            <a:spLocks xmlns:a="http://schemas.openxmlformats.org/drawingml/2006/main" noGrp="1"/>
          </p:cNvSpPr>
          <p:nvPr/>
        </p:nvSpPr>
        <p:spPr>
          <a:xfrm xmlns:a="http://schemas.openxmlformats.org/drawingml/2006/main">
            <a:off x="8658225" y="4095750"/>
            <a:ext cx="314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Réutiliser les contrats</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et contrôler leur respect</a:t>
            </a:r>
          </a:p>
        </p:txBody>
      </p:sp>
    </p:spTree>
    <p:extLst>
      <p:ext uri="{BB962C8B-B14F-4D97-AF65-F5344CB8AC3E}">
        <p14:creationId xmlns:p14="http://schemas.microsoft.com/office/powerpoint/2010/main" val="3446338916"/>
      </p:ext>
    </p:extLst>
  </p:cSld>
</p:sld>
</file>

<file path=ppt/slides/slide14.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7" name="La structure d’une fiche de lot">
            <a:extLst xmlns:a="http://schemas.openxmlformats.org/drawingml/2006/main">
              <a:ext uri="{FF2B5EF4-FFF2-40B4-BE49-F238E27FC236}">
                <a16:creationId xmlns:a16="http://schemas.microsoft.com/office/drawing/2014/main" id="{4F4F7B7E-5E6D-44CD-A284-67A8F7B0D47C}"/>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La structure d’une fiche de lot</a:t>
            </a:r>
          </a:p>
        </p:txBody>
      </p:sp>
      <p:sp>
        <p:nvSpPr>
          <p:cNvPr id="2" name="14">
            <a:extLst xmlns:a="http://schemas.openxmlformats.org/drawingml/2006/main">
              <a:ext uri="{FF2B5EF4-FFF2-40B4-BE49-F238E27FC236}">
                <a16:creationId xmlns:a16="http://schemas.microsoft.com/office/drawing/2014/main" id="{5E1F5413-EEB7-440D-A79E-6147211C0F49}"/>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14</a:t>
            </a:r>
          </a:p>
        </p:txBody>
      </p:sp>
      <p:sp>
        <p:nvSpPr>
          <p:cNvPr id="3" name="PRO-SPEC  /  © 2026 Olivier Dahan">
            <a:extLst xmlns:a="http://schemas.openxmlformats.org/drawingml/2006/main">
              <a:ext uri="{FF2B5EF4-FFF2-40B4-BE49-F238E27FC236}">
                <a16:creationId xmlns:a16="http://schemas.microsoft.com/office/drawing/2014/main" id="{0D9976E6-E139-4C0D-B020-357279F4949F}"/>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e mandat rassemble ce qui permet de travailler et">
            <a:extLst xmlns:a="http://schemas.openxmlformats.org/drawingml/2006/main">
              <a:ext uri="{FF2B5EF4-FFF2-40B4-BE49-F238E27FC236}">
                <a16:creationId xmlns:a16="http://schemas.microsoft.com/office/drawing/2014/main" id="{D642EAEA-42E9-4DFD-ABA8-BA3729A31690}"/>
              </a:ext>
            </a:extLst>
          </p:cNvPr>
          <p:cNvSpPr>
            <a:spLocks xmlns:a="http://schemas.openxmlformats.org/drawingml/2006/main" noGrp="1"/>
          </p:cNvSpPr>
          <p:nvPr/>
        </p:nvSpPr>
        <p:spPr>
          <a:xfrm xmlns:a="http://schemas.openxmlformats.org/drawingml/2006/main">
            <a:off x="390525" y="1381125"/>
            <a:ext cx="11410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Le mandat rassemble ce qui permet de travailler et de conclure.</a:t>
            </a:r>
          </a:p>
        </p:txBody>
      </p:sp>
      <p:sp>
        <p:nvSpPr>
          <p:cNvPr id="5" name="">
            <a:extLst xmlns:a="http://schemas.openxmlformats.org/drawingml/2006/main">
              <a:ext uri="{FF2B5EF4-FFF2-40B4-BE49-F238E27FC236}">
                <a16:creationId xmlns:a16="http://schemas.microsoft.com/office/drawing/2014/main" id="{7DEC5681-F122-4403-9586-E3BB85B3A36E}"/>
              </a:ext>
            </a:extLst>
          </p:cNvPr>
          <p:cNvSpPr>
            <a:spLocks xmlns:a="http://schemas.openxmlformats.org/drawingml/2006/main" noGrp="1"/>
          </p:cNvSpPr>
          <p:nvPr/>
        </p:nvSpPr>
        <p:spPr>
          <a:xfrm xmlns:a="http://schemas.openxmlformats.org/drawingml/2006/main">
            <a:off x="704850" y="2590800"/>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Avant de commencer">
            <a:extLst xmlns:a="http://schemas.openxmlformats.org/drawingml/2006/main">
              <a:ext uri="{FF2B5EF4-FFF2-40B4-BE49-F238E27FC236}">
                <a16:creationId xmlns:a16="http://schemas.microsoft.com/office/drawing/2014/main" id="{7AC89687-4C73-4A9C-8AA6-F797C94D3859}"/>
              </a:ext>
            </a:extLst>
          </p:cNvPr>
          <p:cNvSpPr>
            <a:spLocks xmlns:a="http://schemas.openxmlformats.org/drawingml/2006/main" noGrp="1"/>
          </p:cNvSpPr>
          <p:nvPr/>
        </p:nvSpPr>
        <p:spPr>
          <a:xfrm xmlns:a="http://schemas.openxmlformats.org/drawingml/2006/main">
            <a:off x="704850" y="27622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Avant de commencer</a:t>
            </a:r>
          </a:p>
        </p:txBody>
      </p:sp>
      <p:sp>
        <p:nvSpPr>
          <p:cNvPr id="7" name="Lectures obligatoires&#10;Dépendances et décisions act">
            <a:extLst xmlns:a="http://schemas.openxmlformats.org/drawingml/2006/main">
              <a:ext uri="{FF2B5EF4-FFF2-40B4-BE49-F238E27FC236}">
                <a16:creationId xmlns:a16="http://schemas.microsoft.com/office/drawing/2014/main" id="{A465952A-D428-436A-BA72-44475DCA2241}"/>
              </a:ext>
            </a:extLst>
          </p:cNvPr>
          <p:cNvSpPr>
            <a:spLocks xmlns:a="http://schemas.openxmlformats.org/drawingml/2006/main" noGrp="1"/>
          </p:cNvSpPr>
          <p:nvPr/>
        </p:nvSpPr>
        <p:spPr>
          <a:xfrm xmlns:a="http://schemas.openxmlformats.org/drawingml/2006/main">
            <a:off x="704850" y="3305175"/>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Lectures obligatoires</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Dépendances et décisions actives</a:t>
            </a:r>
          </a:p>
        </p:txBody>
      </p:sp>
      <p:sp>
        <p:nvSpPr>
          <p:cNvPr id="8" name="">
            <a:extLst xmlns:a="http://schemas.openxmlformats.org/drawingml/2006/main">
              <a:ext uri="{FF2B5EF4-FFF2-40B4-BE49-F238E27FC236}">
                <a16:creationId xmlns:a16="http://schemas.microsoft.com/office/drawing/2014/main" id="{49B79CA2-00B2-4852-8DBB-5CA10BB02F68}"/>
              </a:ext>
            </a:extLst>
          </p:cNvPr>
          <p:cNvSpPr>
            <a:spLocks xmlns:a="http://schemas.openxmlformats.org/drawingml/2006/main" noGrp="1"/>
          </p:cNvSpPr>
          <p:nvPr/>
        </p:nvSpPr>
        <p:spPr>
          <a:xfrm xmlns:a="http://schemas.openxmlformats.org/drawingml/2006/main">
            <a:off x="6553200" y="2590800"/>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9" name="Résultat et limites">
            <a:extLst xmlns:a="http://schemas.openxmlformats.org/drawingml/2006/main">
              <a:ext uri="{FF2B5EF4-FFF2-40B4-BE49-F238E27FC236}">
                <a16:creationId xmlns:a16="http://schemas.microsoft.com/office/drawing/2014/main" id="{5540D05A-5C84-4EE0-A95B-374E09D2ABD1}"/>
              </a:ext>
            </a:extLst>
          </p:cNvPr>
          <p:cNvSpPr>
            <a:spLocks xmlns:a="http://schemas.openxmlformats.org/drawingml/2006/main" noGrp="1"/>
          </p:cNvSpPr>
          <p:nvPr/>
        </p:nvSpPr>
        <p:spPr>
          <a:xfrm xmlns:a="http://schemas.openxmlformats.org/drawingml/2006/main">
            <a:off x="6553200" y="27622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Résultat et limites</a:t>
            </a:r>
          </a:p>
        </p:txBody>
      </p:sp>
      <p:sp>
        <p:nvSpPr>
          <p:cNvPr id="10" name="Objectif, inclus et exclus&#10;Contrats, erreurs et co">
            <a:extLst xmlns:a="http://schemas.openxmlformats.org/drawingml/2006/main">
              <a:ext uri="{FF2B5EF4-FFF2-40B4-BE49-F238E27FC236}">
                <a16:creationId xmlns:a16="http://schemas.microsoft.com/office/drawing/2014/main" id="{659A938E-9285-4287-88BF-E02206170FE9}"/>
              </a:ext>
            </a:extLst>
          </p:cNvPr>
          <p:cNvSpPr>
            <a:spLocks xmlns:a="http://schemas.openxmlformats.org/drawingml/2006/main" noGrp="1"/>
          </p:cNvSpPr>
          <p:nvPr/>
        </p:nvSpPr>
        <p:spPr>
          <a:xfrm xmlns:a="http://schemas.openxmlformats.org/drawingml/2006/main">
            <a:off x="6553200" y="3305175"/>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Objectif, inclus et exclus</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Contrats, erreurs et compatibilité</a:t>
            </a:r>
          </a:p>
        </p:txBody>
      </p:sp>
      <p:sp>
        <p:nvSpPr>
          <p:cNvPr id="11" name="">
            <a:extLst xmlns:a="http://schemas.openxmlformats.org/drawingml/2006/main">
              <a:ext uri="{FF2B5EF4-FFF2-40B4-BE49-F238E27FC236}">
                <a16:creationId xmlns:a16="http://schemas.microsoft.com/office/drawing/2014/main" id="{C7B8B4EE-5518-4E44-A6AA-E85A319F7810}"/>
              </a:ext>
            </a:extLst>
          </p:cNvPr>
          <p:cNvSpPr>
            <a:spLocks xmlns:a="http://schemas.openxmlformats.org/drawingml/2006/main" noGrp="1"/>
          </p:cNvSpPr>
          <p:nvPr/>
        </p:nvSpPr>
        <p:spPr>
          <a:xfrm xmlns:a="http://schemas.openxmlformats.org/drawingml/2006/main">
            <a:off x="704850" y="4448175"/>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12" name="Travail confié">
            <a:extLst xmlns:a="http://schemas.openxmlformats.org/drawingml/2006/main">
              <a:ext uri="{FF2B5EF4-FFF2-40B4-BE49-F238E27FC236}">
                <a16:creationId xmlns:a16="http://schemas.microsoft.com/office/drawing/2014/main" id="{F4EF3777-B42C-47D4-B112-9D8B548560E7}"/>
              </a:ext>
            </a:extLst>
          </p:cNvPr>
          <p:cNvSpPr>
            <a:spLocks xmlns:a="http://schemas.openxmlformats.org/drawingml/2006/main" noGrp="1"/>
          </p:cNvSpPr>
          <p:nvPr/>
        </p:nvSpPr>
        <p:spPr>
          <a:xfrm xmlns:a="http://schemas.openxmlformats.org/drawingml/2006/main">
            <a:off x="704850" y="46196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Travail confié</a:t>
            </a:r>
          </a:p>
        </p:txBody>
      </p:sp>
      <p:sp>
        <p:nvSpPr>
          <p:cNvPr id="13" name="Approche et contraintes&#10;Choix autorisés, arbitrage">
            <a:extLst xmlns:a="http://schemas.openxmlformats.org/drawingml/2006/main">
              <a:ext uri="{FF2B5EF4-FFF2-40B4-BE49-F238E27FC236}">
                <a16:creationId xmlns:a16="http://schemas.microsoft.com/office/drawing/2014/main" id="{1E4C54EA-A156-407F-8992-C97C4AF23DF5}"/>
              </a:ext>
            </a:extLst>
          </p:cNvPr>
          <p:cNvSpPr>
            <a:spLocks xmlns:a="http://schemas.openxmlformats.org/drawingml/2006/main" noGrp="1"/>
          </p:cNvSpPr>
          <p:nvPr/>
        </p:nvSpPr>
        <p:spPr>
          <a:xfrm xmlns:a="http://schemas.openxmlformats.org/drawingml/2006/main">
            <a:off x="704850" y="5162550"/>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Approche et contraintes</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Choix autorisés, arbitrages ouverts</a:t>
            </a:r>
          </a:p>
        </p:txBody>
      </p:sp>
      <p:sp>
        <p:nvSpPr>
          <p:cNvPr id="14" name="">
            <a:extLst xmlns:a="http://schemas.openxmlformats.org/drawingml/2006/main">
              <a:ext uri="{FF2B5EF4-FFF2-40B4-BE49-F238E27FC236}">
                <a16:creationId xmlns:a16="http://schemas.microsoft.com/office/drawing/2014/main" id="{65A0432B-3035-4F20-AF69-B5CEBCB7E2C6}"/>
              </a:ext>
            </a:extLst>
          </p:cNvPr>
          <p:cNvSpPr>
            <a:spLocks xmlns:a="http://schemas.openxmlformats.org/drawingml/2006/main" noGrp="1"/>
          </p:cNvSpPr>
          <p:nvPr/>
        </p:nvSpPr>
        <p:spPr>
          <a:xfrm xmlns:a="http://schemas.openxmlformats.org/drawingml/2006/main">
            <a:off x="6553200" y="4448175"/>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15" name="Conditions de clôture">
            <a:extLst xmlns:a="http://schemas.openxmlformats.org/drawingml/2006/main">
              <a:ext uri="{FF2B5EF4-FFF2-40B4-BE49-F238E27FC236}">
                <a16:creationId xmlns:a16="http://schemas.microsoft.com/office/drawing/2014/main" id="{019B65ED-0C94-473B-BFDF-AA5C2A14B1CE}"/>
              </a:ext>
            </a:extLst>
          </p:cNvPr>
          <p:cNvSpPr>
            <a:spLocks xmlns:a="http://schemas.openxmlformats.org/drawingml/2006/main" noGrp="1"/>
          </p:cNvSpPr>
          <p:nvPr/>
        </p:nvSpPr>
        <p:spPr>
          <a:xfrm xmlns:a="http://schemas.openxmlformats.org/drawingml/2006/main">
            <a:off x="6553200" y="46196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Conditions de clôture</a:t>
            </a:r>
          </a:p>
        </p:txBody>
      </p:sp>
      <p:sp>
        <p:nvSpPr>
          <p:cNvPr id="16" name="Tests et critères d’acceptation&#10;Documents, preuves">
            <a:extLst xmlns:a="http://schemas.openxmlformats.org/drawingml/2006/main">
              <a:ext uri="{FF2B5EF4-FFF2-40B4-BE49-F238E27FC236}">
                <a16:creationId xmlns:a16="http://schemas.microsoft.com/office/drawing/2014/main" id="{56770810-3FA1-48FC-9228-C155EB7DB051}"/>
              </a:ext>
            </a:extLst>
          </p:cNvPr>
          <p:cNvSpPr>
            <a:spLocks xmlns:a="http://schemas.openxmlformats.org/drawingml/2006/main" noGrp="1"/>
          </p:cNvSpPr>
          <p:nvPr/>
        </p:nvSpPr>
        <p:spPr>
          <a:xfrm xmlns:a="http://schemas.openxmlformats.org/drawingml/2006/main">
            <a:off x="6553200" y="5162550"/>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Tests et critères d’acceptation</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Documents, preuves et compte rendu</a:t>
            </a:r>
          </a:p>
        </p:txBody>
      </p:sp>
    </p:spTree>
    <p:extLst>
      <p:ext uri="{BB962C8B-B14F-4D97-AF65-F5344CB8AC3E}">
        <p14:creationId xmlns:p14="http://schemas.microsoft.com/office/powerpoint/2010/main" val="2179535326"/>
      </p:ext>
    </p:extLst>
  </p:cSld>
</p:sld>
</file>

<file path=ppt/slides/slide15.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9" name="L-03 : un mandat concret">
            <a:extLst xmlns:a="http://schemas.openxmlformats.org/drawingml/2006/main">
              <a:ext uri="{FF2B5EF4-FFF2-40B4-BE49-F238E27FC236}">
                <a16:creationId xmlns:a16="http://schemas.microsoft.com/office/drawing/2014/main" id="{FE763119-F5C4-4218-99EE-4C65B4C404FD}"/>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L-03 : un mandat concret</a:t>
            </a:r>
          </a:p>
        </p:txBody>
      </p:sp>
      <p:sp>
        <p:nvSpPr>
          <p:cNvPr id="2" name="15">
            <a:extLst xmlns:a="http://schemas.openxmlformats.org/drawingml/2006/main">
              <a:ext uri="{FF2B5EF4-FFF2-40B4-BE49-F238E27FC236}">
                <a16:creationId xmlns:a16="http://schemas.microsoft.com/office/drawing/2014/main" id="{81A52186-714A-43D7-BE38-0BE909D258CA}"/>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15</a:t>
            </a:r>
          </a:p>
        </p:txBody>
      </p:sp>
      <p:sp>
        <p:nvSpPr>
          <p:cNvPr id="3" name="PRO-SPEC  /  © 2026 Olivier Dahan">
            <a:extLst xmlns:a="http://schemas.openxmlformats.org/drawingml/2006/main">
              <a:ext uri="{FF2B5EF4-FFF2-40B4-BE49-F238E27FC236}">
                <a16:creationId xmlns:a16="http://schemas.microsoft.com/office/drawing/2014/main" id="{6859B890-47F8-4183-BC84-55A54DCBE95C}"/>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export CSV des dossiers filtrés et autorisés">
            <a:extLst xmlns:a="http://schemas.openxmlformats.org/drawingml/2006/main">
              <a:ext uri="{FF2B5EF4-FFF2-40B4-BE49-F238E27FC236}">
                <a16:creationId xmlns:a16="http://schemas.microsoft.com/office/drawing/2014/main" id="{C673ED31-C409-41C0-B88A-9AE0F093020B}"/>
              </a:ext>
            </a:extLst>
          </p:cNvPr>
          <p:cNvSpPr>
            <a:spLocks xmlns:a="http://schemas.openxmlformats.org/drawingml/2006/main" noGrp="1"/>
          </p:cNvSpPr>
          <p:nvPr/>
        </p:nvSpPr>
        <p:spPr>
          <a:xfrm xmlns:a="http://schemas.openxmlformats.org/drawingml/2006/main">
            <a:off x="390525" y="1419225"/>
            <a:ext cx="1128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Lora Medium"/>
                <a:ea typeface="Lora Medium"/>
                <a:cs typeface="Lora Medium"/>
              </a:defRPr>
            </a:pPr>
            <a:r>
              <a:rPr sz="2175">
                <a:solidFill>
                  <a:srgbClr val="17202A"/>
                </a:solidFill>
                <a:latin typeface="Lora Medium"/>
                <a:ea typeface="Lora Medium"/>
                <a:cs typeface="Lora Medium"/>
              </a:rPr>
              <a:t>L’export CSV des dossiers filtrés et autorisés</a:t>
            </a:r>
          </a:p>
        </p:txBody>
      </p:sp>
      <p:sp>
        <p:nvSpPr>
          <p:cNvPr id="5" name="Inclus">
            <a:extLst xmlns:a="http://schemas.openxmlformats.org/drawingml/2006/main">
              <a:ext uri="{FF2B5EF4-FFF2-40B4-BE49-F238E27FC236}">
                <a16:creationId xmlns:a16="http://schemas.microsoft.com/office/drawing/2014/main" id="{B571536D-50FF-4D73-98C5-62FE848C198B}"/>
              </a:ext>
            </a:extLst>
          </p:cNvPr>
          <p:cNvSpPr>
            <a:spLocks xmlns:a="http://schemas.openxmlformats.org/drawingml/2006/main" noGrp="1"/>
          </p:cNvSpPr>
          <p:nvPr/>
        </p:nvSpPr>
        <p:spPr>
          <a:xfrm xmlns:a="http://schemas.openxmlformats.org/drawingml/2006/main">
            <a:off x="390525" y="235267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Inclus</a:t>
            </a:r>
          </a:p>
        </p:txBody>
      </p:sp>
      <p:sp>
        <p:nvSpPr>
          <p:cNvPr id="6" name="Tous les résultats du filtre actif&#10;&#10;Colonnes : ID,">
            <a:extLst xmlns:a="http://schemas.openxmlformats.org/drawingml/2006/main">
              <a:ext uri="{FF2B5EF4-FFF2-40B4-BE49-F238E27FC236}">
                <a16:creationId xmlns:a16="http://schemas.microsoft.com/office/drawing/2014/main" id="{309B3619-B000-429B-BD32-C5EDEB6A45EF}"/>
              </a:ext>
            </a:extLst>
          </p:cNvPr>
          <p:cNvSpPr>
            <a:spLocks xmlns:a="http://schemas.openxmlformats.org/drawingml/2006/main" noGrp="1"/>
          </p:cNvSpPr>
          <p:nvPr/>
        </p:nvSpPr>
        <p:spPr>
          <a:xfrm xmlns:a="http://schemas.openxmlformats.org/drawingml/2006/main">
            <a:off x="390525" y="3124200"/>
            <a:ext cx="54768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Tous les résultats du filtre actif</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Colonnes : ID, titre, statut</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UTF-8 et en-tête, même sans résultat</a:t>
            </a:r>
          </a:p>
        </p:txBody>
      </p:sp>
      <p:sp>
        <p:nvSpPr>
          <p:cNvPr id="7" name="Exclus et critères">
            <a:extLst xmlns:a="http://schemas.openxmlformats.org/drawingml/2006/main">
              <a:ext uri="{FF2B5EF4-FFF2-40B4-BE49-F238E27FC236}">
                <a16:creationId xmlns:a16="http://schemas.microsoft.com/office/drawing/2014/main" id="{FC3CB92D-1D5C-4326-A9BB-FE5EC04B6913}"/>
              </a:ext>
            </a:extLst>
          </p:cNvPr>
          <p:cNvSpPr>
            <a:spLocks xmlns:a="http://schemas.openxmlformats.org/drawingml/2006/main" noGrp="1"/>
          </p:cNvSpPr>
          <p:nvPr/>
        </p:nvSpPr>
        <p:spPr>
          <a:xfrm xmlns:a="http://schemas.openxmlformats.org/drawingml/2006/main">
            <a:off x="6267450" y="2352675"/>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Exclus et critères</a:t>
            </a:r>
          </a:p>
        </p:txBody>
      </p:sp>
      <p:sp>
        <p:nvSpPr>
          <p:cNvPr id="8" name="Aucun commentaire interne&#10;Aucun envoi automatique&#10;">
            <a:extLst xmlns:a="http://schemas.openxmlformats.org/drawingml/2006/main">
              <a:ext uri="{FF2B5EF4-FFF2-40B4-BE49-F238E27FC236}">
                <a16:creationId xmlns:a16="http://schemas.microsoft.com/office/drawing/2014/main" id="{824A2003-E3FD-4FA6-ADC1-9B8D1CD72988}"/>
              </a:ext>
            </a:extLst>
          </p:cNvPr>
          <p:cNvSpPr>
            <a:spLocks xmlns:a="http://schemas.openxmlformats.org/drawingml/2006/main" noGrp="1"/>
          </p:cNvSpPr>
          <p:nvPr/>
        </p:nvSpPr>
        <p:spPr>
          <a:xfrm xmlns:a="http://schemas.openxmlformats.org/drawingml/2006/main">
            <a:off x="6267450" y="3124200"/>
            <a:ext cx="55245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Aucun commentaire interne</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Aucun envoi automatique</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Droits, filtre, accents et liste vide à vérifier</a:t>
            </a:r>
          </a:p>
        </p:txBody>
      </p:sp>
    </p:spTree>
    <p:extLst>
      <p:ext uri="{BB962C8B-B14F-4D97-AF65-F5344CB8AC3E}">
        <p14:creationId xmlns:p14="http://schemas.microsoft.com/office/powerpoint/2010/main" val="546221724"/>
      </p:ext>
    </p:extLst>
  </p:cSld>
</p:sld>
</file>

<file path=ppt/slides/slide16.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3" name="Les lectures avant le travail">
            <a:extLst xmlns:a="http://schemas.openxmlformats.org/drawingml/2006/main">
              <a:ext uri="{FF2B5EF4-FFF2-40B4-BE49-F238E27FC236}">
                <a16:creationId xmlns:a16="http://schemas.microsoft.com/office/drawing/2014/main" id="{A99EE902-0BB4-4742-B453-38358F786A70}"/>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Les lectures avant le travail</a:t>
            </a:r>
          </a:p>
        </p:txBody>
      </p:sp>
      <p:sp>
        <p:nvSpPr>
          <p:cNvPr id="2" name="16">
            <a:extLst xmlns:a="http://schemas.openxmlformats.org/drawingml/2006/main">
              <a:ext uri="{FF2B5EF4-FFF2-40B4-BE49-F238E27FC236}">
                <a16:creationId xmlns:a16="http://schemas.microsoft.com/office/drawing/2014/main" id="{8EB763C9-246F-45FF-A570-3D375D9B8161}"/>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16</a:t>
            </a:r>
          </a:p>
        </p:txBody>
      </p:sp>
      <p:sp>
        <p:nvSpPr>
          <p:cNvPr id="3" name="PRO-SPEC  /  © 2026 Olivier Dahan">
            <a:extLst xmlns:a="http://schemas.openxmlformats.org/drawingml/2006/main">
              <a:ext uri="{FF2B5EF4-FFF2-40B4-BE49-F238E27FC236}">
                <a16:creationId xmlns:a16="http://schemas.microsoft.com/office/drawing/2014/main" id="{79D1BE4F-FA2B-465F-8EEC-08D256D766C5}"/>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e contexte utile comprend aussi l’état réel du dé">
            <a:extLst xmlns:a="http://schemas.openxmlformats.org/drawingml/2006/main">
              <a:ext uri="{FF2B5EF4-FFF2-40B4-BE49-F238E27FC236}">
                <a16:creationId xmlns:a16="http://schemas.microsoft.com/office/drawing/2014/main" id="{4BB823FF-9EF9-4D4A-B5B7-28FC65C4B6C5}"/>
              </a:ext>
            </a:extLst>
          </p:cNvPr>
          <p:cNvSpPr>
            <a:spLocks xmlns:a="http://schemas.openxmlformats.org/drawingml/2006/main" noGrp="1"/>
          </p:cNvSpPr>
          <p:nvPr/>
        </p:nvSpPr>
        <p:spPr>
          <a:xfrm xmlns:a="http://schemas.openxmlformats.org/drawingml/2006/main">
            <a:off x="390525" y="1381125"/>
            <a:ext cx="11410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Le contexte utile comprend aussi l’état réel du dépôt.</a:t>
            </a:r>
          </a:p>
        </p:txBody>
      </p:sp>
      <p:sp>
        <p:nvSpPr>
          <p:cNvPr id="5" name="Règles&#10;et index">
            <a:extLst xmlns:a="http://schemas.openxmlformats.org/drawingml/2006/main">
              <a:ext uri="{FF2B5EF4-FFF2-40B4-BE49-F238E27FC236}">
                <a16:creationId xmlns:a16="http://schemas.microsoft.com/office/drawing/2014/main" id="{307BA7D4-F3F1-4B9F-9111-24C89C7F69F0}"/>
              </a:ext>
            </a:extLst>
          </p:cNvPr>
          <p:cNvSpPr>
            <a:spLocks xmlns:a="http://schemas.openxmlformats.org/drawingml/2006/main" noGrp="1"/>
          </p:cNvSpPr>
          <p:nvPr/>
        </p:nvSpPr>
        <p:spPr>
          <a:xfrm xmlns:a="http://schemas.openxmlformats.org/drawingml/2006/main">
            <a:off x="390525" y="2762250"/>
            <a:ext cx="314325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Règles</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et index</a:t>
            </a:r>
          </a:p>
        </p:txBody>
      </p:sp>
      <p:sp>
        <p:nvSpPr>
          <p:cNvPr id="6" name="Commandes, fiche active&#10;Statut des dépendances">
            <a:extLst xmlns:a="http://schemas.openxmlformats.org/drawingml/2006/main">
              <a:ext uri="{FF2B5EF4-FFF2-40B4-BE49-F238E27FC236}">
                <a16:creationId xmlns:a16="http://schemas.microsoft.com/office/drawing/2014/main" id="{41D28553-30A0-4E91-AC27-B9B9DF963B92}"/>
              </a:ext>
            </a:extLst>
          </p:cNvPr>
          <p:cNvSpPr>
            <a:spLocks xmlns:a="http://schemas.openxmlformats.org/drawingml/2006/main" noGrp="1"/>
          </p:cNvSpPr>
          <p:nvPr/>
        </p:nvSpPr>
        <p:spPr>
          <a:xfrm xmlns:a="http://schemas.openxmlformats.org/drawingml/2006/main">
            <a:off x="390525" y="4095750"/>
            <a:ext cx="314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Commandes, fiche active</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Statut des dépendances</a:t>
            </a:r>
          </a:p>
        </p:txBody>
      </p:sp>
      <p:sp>
        <p:nvSpPr>
          <p:cNvPr id="7" name="Fiche&#10;et références">
            <a:extLst xmlns:a="http://schemas.openxmlformats.org/drawingml/2006/main">
              <a:ext uri="{FF2B5EF4-FFF2-40B4-BE49-F238E27FC236}">
                <a16:creationId xmlns:a16="http://schemas.microsoft.com/office/drawing/2014/main" id="{4303B207-C4C4-4326-B6DB-C9B143211DDC}"/>
              </a:ext>
            </a:extLst>
          </p:cNvPr>
          <p:cNvSpPr>
            <a:spLocks xmlns:a="http://schemas.openxmlformats.org/drawingml/2006/main" noGrp="1"/>
          </p:cNvSpPr>
          <p:nvPr/>
        </p:nvSpPr>
        <p:spPr>
          <a:xfrm xmlns:a="http://schemas.openxmlformats.org/drawingml/2006/main">
            <a:off x="4524375" y="2762250"/>
            <a:ext cx="314325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Fiche</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et références</a:t>
            </a:r>
          </a:p>
        </p:txBody>
      </p:sp>
      <p:cxnSp>
        <p:nvCxnSpPr>
          <p:cNvPr id="20" name=""/>
          <p:cNvCxnSpPr>
            <a:stCxn xmlns:a="http://schemas.openxmlformats.org/drawingml/2006/main" id="5" idx="3"/>
            <a:endCxn xmlns:a="http://schemas.openxmlformats.org/drawingml/2006/main" id="7" idx="1"/>
          </p:cNvCxnSpPr>
          <p:nvPr/>
        </p:nvCxnSpPr>
        <p:spPr>
          <a:xfrm xmlns:a="http://schemas.openxmlformats.org/drawingml/2006/main">
            <a:off x="3533775" y="3238500"/>
            <a:ext cx="99060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9" name="Spécification et ledger&#10;Contrats concernés">
            <a:extLst xmlns:a="http://schemas.openxmlformats.org/drawingml/2006/main">
              <a:ext uri="{FF2B5EF4-FFF2-40B4-BE49-F238E27FC236}">
                <a16:creationId xmlns:a16="http://schemas.microsoft.com/office/drawing/2014/main" id="{9E4B13E1-70CD-4473-B1B2-67D73C771DF7}"/>
              </a:ext>
            </a:extLst>
          </p:cNvPr>
          <p:cNvSpPr>
            <a:spLocks xmlns:a="http://schemas.openxmlformats.org/drawingml/2006/main" noGrp="1"/>
          </p:cNvSpPr>
          <p:nvPr/>
        </p:nvSpPr>
        <p:spPr>
          <a:xfrm xmlns:a="http://schemas.openxmlformats.org/drawingml/2006/main">
            <a:off x="4524375" y="4095750"/>
            <a:ext cx="314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Spécification et ledger</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Contrats concernés</a:t>
            </a:r>
          </a:p>
        </p:txBody>
      </p:sp>
      <p:sp>
        <p:nvSpPr>
          <p:cNvPr id="10" name="Code&#10;et contrôles">
            <a:extLst xmlns:a="http://schemas.openxmlformats.org/drawingml/2006/main">
              <a:ext uri="{FF2B5EF4-FFF2-40B4-BE49-F238E27FC236}">
                <a16:creationId xmlns:a16="http://schemas.microsoft.com/office/drawing/2014/main" id="{438F09B3-B825-4F1E-9587-55B7409F2CF1}"/>
              </a:ext>
            </a:extLst>
          </p:cNvPr>
          <p:cNvSpPr>
            <a:spLocks xmlns:a="http://schemas.openxmlformats.org/drawingml/2006/main" noGrp="1"/>
          </p:cNvSpPr>
          <p:nvPr/>
        </p:nvSpPr>
        <p:spPr>
          <a:xfrm xmlns:a="http://schemas.openxmlformats.org/drawingml/2006/main">
            <a:off x="8658225" y="2762250"/>
            <a:ext cx="314325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Code</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et contrôles</a:t>
            </a:r>
          </a:p>
        </p:txBody>
      </p:sp>
      <p:cxnSp>
        <p:nvCxnSpPr>
          <p:cNvPr id="23" name=""/>
          <p:cNvCxnSpPr>
            <a:stCxn xmlns:a="http://schemas.openxmlformats.org/drawingml/2006/main" id="7" idx="3"/>
            <a:endCxn xmlns:a="http://schemas.openxmlformats.org/drawingml/2006/main" id="10" idx="1"/>
          </p:cNvCxnSpPr>
          <p:nvPr/>
        </p:nvCxnSpPr>
        <p:spPr>
          <a:xfrm xmlns:a="http://schemas.openxmlformats.org/drawingml/2006/main">
            <a:off x="7667625" y="3238500"/>
            <a:ext cx="99060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12" name="Implémentation actuelle&#10;Tests et changements locau">
            <a:extLst xmlns:a="http://schemas.openxmlformats.org/drawingml/2006/main">
              <a:ext uri="{FF2B5EF4-FFF2-40B4-BE49-F238E27FC236}">
                <a16:creationId xmlns:a16="http://schemas.microsoft.com/office/drawing/2014/main" id="{BB13F21F-4862-4F52-BCFF-4C8E011BD2F5}"/>
              </a:ext>
            </a:extLst>
          </p:cNvPr>
          <p:cNvSpPr>
            <a:spLocks xmlns:a="http://schemas.openxmlformats.org/drawingml/2006/main" noGrp="1"/>
          </p:cNvSpPr>
          <p:nvPr/>
        </p:nvSpPr>
        <p:spPr>
          <a:xfrm xmlns:a="http://schemas.openxmlformats.org/drawingml/2006/main">
            <a:off x="8658225" y="4095750"/>
            <a:ext cx="314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Implémentation actuelle</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Tests et changements locaux</a:t>
            </a:r>
          </a:p>
        </p:txBody>
      </p:sp>
    </p:spTree>
    <p:extLst>
      <p:ext uri="{BB962C8B-B14F-4D97-AF65-F5344CB8AC3E}">
        <p14:creationId xmlns:p14="http://schemas.microsoft.com/office/powerpoint/2010/main" val="3446338916"/>
      </p:ext>
    </p:extLst>
  </p:cSld>
</p:sld>
</file>

<file path=ppt/slides/slide17.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7" name="Le prompt d’exécution">
            <a:extLst xmlns:a="http://schemas.openxmlformats.org/drawingml/2006/main">
              <a:ext uri="{FF2B5EF4-FFF2-40B4-BE49-F238E27FC236}">
                <a16:creationId xmlns:a16="http://schemas.microsoft.com/office/drawing/2014/main" id="{85C46B73-C100-4906-8D14-53B840F33D7F}"/>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 prompt d’exécution</a:t>
            </a:r>
          </a:p>
        </p:txBody>
      </p:sp>
      <p:sp>
        <p:nvSpPr>
          <p:cNvPr id="2" name="17">
            <a:extLst xmlns:a="http://schemas.openxmlformats.org/drawingml/2006/main">
              <a:ext uri="{FF2B5EF4-FFF2-40B4-BE49-F238E27FC236}">
                <a16:creationId xmlns:a16="http://schemas.microsoft.com/office/drawing/2014/main" id="{5C13900E-FB92-42FB-85B6-87CE711D11CF}"/>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17</a:t>
            </a:r>
          </a:p>
        </p:txBody>
      </p:sp>
      <p:sp>
        <p:nvSpPr>
          <p:cNvPr id="3" name="PRO-SPEC  /  © 2026 Olivier Dahan">
            <a:extLst xmlns:a="http://schemas.openxmlformats.org/drawingml/2006/main">
              <a:ext uri="{FF2B5EF4-FFF2-40B4-BE49-F238E27FC236}">
                <a16:creationId xmlns:a16="http://schemas.microsoft.com/office/drawing/2014/main" id="{DFCB074B-6933-49EC-BD7E-E0547EF433A7}"/>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 Réalise L-03 à partir de sa fiche active. »">
            <a:extLst xmlns:a="http://schemas.openxmlformats.org/drawingml/2006/main">
              <a:ext uri="{FF2B5EF4-FFF2-40B4-BE49-F238E27FC236}">
                <a16:creationId xmlns:a16="http://schemas.microsoft.com/office/drawing/2014/main" id="{2B58CA81-56AA-42E7-91C3-1E9C6570DEE0}"/>
              </a:ext>
            </a:extLst>
          </p:cNvPr>
          <p:cNvSpPr>
            <a:spLocks xmlns:a="http://schemas.openxmlformats.org/drawingml/2006/main" noGrp="1"/>
          </p:cNvSpPr>
          <p:nvPr/>
        </p:nvSpPr>
        <p:spPr>
          <a:xfrm xmlns:a="http://schemas.openxmlformats.org/drawingml/2006/main">
            <a:off x="714375" y="1809750"/>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 Réalise L-03 à partir de sa fiche active. »</a:t>
            </a:r>
          </a:p>
        </p:txBody>
      </p:sp>
      <p:sp>
        <p:nvSpPr>
          <p:cNvPr id="5" name="">
            <a:extLst xmlns:a="http://schemas.openxmlformats.org/drawingml/2006/main">
              <a:ext uri="{FF2B5EF4-FFF2-40B4-BE49-F238E27FC236}">
                <a16:creationId xmlns:a16="http://schemas.microsoft.com/office/drawing/2014/main" id="{C2C09B3D-2CA5-4C3E-9E60-DC754AF56074}"/>
              </a:ext>
            </a:extLst>
          </p:cNvPr>
          <p:cNvSpPr>
            <a:spLocks xmlns:a="http://schemas.openxmlformats.org/drawingml/2006/main" noGrp="1"/>
          </p:cNvSpPr>
          <p:nvPr/>
        </p:nvSpPr>
        <p:spPr>
          <a:xfrm xmlns:a="http://schemas.openxmlformats.org/drawingml/2006/main">
            <a:off x="714375" y="4191000"/>
            <a:ext cx="10763250"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Lire ses références avant toute modification.&#10;Resp">
            <a:extLst xmlns:a="http://schemas.openxmlformats.org/drawingml/2006/main">
              <a:ext uri="{FF2B5EF4-FFF2-40B4-BE49-F238E27FC236}">
                <a16:creationId xmlns:a16="http://schemas.microsoft.com/office/drawing/2014/main" id="{E6DD673A-6DAA-4D42-ABD4-ACBFA0F43C2A}"/>
              </a:ext>
            </a:extLst>
          </p:cNvPr>
          <p:cNvSpPr>
            <a:spLocks xmlns:a="http://schemas.openxmlformats.org/drawingml/2006/main" noGrp="1"/>
          </p:cNvSpPr>
          <p:nvPr/>
        </p:nvSpPr>
        <p:spPr>
          <a:xfrm xmlns:a="http://schemas.openxmlformats.org/drawingml/2006/main">
            <a:off x="714375" y="46005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Lire ses références avant toute modification.</a:t>
            </a:r>
          </a:p>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Respecter le périmètre et les critères. Tracer les décisions.</a:t>
            </a:r>
          </a:p>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Exécuter les contrôles et actualiser les documents de clôture.</a:t>
            </a:r>
          </a:p>
        </p:txBody>
      </p:sp>
    </p:spTree>
    <p:extLst>
      <p:ext uri="{BB962C8B-B14F-4D97-AF65-F5344CB8AC3E}">
        <p14:creationId xmlns:p14="http://schemas.microsoft.com/office/powerpoint/2010/main" val="546221724"/>
      </p:ext>
    </p:extLst>
  </p:cSld>
</p:sld>
</file>

<file path=ppt/slides/slide18.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9" name="Pendant le lot : une difficulté apparaît">
            <a:extLst xmlns:a="http://schemas.openxmlformats.org/drawingml/2006/main">
              <a:ext uri="{FF2B5EF4-FFF2-40B4-BE49-F238E27FC236}">
                <a16:creationId xmlns:a16="http://schemas.microsoft.com/office/drawing/2014/main" id="{DE0F59C9-83D6-49B1-8873-510D7BC51EC6}"/>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Pendant le lot : une difficulté apparaît</a:t>
            </a:r>
          </a:p>
        </p:txBody>
      </p:sp>
      <p:sp>
        <p:nvSpPr>
          <p:cNvPr id="2" name="18">
            <a:extLst xmlns:a="http://schemas.openxmlformats.org/drawingml/2006/main">
              <a:ext uri="{FF2B5EF4-FFF2-40B4-BE49-F238E27FC236}">
                <a16:creationId xmlns:a16="http://schemas.microsoft.com/office/drawing/2014/main" id="{19D9D332-C612-4FA3-B361-A9991D02FDA8}"/>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18</a:t>
            </a:r>
          </a:p>
        </p:txBody>
      </p:sp>
      <p:sp>
        <p:nvSpPr>
          <p:cNvPr id="3" name="PRO-SPEC  /  © 2026 Olivier Dahan">
            <a:extLst xmlns:a="http://schemas.openxmlformats.org/drawingml/2006/main">
              <a:ext uri="{FF2B5EF4-FFF2-40B4-BE49-F238E27FC236}">
                <a16:creationId xmlns:a16="http://schemas.microsoft.com/office/drawing/2014/main" id="{7EA3ADE4-CC0D-47E3-BA61-F993BE325CF8}"/>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e code existant permet aussi d’exporter les comme">
            <a:extLst xmlns:a="http://schemas.openxmlformats.org/drawingml/2006/main">
              <a:ext uri="{FF2B5EF4-FFF2-40B4-BE49-F238E27FC236}">
                <a16:creationId xmlns:a16="http://schemas.microsoft.com/office/drawing/2014/main" id="{D604B9DF-62E9-4A8B-B1E0-BE7204ACE841}"/>
              </a:ext>
            </a:extLst>
          </p:cNvPr>
          <p:cNvSpPr>
            <a:spLocks xmlns:a="http://schemas.openxmlformats.org/drawingml/2006/main" noGrp="1"/>
          </p:cNvSpPr>
          <p:nvPr/>
        </p:nvSpPr>
        <p:spPr>
          <a:xfrm xmlns:a="http://schemas.openxmlformats.org/drawingml/2006/main">
            <a:off x="390525" y="1419225"/>
            <a:ext cx="1128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Lora Medium"/>
                <a:ea typeface="Lora Medium"/>
                <a:cs typeface="Lora Medium"/>
              </a:defRPr>
            </a:pPr>
            <a:r>
              <a:rPr sz="2175">
                <a:solidFill>
                  <a:srgbClr val="17202A"/>
                </a:solidFill>
                <a:latin typeface="Lora Medium"/>
                <a:ea typeface="Lora Medium"/>
                <a:cs typeface="Lora Medium"/>
              </a:rPr>
              <a:t>Le code existant permet aussi d’exporter les commentaires internes</a:t>
            </a:r>
          </a:p>
        </p:txBody>
      </p:sp>
      <p:sp>
        <p:nvSpPr>
          <p:cNvPr id="5" name="Ce que l’IA peut faire">
            <a:extLst xmlns:a="http://schemas.openxmlformats.org/drawingml/2006/main">
              <a:ext uri="{FF2B5EF4-FFF2-40B4-BE49-F238E27FC236}">
                <a16:creationId xmlns:a16="http://schemas.microsoft.com/office/drawing/2014/main" id="{6CDE937F-9907-4112-8B80-EE7BE24914CF}"/>
              </a:ext>
            </a:extLst>
          </p:cNvPr>
          <p:cNvSpPr>
            <a:spLocks xmlns:a="http://schemas.openxmlformats.org/drawingml/2006/main" noGrp="1"/>
          </p:cNvSpPr>
          <p:nvPr/>
        </p:nvSpPr>
        <p:spPr>
          <a:xfrm xmlns:a="http://schemas.openxmlformats.org/drawingml/2006/main">
            <a:off x="390525" y="235267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Ce que l’IA peut faire</a:t>
            </a:r>
          </a:p>
        </p:txBody>
      </p:sp>
      <p:sp>
        <p:nvSpPr>
          <p:cNvPr id="6" name="Identifier le contrat réutilisable&#10;&#10;Ajouter une li">
            <a:extLst xmlns:a="http://schemas.openxmlformats.org/drawingml/2006/main">
              <a:ext uri="{FF2B5EF4-FFF2-40B4-BE49-F238E27FC236}">
                <a16:creationId xmlns:a16="http://schemas.microsoft.com/office/drawing/2014/main" id="{688BBC8B-D1F7-4E92-A1EB-948B8B39976E}"/>
              </a:ext>
            </a:extLst>
          </p:cNvPr>
          <p:cNvSpPr>
            <a:spLocks xmlns:a="http://schemas.openxmlformats.org/drawingml/2006/main" noGrp="1"/>
          </p:cNvSpPr>
          <p:nvPr/>
        </p:nvSpPr>
        <p:spPr>
          <a:xfrm xmlns:a="http://schemas.openxmlformats.org/drawingml/2006/main">
            <a:off x="390525" y="3124200"/>
            <a:ext cx="54768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Identifier le contrat réutilisable</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Ajouter une liste explicite des colonnes autorisées</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Vérifier l’absence de fuite</a:t>
            </a:r>
          </a:p>
        </p:txBody>
      </p:sp>
      <p:sp>
        <p:nvSpPr>
          <p:cNvPr id="7" name="Ce qui exige un arbitrage">
            <a:extLst xmlns:a="http://schemas.openxmlformats.org/drawingml/2006/main">
              <a:ext uri="{FF2B5EF4-FFF2-40B4-BE49-F238E27FC236}">
                <a16:creationId xmlns:a16="http://schemas.microsoft.com/office/drawing/2014/main" id="{C9D19E52-9F3B-4A5B-B6E8-559FEDE15F84}"/>
              </a:ext>
            </a:extLst>
          </p:cNvPr>
          <p:cNvSpPr>
            <a:spLocks xmlns:a="http://schemas.openxmlformats.org/drawingml/2006/main" noGrp="1"/>
          </p:cNvSpPr>
          <p:nvPr/>
        </p:nvSpPr>
        <p:spPr>
          <a:xfrm xmlns:a="http://schemas.openxmlformats.org/drawingml/2006/main">
            <a:off x="6267450" y="2352675"/>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Ce qui exige un arbitrage</a:t>
            </a:r>
          </a:p>
        </p:txBody>
      </p:sp>
      <p:sp>
        <p:nvSpPr>
          <p:cNvPr id="8" name="Ajouter les commentaires à l’export&#10;&#10;Modifier les ">
            <a:extLst xmlns:a="http://schemas.openxmlformats.org/drawingml/2006/main">
              <a:ext uri="{FF2B5EF4-FFF2-40B4-BE49-F238E27FC236}">
                <a16:creationId xmlns:a16="http://schemas.microsoft.com/office/drawing/2014/main" id="{8CEB0C7C-7648-46DB-9DC2-E1E5EDF65616}"/>
              </a:ext>
            </a:extLst>
          </p:cNvPr>
          <p:cNvSpPr>
            <a:spLocks xmlns:a="http://schemas.openxmlformats.org/drawingml/2006/main" noGrp="1"/>
          </p:cNvSpPr>
          <p:nvPr/>
        </p:nvSpPr>
        <p:spPr>
          <a:xfrm xmlns:a="http://schemas.openxmlformats.org/drawingml/2006/main">
            <a:off x="6267450" y="3124200"/>
            <a:ext cx="55245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Ajouter les commentaires à l’export</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Modifier les droits du produit</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Étendre le lot à l’envoi automatique</a:t>
            </a:r>
          </a:p>
        </p:txBody>
      </p:sp>
    </p:spTree>
    <p:extLst>
      <p:ext uri="{BB962C8B-B14F-4D97-AF65-F5344CB8AC3E}">
        <p14:creationId xmlns:p14="http://schemas.microsoft.com/office/powerpoint/2010/main" val="546221724"/>
      </p:ext>
    </p:extLst>
  </p:cSld>
</p:sld>
</file>

<file path=ppt/slides/slide19.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7" name="Le ledger conserve le pourquoi">
            <a:extLst xmlns:a="http://schemas.openxmlformats.org/drawingml/2006/main">
              <a:ext uri="{FF2B5EF4-FFF2-40B4-BE49-F238E27FC236}">
                <a16:creationId xmlns:a16="http://schemas.microsoft.com/office/drawing/2014/main" id="{4E180C58-998C-486E-9211-02C53E097DE6}"/>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 ledger conserve le pourquoi</a:t>
            </a:r>
          </a:p>
        </p:txBody>
      </p:sp>
      <p:sp>
        <p:nvSpPr>
          <p:cNvPr id="2" name="19">
            <a:extLst xmlns:a="http://schemas.openxmlformats.org/drawingml/2006/main">
              <a:ext uri="{FF2B5EF4-FFF2-40B4-BE49-F238E27FC236}">
                <a16:creationId xmlns:a16="http://schemas.microsoft.com/office/drawing/2014/main" id="{C88B2D51-E458-4D28-AC71-547FE19A155A}"/>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19</a:t>
            </a:r>
          </a:p>
        </p:txBody>
      </p:sp>
      <p:sp>
        <p:nvSpPr>
          <p:cNvPr id="3" name="PRO-SPEC  /  © 2026 Olivier Dahan">
            <a:extLst xmlns:a="http://schemas.openxmlformats.org/drawingml/2006/main">
              <a:ext uri="{FF2B5EF4-FFF2-40B4-BE49-F238E27FC236}">
                <a16:creationId xmlns:a16="http://schemas.microsoft.com/office/drawing/2014/main" id="{CEF010B2-34CD-47E3-AFE1-016A381DAB5E}"/>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Décision D-07">
            <a:extLst xmlns:a="http://schemas.openxmlformats.org/drawingml/2006/main">
              <a:ext uri="{FF2B5EF4-FFF2-40B4-BE49-F238E27FC236}">
                <a16:creationId xmlns:a16="http://schemas.microsoft.com/office/drawing/2014/main" id="{5F128CB5-EF3F-41FF-8947-8D76B139A40F}"/>
              </a:ext>
            </a:extLst>
          </p:cNvPr>
          <p:cNvSpPr>
            <a:spLocks xmlns:a="http://schemas.openxmlformats.org/drawingml/2006/main" noGrp="1"/>
          </p:cNvSpPr>
          <p:nvPr/>
        </p:nvSpPr>
        <p:spPr>
          <a:xfrm xmlns:a="http://schemas.openxmlformats.org/drawingml/2006/main">
            <a:off x="390525" y="1619250"/>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a:solidFill>
                  <a:srgbClr val="17202A"/>
                </a:solidFill>
                <a:latin typeface="Lora Medium"/>
                <a:ea typeface="Lora Medium"/>
                <a:cs typeface="Lora Medium"/>
              </a:defRPr>
            </a:pPr>
            <a:r>
              <a:rPr sz="2250">
                <a:solidFill>
                  <a:srgbClr val="17202A"/>
                </a:solidFill>
                <a:latin typeface="Lora Medium"/>
                <a:ea typeface="Lora Medium"/>
                <a:cs typeface="Lora Medium"/>
              </a:rPr>
              <a:t>Décision D-07</a:t>
            </a:r>
          </a:p>
        </p:txBody>
      </p:sp>
      <p:sp>
        <p:nvSpPr>
          <p:cNvPr id="5" name="L-03 conserve une liste explicite des colonnes exp">
            <a:extLst xmlns:a="http://schemas.openxmlformats.org/drawingml/2006/main">
              <a:ext uri="{FF2B5EF4-FFF2-40B4-BE49-F238E27FC236}">
                <a16:creationId xmlns:a16="http://schemas.microsoft.com/office/drawing/2014/main" id="{53ED6FC4-4640-4018-9ED3-861B90D59B99}"/>
              </a:ext>
            </a:extLst>
          </p:cNvPr>
          <p:cNvSpPr>
            <a:spLocks xmlns:a="http://schemas.openxmlformats.org/drawingml/2006/main" noGrp="1"/>
          </p:cNvSpPr>
          <p:nvPr/>
        </p:nvSpPr>
        <p:spPr>
          <a:xfrm xmlns:a="http://schemas.openxmlformats.org/drawingml/2006/main">
            <a:off x="390525" y="3000375"/>
            <a:ext cx="3476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L-03 conserve une liste explicite des colonnes exportées.</a:t>
            </a:r>
          </a:p>
          <a:p xmlns:a="http://schemas.openxmlformats.org/drawingml/2006/main">
            <a:r>
              <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Une décision utile relie le choix à ses conséquences.</a:t>
            </a:r>
          </a:p>
        </p:txBody>
      </p:sp>
      <p:graphicFrame>
        <p:nvGraphicFramePr>
          <p:cNvPr id="12" name=""/>
          <p:cNvGraphicFramePr/>
          <p:nvPr/>
        </p:nvGraphicFramePr>
        <p:xfrm>
          <a:off xmlns:a="http://schemas.openxmlformats.org/drawingml/2006/main" x="4238625" y="1714500"/>
          <a:ext xmlns:a="http://schemas.openxmlformats.org/drawingml/2006/main" cx="7477125" cy="4191000"/>
        </p:xfrm>
        <a:graphic xmlns:a="http://schemas.openxmlformats.org/drawingml/2006/main">
          <a:graphicData uri="http://schemas.openxmlformats.org/drawingml/2006/table">
            <a:tbl>
              <a:tblPr/>
              <a:tblGrid>
                <a:gridCol w="2238375"/>
                <a:gridCol w="5238750"/>
              </a:tblGrid>
              <a:tr h="698500">
                <a:tc>
                  <a:txBody>
                    <a:bodyPr>
                      <a:noAutofit/>
                    </a:bodyPr>
                    <a:lstStyle/>
                    <a:p>
                      <a:r>
                        <a:rPr sz="1650" b="1">
                          <a:solidFill>
                            <a:srgbClr val="FFFFFF"/>
                          </a:solidFill>
                          <a:latin typeface="Helvetica Neue"/>
                          <a:ea typeface="Helvetica Neue"/>
                          <a:cs typeface="Helvetica Neue"/>
                        </a:rPr>
                        <a:t>Champ</a:t>
                      </a:r>
                    </a:p>
                  </a:txBody>
                  <a:tcPr marL="91440" marR="91440" marT="45720" marB="45720">
                    <a:solidFill>
                      <a:srgbClr val="3157C8"/>
                    </a:solidFill>
                  </a:tcPr>
                </a:tc>
                <a:tc>
                  <a:txBody>
                    <a:bodyPr>
                      <a:noAutofit/>
                    </a:bodyPr>
                    <a:lstStyle/>
                    <a:p>
                      <a:r>
                        <a:rPr sz="1650" b="1">
                          <a:solidFill>
                            <a:srgbClr val="FFFFFF"/>
                          </a:solidFill>
                          <a:latin typeface="Helvetica Neue"/>
                          <a:ea typeface="Helvetica Neue"/>
                          <a:cs typeface="Helvetica Neue"/>
                        </a:rPr>
                        <a:t>Entrée de l’exemple</a:t>
                      </a:r>
                    </a:p>
                  </a:txBody>
                  <a:tcPr marL="91440" marR="91440" marT="45720" marB="45720">
                    <a:solidFill>
                      <a:srgbClr val="3157C8"/>
                    </a:solidFill>
                  </a:tcPr>
                </a:tc>
              </a:tr>
              <a:tr h="698500">
                <a:tc>
                  <a:txBody>
                    <a:bodyPr>
                      <a:noAutofit/>
                    </a:bodyPr>
                    <a:lstStyle/>
                    <a:p>
                      <a:r>
                        <a:rPr sz="1650" b="0">
                          <a:solidFill>
                            <a:srgbClr val="17202A"/>
                          </a:solidFill>
                          <a:latin typeface="Helvetica Neue"/>
                          <a:ea typeface="Helvetica Neue"/>
                          <a:cs typeface="Helvetica Neue"/>
                        </a:rPr>
                        <a:t>Décision</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ID, titre et statut uniquement</a:t>
                      </a:r>
                    </a:p>
                  </a:txBody>
                  <a:tcPr marL="91440" marR="91440" marT="45720" marB="45720">
                    <a:solidFill>
                      <a:srgbClr val="F8FBFD"/>
                    </a:solidFill>
                  </a:tcPr>
                </a:tc>
              </a:tr>
              <a:tr h="698500">
                <a:tc>
                  <a:txBody>
                    <a:bodyPr>
                      <a:noAutofit/>
                    </a:bodyPr>
                    <a:lstStyle/>
                    <a:p>
                      <a:r>
                        <a:rPr sz="1650" b="0">
                          <a:solidFill>
                            <a:srgbClr val="17202A"/>
                          </a:solidFill>
                          <a:latin typeface="Helvetica Neue"/>
                          <a:ea typeface="Helvetica Neue"/>
                          <a:cs typeface="Helvetica Neue"/>
                        </a:rPr>
                        <a:t>Motif</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Respect de R-02</a:t>
                      </a:r>
                    </a:p>
                  </a:txBody>
                  <a:tcPr marL="91440" marR="91440" marT="45720" marB="45720">
                    <a:solidFill>
                      <a:srgbClr val="F8FBFD"/>
                    </a:solidFill>
                  </a:tcPr>
                </a:tc>
              </a:tr>
              <a:tr h="698500">
                <a:tc>
                  <a:txBody>
                    <a:bodyPr>
                      <a:noAutofit/>
                    </a:bodyPr>
                    <a:lstStyle/>
                    <a:p>
                      <a:r>
                        <a:rPr sz="1650" b="0">
                          <a:solidFill>
                            <a:srgbClr val="17202A"/>
                          </a:solidFill>
                          <a:latin typeface="Helvetica Neue"/>
                          <a:ea typeface="Helvetica Neue"/>
                          <a:cs typeface="Helvetica Neue"/>
                        </a:rPr>
                        <a:t>Portée</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Export CSV du lot L-03</a:t>
                      </a:r>
                    </a:p>
                  </a:txBody>
                  <a:tcPr marL="91440" marR="91440" marT="45720" marB="45720">
                    <a:solidFill>
                      <a:srgbClr val="F8FBFD"/>
                    </a:solidFill>
                  </a:tcPr>
                </a:tc>
              </a:tr>
              <a:tr h="698500">
                <a:tc>
                  <a:txBody>
                    <a:bodyPr>
                      <a:noAutofit/>
                    </a:bodyPr>
                    <a:lstStyle/>
                    <a:p>
                      <a:r>
                        <a:rPr sz="1650" b="0">
                          <a:solidFill>
                            <a:srgbClr val="17202A"/>
                          </a:solidFill>
                          <a:latin typeface="Helvetica Neue"/>
                          <a:ea typeface="Helvetica Neue"/>
                          <a:cs typeface="Helvetica Neue"/>
                        </a:rPr>
                        <a:t>Conséquence</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Contrôle des colonnes exactes</a:t>
                      </a:r>
                    </a:p>
                  </a:txBody>
                  <a:tcPr marL="91440" marR="91440" marT="45720" marB="45720">
                    <a:solidFill>
                      <a:srgbClr val="F8FBFD"/>
                    </a:solidFill>
                  </a:tcPr>
                </a:tc>
              </a:tr>
              <a:tr h="698500">
                <a:tc>
                  <a:txBody>
                    <a:bodyPr>
                      <a:noAutofit/>
                    </a:bodyPr>
                    <a:lstStyle/>
                    <a:p>
                      <a:r>
                        <a:rPr sz="1650" b="0">
                          <a:solidFill>
                            <a:srgbClr val="17202A"/>
                          </a:solidFill>
                          <a:latin typeface="Helvetica Neue"/>
                          <a:ea typeface="Helvetica Neue"/>
                          <a:cs typeface="Helvetica Neue"/>
                        </a:rPr>
                        <a:t>Références</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Fiche L-03 et preuve V-03</a:t>
                      </a:r>
                    </a:p>
                  </a:txBody>
                  <a:tcPr marL="91440" marR="91440" marT="45720" marB="45720">
                    <a:solidFill>
                      <a:srgbClr val="F8FBFD"/>
                    </a:solidFill>
                  </a:tcPr>
                </a:tc>
              </a:tr>
            </a:tbl>
          </a:graphicData>
        </a:graphic>
      </p:graphicFrame>
    </p:spTree>
    <p:extLst>
      <p:ext uri="{BB962C8B-B14F-4D97-AF65-F5344CB8AC3E}">
        <p14:creationId xmlns:p14="http://schemas.microsoft.com/office/powerpoint/2010/main" val="2553894934"/>
      </p:ext>
    </p:extLst>
  </p:cSld>
</p:sld>
</file>

<file path=ppt/slides/slide20.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2" name="Quand les références se contredisent">
            <a:extLst xmlns:a="http://schemas.openxmlformats.org/drawingml/2006/main">
              <a:ext uri="{FF2B5EF4-FFF2-40B4-BE49-F238E27FC236}">
                <a16:creationId xmlns:a16="http://schemas.microsoft.com/office/drawing/2014/main" id="{8DF9AB00-2A5F-44BA-8829-401522E0BD9A}"/>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Quand les références se contredisent</a:t>
            </a:r>
          </a:p>
        </p:txBody>
      </p:sp>
      <p:sp>
        <p:nvSpPr>
          <p:cNvPr id="2" name="20">
            <a:extLst xmlns:a="http://schemas.openxmlformats.org/drawingml/2006/main">
              <a:ext uri="{FF2B5EF4-FFF2-40B4-BE49-F238E27FC236}">
                <a16:creationId xmlns:a16="http://schemas.microsoft.com/office/drawing/2014/main" id="{6B0A511D-56DA-40D1-BDDF-F861F222305D}"/>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20</a:t>
            </a:r>
          </a:p>
        </p:txBody>
      </p:sp>
      <p:sp>
        <p:nvSpPr>
          <p:cNvPr id="3" name="PRO-SPEC  /  © 2026 Olivier Dahan">
            <a:extLst xmlns:a="http://schemas.openxmlformats.org/drawingml/2006/main">
              <a:ext uri="{FF2B5EF4-FFF2-40B4-BE49-F238E27FC236}">
                <a16:creationId xmlns:a16="http://schemas.microsoft.com/office/drawing/2014/main" id="{1C4F8D4C-58C6-4CAE-A527-071A1F42CAEC}"/>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Contradiction constatée">
            <a:extLst xmlns:a="http://schemas.openxmlformats.org/drawingml/2006/main">
              <a:ext uri="{FF2B5EF4-FFF2-40B4-BE49-F238E27FC236}">
                <a16:creationId xmlns:a16="http://schemas.microsoft.com/office/drawing/2014/main" id="{72D10BAD-0583-4BD5-902A-C9913100BB07}"/>
              </a:ext>
            </a:extLst>
          </p:cNvPr>
          <p:cNvSpPr>
            <a:spLocks xmlns:a="http://schemas.openxmlformats.org/drawingml/2006/main" noGrp="1"/>
          </p:cNvSpPr>
          <p:nvPr/>
        </p:nvSpPr>
        <p:spPr>
          <a:xfrm xmlns:a="http://schemas.openxmlformats.org/drawingml/2006/main">
            <a:off x="4000500" y="1600200"/>
            <a:ext cx="4191000" cy="66675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Contradiction constatée</a:t>
            </a:r>
          </a:p>
        </p:txBody>
      </p:sp>
      <p:sp>
        <p:nvSpPr>
          <p:cNvPr id="5" name="Décision de remplacement explicite ?">
            <a:extLst xmlns:a="http://schemas.openxmlformats.org/drawingml/2006/main">
              <a:ext uri="{FF2B5EF4-FFF2-40B4-BE49-F238E27FC236}">
                <a16:creationId xmlns:a16="http://schemas.microsoft.com/office/drawing/2014/main" id="{4C99E5A2-7683-4E8C-B1F3-98D1FF95B2C3}"/>
              </a:ext>
            </a:extLst>
          </p:cNvPr>
          <p:cNvSpPr>
            <a:spLocks xmlns:a="http://schemas.openxmlformats.org/drawingml/2006/main" noGrp="1"/>
          </p:cNvSpPr>
          <p:nvPr/>
        </p:nvSpPr>
        <p:spPr>
          <a:xfrm xmlns:a="http://schemas.openxmlformats.org/drawingml/2006/main">
            <a:off x="3333750" y="2571750"/>
            <a:ext cx="5524500" cy="74295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Décision de remplacement explicite ?</a:t>
            </a:r>
          </a:p>
        </p:txBody>
      </p:sp>
      <p:cxnSp>
        <p:nvCxnSpPr>
          <p:cNvPr id="17" name=""/>
          <p:cNvCxnSpPr>
            <a:stCxn xmlns:a="http://schemas.openxmlformats.org/drawingml/2006/main" id="4" idx="2"/>
            <a:endCxn xmlns:a="http://schemas.openxmlformats.org/drawingml/2006/main" id="5" idx="0"/>
          </p:cNvCxnSpPr>
          <p:nvPr/>
        </p:nvCxnSpPr>
        <p:spPr>
          <a:xfrm xmlns:a="http://schemas.openxmlformats.org/drawingml/2006/main">
            <a:off x="6096000" y="2266950"/>
            <a:ext cx="0" cy="30480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7" name="OUI&#10;Appliquer sa portée">
            <a:extLst xmlns:a="http://schemas.openxmlformats.org/drawingml/2006/main">
              <a:ext uri="{FF2B5EF4-FFF2-40B4-BE49-F238E27FC236}">
                <a16:creationId xmlns:a16="http://schemas.microsoft.com/office/drawing/2014/main" id="{F069DF35-96EC-4B08-91E6-B9C65B7ECDC9}"/>
              </a:ext>
            </a:extLst>
          </p:cNvPr>
          <p:cNvSpPr>
            <a:spLocks xmlns:a="http://schemas.openxmlformats.org/drawingml/2006/main" noGrp="1"/>
          </p:cNvSpPr>
          <p:nvPr/>
        </p:nvSpPr>
        <p:spPr>
          <a:xfrm xmlns:a="http://schemas.openxmlformats.org/drawingml/2006/main">
            <a:off x="666750" y="4095750"/>
            <a:ext cx="4286250" cy="904875"/>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OUI</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Appliquer sa portée</a:t>
            </a:r>
          </a:p>
        </p:txBody>
      </p:sp>
      <p:sp>
        <p:nvSpPr>
          <p:cNvPr id="8" name="NON&#10;Défaut ou arbitrage à qualifier">
            <a:extLst xmlns:a="http://schemas.openxmlformats.org/drawingml/2006/main">
              <a:ext uri="{FF2B5EF4-FFF2-40B4-BE49-F238E27FC236}">
                <a16:creationId xmlns:a16="http://schemas.microsoft.com/office/drawing/2014/main" id="{8E02C897-F257-4605-BCCF-C4C5ADE6D530}"/>
              </a:ext>
            </a:extLst>
          </p:cNvPr>
          <p:cNvSpPr>
            <a:spLocks xmlns:a="http://schemas.openxmlformats.org/drawingml/2006/main" noGrp="1"/>
          </p:cNvSpPr>
          <p:nvPr/>
        </p:nvSpPr>
        <p:spPr>
          <a:xfrm xmlns:a="http://schemas.openxmlformats.org/drawingml/2006/main">
            <a:off x="7239000" y="4095750"/>
            <a:ext cx="4286250" cy="904875"/>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NON</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Défaut ou arbitrage à qualifier</a:t>
            </a:r>
          </a:p>
        </p:txBody>
      </p:sp>
      <p:cxnSp>
        <p:nvCxnSpPr>
          <p:cNvPr id="20" name=""/>
          <p:cNvCxnSpPr>
            <a:stCxn xmlns:a="http://schemas.openxmlformats.org/drawingml/2006/main" id="5" idx="2"/>
            <a:endCxn xmlns:a="http://schemas.openxmlformats.org/drawingml/2006/main" id="7" idx="0"/>
          </p:cNvCxnSpPr>
          <p:nvPr/>
        </p:nvCxnSpPr>
        <p:spPr>
          <a:xfrm xmlns:a="http://schemas.openxmlformats.org/drawingml/2006/main" flipH="1">
            <a:off x="2809875" y="3314700"/>
            <a:ext cx="3286125" cy="781050"/>
          </a:xfrm>
          <a:prstGeom xmlns:a="http://schemas.openxmlformats.org/drawingml/2006/main" prst="straightConnector1">
            <a:avLst/>
          </a:prstGeom>
          <a:ln xmlns:a="http://schemas.openxmlformats.org/drawingml/2006/main" w="28575">
            <a:solidFill>
              <a:srgbClr val="3157C8"/>
            </a:solidFill>
            <a:tailEnd type="triangle" w="med" len="med"/>
          </a:ln>
        </p:spPr>
      </p:cxnSp>
      <p:cxnSp>
        <p:nvCxnSpPr>
          <p:cNvPr id="21" name=""/>
          <p:cNvCxnSpPr>
            <a:stCxn xmlns:a="http://schemas.openxmlformats.org/drawingml/2006/main" id="5" idx="2"/>
            <a:endCxn xmlns:a="http://schemas.openxmlformats.org/drawingml/2006/main" id="8" idx="0"/>
          </p:cNvCxnSpPr>
          <p:nvPr/>
        </p:nvCxnSpPr>
        <p:spPr>
          <a:xfrm xmlns:a="http://schemas.openxmlformats.org/drawingml/2006/main">
            <a:off x="6096000" y="3314700"/>
            <a:ext cx="3286125" cy="78105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11" name="Réconcilier les documents actifs et conserver le m">
            <a:extLst xmlns:a="http://schemas.openxmlformats.org/drawingml/2006/main">
              <a:ext uri="{FF2B5EF4-FFF2-40B4-BE49-F238E27FC236}">
                <a16:creationId xmlns:a16="http://schemas.microsoft.com/office/drawing/2014/main" id="{5716B97D-2901-488E-A867-070B894FF42F}"/>
              </a:ext>
            </a:extLst>
          </p:cNvPr>
          <p:cNvSpPr>
            <a:spLocks xmlns:a="http://schemas.openxmlformats.org/drawingml/2006/main" noGrp="1"/>
          </p:cNvSpPr>
          <p:nvPr/>
        </p:nvSpPr>
        <p:spPr>
          <a:xfrm xmlns:a="http://schemas.openxmlformats.org/drawingml/2006/main">
            <a:off x="857250" y="55435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3157C8"/>
                </a:solidFill>
                <a:latin typeface="Helvetica Neue"/>
                <a:ea typeface="Helvetica Neue"/>
                <a:cs typeface="Helvetica Neue"/>
              </a:defRPr>
            </a:pPr>
            <a:r>
              <a:rPr sz="2025">
                <a:solidFill>
                  <a:srgbClr val="3157C8"/>
                </a:solidFill>
                <a:latin typeface="Helvetica Neue"/>
                <a:ea typeface="Helvetica Neue"/>
                <a:cs typeface="Helvetica Neue"/>
              </a:rPr>
              <a:t>Réconcilier les documents actifs et conserver le motif de la décision</a:t>
            </a:r>
          </a:p>
        </p:txBody>
      </p:sp>
    </p:spTree>
    <p:extLst>
      <p:ext uri="{BB962C8B-B14F-4D97-AF65-F5344CB8AC3E}">
        <p14:creationId xmlns:p14="http://schemas.microsoft.com/office/powerpoint/2010/main" val="546221724"/>
      </p:ext>
    </p:extLst>
  </p:cSld>
</p:sld>
</file>

<file path=ppt/slides/slide21.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6" name="Les points de validation">
            <a:extLst xmlns:a="http://schemas.openxmlformats.org/drawingml/2006/main">
              <a:ext uri="{FF2B5EF4-FFF2-40B4-BE49-F238E27FC236}">
                <a16:creationId xmlns:a16="http://schemas.microsoft.com/office/drawing/2014/main" id="{76922579-5E7F-402C-B7A7-AEDCC5CEF1F5}"/>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Les points de validation</a:t>
            </a:r>
          </a:p>
        </p:txBody>
      </p:sp>
      <p:sp>
        <p:nvSpPr>
          <p:cNvPr id="2" name="21">
            <a:extLst xmlns:a="http://schemas.openxmlformats.org/drawingml/2006/main">
              <a:ext uri="{FF2B5EF4-FFF2-40B4-BE49-F238E27FC236}">
                <a16:creationId xmlns:a16="http://schemas.microsoft.com/office/drawing/2014/main" id="{360F6C9C-4ACE-43C4-9B67-01B5FDD76D0A}"/>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21</a:t>
            </a:r>
          </a:p>
        </p:txBody>
      </p:sp>
      <p:sp>
        <p:nvSpPr>
          <p:cNvPr id="3" name="PRO-SPEC  /  © 2026 Olivier Dahan">
            <a:extLst xmlns:a="http://schemas.openxmlformats.org/drawingml/2006/main">
              <a:ext uri="{FF2B5EF4-FFF2-40B4-BE49-F238E27FC236}">
                <a16:creationId xmlns:a16="http://schemas.microsoft.com/office/drawing/2014/main" id="{A44C4BFB-B850-47E5-8873-6E8138AE9415}"/>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Conventions proposées pour rendre les passages exp">
            <a:extLst xmlns:a="http://schemas.openxmlformats.org/drawingml/2006/main">
              <a:ext uri="{FF2B5EF4-FFF2-40B4-BE49-F238E27FC236}">
                <a16:creationId xmlns:a16="http://schemas.microsoft.com/office/drawing/2014/main" id="{A5EBC142-29F3-4F48-BE3E-9E16874A4B63}"/>
              </a:ext>
            </a:extLst>
          </p:cNvPr>
          <p:cNvSpPr>
            <a:spLocks xmlns:a="http://schemas.openxmlformats.org/drawingml/2006/main" noGrp="1"/>
          </p:cNvSpPr>
          <p:nvPr/>
        </p:nvSpPr>
        <p:spPr>
          <a:xfrm xmlns:a="http://schemas.openxmlformats.org/drawingml/2006/main">
            <a:off x="390525" y="1381125"/>
            <a:ext cx="11410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Conventions proposées pour rendre les passages explicites.</a:t>
            </a:r>
          </a:p>
        </p:txBody>
      </p:sp>
      <p:sp>
        <p:nvSpPr>
          <p:cNvPr id="5" name="P0&#10;Prêt">
            <a:extLst xmlns:a="http://schemas.openxmlformats.org/drawingml/2006/main">
              <a:ext uri="{FF2B5EF4-FFF2-40B4-BE49-F238E27FC236}">
                <a16:creationId xmlns:a16="http://schemas.microsoft.com/office/drawing/2014/main" id="{F60D6DE6-9717-490F-90D5-D25DA519EA3E}"/>
              </a:ext>
            </a:extLst>
          </p:cNvPr>
          <p:cNvSpPr>
            <a:spLocks xmlns:a="http://schemas.openxmlformats.org/drawingml/2006/main" noGrp="1"/>
          </p:cNvSpPr>
          <p:nvPr/>
        </p:nvSpPr>
        <p:spPr>
          <a:xfrm xmlns:a="http://schemas.openxmlformats.org/drawingml/2006/main">
            <a:off x="39052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P0</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Prêt</a:t>
            </a:r>
          </a:p>
        </p:txBody>
      </p:sp>
      <p:sp>
        <p:nvSpPr>
          <p:cNvPr id="6" name="Mandat compréhensible&#10;Dépendances disponibles">
            <a:extLst xmlns:a="http://schemas.openxmlformats.org/drawingml/2006/main">
              <a:ext uri="{FF2B5EF4-FFF2-40B4-BE49-F238E27FC236}">
                <a16:creationId xmlns:a16="http://schemas.microsoft.com/office/drawing/2014/main" id="{53A4C296-60F9-4B0C-B52A-7F565451E3F2}"/>
              </a:ext>
            </a:extLst>
          </p:cNvPr>
          <p:cNvSpPr>
            <a:spLocks xmlns:a="http://schemas.openxmlformats.org/drawingml/2006/main" noGrp="1"/>
          </p:cNvSpPr>
          <p:nvPr/>
        </p:nvSpPr>
        <p:spPr>
          <a:xfrm xmlns:a="http://schemas.openxmlformats.org/drawingml/2006/main">
            <a:off x="39052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Mandat compréhensible</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Dépendances disponibles</a:t>
            </a:r>
          </a:p>
        </p:txBody>
      </p:sp>
      <p:sp>
        <p:nvSpPr>
          <p:cNvPr id="7" name="P1&#10;Faisable">
            <a:extLst xmlns:a="http://schemas.openxmlformats.org/drawingml/2006/main">
              <a:ext uri="{FF2B5EF4-FFF2-40B4-BE49-F238E27FC236}">
                <a16:creationId xmlns:a16="http://schemas.microsoft.com/office/drawing/2014/main" id="{55059E1E-17FD-4A2A-9516-7602ECD517FC}"/>
              </a:ext>
            </a:extLst>
          </p:cNvPr>
          <p:cNvSpPr>
            <a:spLocks xmlns:a="http://schemas.openxmlformats.org/drawingml/2006/main" noGrp="1"/>
          </p:cNvSpPr>
          <p:nvPr/>
        </p:nvSpPr>
        <p:spPr>
          <a:xfrm xmlns:a="http://schemas.openxmlformats.org/drawingml/2006/main">
            <a:off x="338137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P1</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Faisable</a:t>
            </a:r>
          </a:p>
        </p:txBody>
      </p:sp>
      <p:cxnSp>
        <p:nvCxnSpPr>
          <p:cNvPr id="23" name=""/>
          <p:cNvCxnSpPr>
            <a:stCxn xmlns:a="http://schemas.openxmlformats.org/drawingml/2006/main" id="5" idx="3"/>
            <a:endCxn xmlns:a="http://schemas.openxmlformats.org/drawingml/2006/main" id="7" idx="1"/>
          </p:cNvCxnSpPr>
          <p:nvPr/>
        </p:nvCxnSpPr>
        <p:spPr>
          <a:xfrm xmlns:a="http://schemas.openxmlformats.org/drawingml/2006/main">
            <a:off x="2828925" y="3238500"/>
            <a:ext cx="55245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9" name="Si une inconnue majeure&#10;exige une exploration">
            <a:extLst xmlns:a="http://schemas.openxmlformats.org/drawingml/2006/main">
              <a:ext uri="{FF2B5EF4-FFF2-40B4-BE49-F238E27FC236}">
                <a16:creationId xmlns:a16="http://schemas.microsoft.com/office/drawing/2014/main" id="{F451646A-093F-41C3-AAAF-18D538F79737}"/>
              </a:ext>
            </a:extLst>
          </p:cNvPr>
          <p:cNvSpPr>
            <a:spLocks xmlns:a="http://schemas.openxmlformats.org/drawingml/2006/main" noGrp="1"/>
          </p:cNvSpPr>
          <p:nvPr/>
        </p:nvSpPr>
        <p:spPr>
          <a:xfrm xmlns:a="http://schemas.openxmlformats.org/drawingml/2006/main">
            <a:off x="338137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Si une inconnue majeure</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exige une exploration</a:t>
            </a:r>
          </a:p>
        </p:txBody>
      </p:sp>
      <p:sp>
        <p:nvSpPr>
          <p:cNvPr id="10" name="P2&#10;Vérifié">
            <a:extLst xmlns:a="http://schemas.openxmlformats.org/drawingml/2006/main">
              <a:ext uri="{FF2B5EF4-FFF2-40B4-BE49-F238E27FC236}">
                <a16:creationId xmlns:a16="http://schemas.microsoft.com/office/drawing/2014/main" id="{B2F78BB1-1F49-40E4-9239-5B439A276840}"/>
              </a:ext>
            </a:extLst>
          </p:cNvPr>
          <p:cNvSpPr>
            <a:spLocks xmlns:a="http://schemas.openxmlformats.org/drawingml/2006/main" noGrp="1"/>
          </p:cNvSpPr>
          <p:nvPr/>
        </p:nvSpPr>
        <p:spPr>
          <a:xfrm xmlns:a="http://schemas.openxmlformats.org/drawingml/2006/main">
            <a:off x="637222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P2</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Vérifié</a:t>
            </a:r>
          </a:p>
        </p:txBody>
      </p:sp>
      <p:cxnSp>
        <p:nvCxnSpPr>
          <p:cNvPr id="26" name=""/>
          <p:cNvCxnSpPr>
            <a:stCxn xmlns:a="http://schemas.openxmlformats.org/drawingml/2006/main" id="7" idx="3"/>
            <a:endCxn xmlns:a="http://schemas.openxmlformats.org/drawingml/2006/main" id="10" idx="1"/>
          </p:cNvCxnSpPr>
          <p:nvPr/>
        </p:nvCxnSpPr>
        <p:spPr>
          <a:xfrm xmlns:a="http://schemas.openxmlformats.org/drawingml/2006/main">
            <a:off x="5819775" y="3238500"/>
            <a:ext cx="55245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12" name="Critères contrôlés&#10;Preuves qualifiées">
            <a:extLst xmlns:a="http://schemas.openxmlformats.org/drawingml/2006/main">
              <a:ext uri="{FF2B5EF4-FFF2-40B4-BE49-F238E27FC236}">
                <a16:creationId xmlns:a16="http://schemas.microsoft.com/office/drawing/2014/main" id="{64C51DB1-9EEE-4806-AF0A-0126F6725097}"/>
              </a:ext>
            </a:extLst>
          </p:cNvPr>
          <p:cNvSpPr>
            <a:spLocks xmlns:a="http://schemas.openxmlformats.org/drawingml/2006/main" noGrp="1"/>
          </p:cNvSpPr>
          <p:nvPr/>
        </p:nvSpPr>
        <p:spPr>
          <a:xfrm xmlns:a="http://schemas.openxmlformats.org/drawingml/2006/main">
            <a:off x="637222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Critères contrôlés</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Preuves qualifiées</a:t>
            </a:r>
          </a:p>
        </p:txBody>
      </p:sp>
      <p:sp>
        <p:nvSpPr>
          <p:cNvPr id="13" name="P3&#10;Accepté">
            <a:extLst xmlns:a="http://schemas.openxmlformats.org/drawingml/2006/main">
              <a:ext uri="{FF2B5EF4-FFF2-40B4-BE49-F238E27FC236}">
                <a16:creationId xmlns:a16="http://schemas.microsoft.com/office/drawing/2014/main" id="{2AD492AB-E3A9-4F80-8B55-C6D7ECCF4D3B}"/>
              </a:ext>
            </a:extLst>
          </p:cNvPr>
          <p:cNvSpPr>
            <a:spLocks xmlns:a="http://schemas.openxmlformats.org/drawingml/2006/main" noGrp="1"/>
          </p:cNvSpPr>
          <p:nvPr/>
        </p:nvSpPr>
        <p:spPr>
          <a:xfrm xmlns:a="http://schemas.openxmlformats.org/drawingml/2006/main">
            <a:off x="936307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P3</a:t>
            </a:r>
          </a:p>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Accepté</a:t>
            </a:r>
          </a:p>
        </p:txBody>
      </p:sp>
      <p:cxnSp>
        <p:nvCxnSpPr>
          <p:cNvPr id="29" name=""/>
          <p:cNvCxnSpPr>
            <a:stCxn xmlns:a="http://schemas.openxmlformats.org/drawingml/2006/main" id="10" idx="3"/>
            <a:endCxn xmlns:a="http://schemas.openxmlformats.org/drawingml/2006/main" id="13" idx="1"/>
          </p:cNvCxnSpPr>
          <p:nvPr/>
        </p:nvCxnSpPr>
        <p:spPr>
          <a:xfrm xmlns:a="http://schemas.openxmlformats.org/drawingml/2006/main">
            <a:off x="8810625" y="3238500"/>
            <a:ext cx="55245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15" name="Usage réel examiné&#10;Réserves arbitrées">
            <a:extLst xmlns:a="http://schemas.openxmlformats.org/drawingml/2006/main">
              <a:ext uri="{FF2B5EF4-FFF2-40B4-BE49-F238E27FC236}">
                <a16:creationId xmlns:a16="http://schemas.microsoft.com/office/drawing/2014/main" id="{AC2B1070-1929-48FD-8866-D16AE4F59C1B}"/>
              </a:ext>
            </a:extLst>
          </p:cNvPr>
          <p:cNvSpPr>
            <a:spLocks xmlns:a="http://schemas.openxmlformats.org/drawingml/2006/main" noGrp="1"/>
          </p:cNvSpPr>
          <p:nvPr/>
        </p:nvSpPr>
        <p:spPr>
          <a:xfrm xmlns:a="http://schemas.openxmlformats.org/drawingml/2006/main">
            <a:off x="936307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Usage réel examiné</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Réserves arbitrées</a:t>
            </a:r>
          </a:p>
        </p:txBody>
      </p:sp>
    </p:spTree>
    <p:extLst>
      <p:ext uri="{BB962C8B-B14F-4D97-AF65-F5344CB8AC3E}">
        <p14:creationId xmlns:p14="http://schemas.microsoft.com/office/powerpoint/2010/main" val="3446338916"/>
      </p:ext>
    </p:extLst>
  </p:cSld>
</p:sld>
</file>

<file path=ppt/slides/slide22.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7" name="Les quatre états d’un contrôle">
            <a:extLst xmlns:a="http://schemas.openxmlformats.org/drawingml/2006/main">
              <a:ext uri="{FF2B5EF4-FFF2-40B4-BE49-F238E27FC236}">
                <a16:creationId xmlns:a16="http://schemas.microsoft.com/office/drawing/2014/main" id="{7FDE3A4E-8B49-49BE-ABDE-3D68E304CB13}"/>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Les quatre états d’un contrôle</a:t>
            </a:r>
          </a:p>
        </p:txBody>
      </p:sp>
      <p:sp>
        <p:nvSpPr>
          <p:cNvPr id="2" name="22">
            <a:extLst xmlns:a="http://schemas.openxmlformats.org/drawingml/2006/main">
              <a:ext uri="{FF2B5EF4-FFF2-40B4-BE49-F238E27FC236}">
                <a16:creationId xmlns:a16="http://schemas.microsoft.com/office/drawing/2014/main" id="{C5F29332-A20D-4F95-A78E-1C09498D3BAA}"/>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22</a:t>
            </a:r>
          </a:p>
        </p:txBody>
      </p:sp>
      <p:sp>
        <p:nvSpPr>
          <p:cNvPr id="3" name="PRO-SPEC  /  © 2026 Olivier Dahan">
            <a:extLst xmlns:a="http://schemas.openxmlformats.org/drawingml/2006/main">
              <a:ext uri="{FF2B5EF4-FFF2-40B4-BE49-F238E27FC236}">
                <a16:creationId xmlns:a16="http://schemas.microsoft.com/office/drawing/2014/main" id="{0D0B0F0C-8DF2-47BC-8F21-B0C44C401122}"/>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Une preuve indique aussi ses conditions et ses lim">
            <a:extLst xmlns:a="http://schemas.openxmlformats.org/drawingml/2006/main">
              <a:ext uri="{FF2B5EF4-FFF2-40B4-BE49-F238E27FC236}">
                <a16:creationId xmlns:a16="http://schemas.microsoft.com/office/drawing/2014/main" id="{BDE4FD4D-269A-41AD-9B05-5F76B16F85C3}"/>
              </a:ext>
            </a:extLst>
          </p:cNvPr>
          <p:cNvSpPr>
            <a:spLocks xmlns:a="http://schemas.openxmlformats.org/drawingml/2006/main" noGrp="1"/>
          </p:cNvSpPr>
          <p:nvPr/>
        </p:nvSpPr>
        <p:spPr>
          <a:xfrm xmlns:a="http://schemas.openxmlformats.org/drawingml/2006/main">
            <a:off x="390525" y="1381125"/>
            <a:ext cx="11410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Une preuve indique aussi ses conditions et ses limites.</a:t>
            </a:r>
          </a:p>
        </p:txBody>
      </p:sp>
      <p:sp>
        <p:nvSpPr>
          <p:cNvPr id="5" name="">
            <a:extLst xmlns:a="http://schemas.openxmlformats.org/drawingml/2006/main">
              <a:ext uri="{FF2B5EF4-FFF2-40B4-BE49-F238E27FC236}">
                <a16:creationId xmlns:a16="http://schemas.microsoft.com/office/drawing/2014/main" id="{F80CB903-1F9B-4E29-B270-39B5D8601E5C}"/>
              </a:ext>
            </a:extLst>
          </p:cNvPr>
          <p:cNvSpPr>
            <a:spLocks xmlns:a="http://schemas.openxmlformats.org/drawingml/2006/main" noGrp="1"/>
          </p:cNvSpPr>
          <p:nvPr/>
        </p:nvSpPr>
        <p:spPr>
          <a:xfrm xmlns:a="http://schemas.openxmlformats.org/drawingml/2006/main">
            <a:off x="704850" y="2590800"/>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Réussi">
            <a:extLst xmlns:a="http://schemas.openxmlformats.org/drawingml/2006/main">
              <a:ext uri="{FF2B5EF4-FFF2-40B4-BE49-F238E27FC236}">
                <a16:creationId xmlns:a16="http://schemas.microsoft.com/office/drawing/2014/main" id="{83B148E1-ED9E-46FA-9083-7434A1779B02}"/>
              </a:ext>
            </a:extLst>
          </p:cNvPr>
          <p:cNvSpPr>
            <a:spLocks xmlns:a="http://schemas.openxmlformats.org/drawingml/2006/main" noGrp="1"/>
          </p:cNvSpPr>
          <p:nvPr/>
        </p:nvSpPr>
        <p:spPr>
          <a:xfrm xmlns:a="http://schemas.openxmlformats.org/drawingml/2006/main">
            <a:off x="704850" y="27622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Réussi</a:t>
            </a:r>
          </a:p>
        </p:txBody>
      </p:sp>
      <p:sp>
        <p:nvSpPr>
          <p:cNvPr id="7" name="Le contrôle a été exécuté&#10;Le résultat attendu a ét">
            <a:extLst xmlns:a="http://schemas.openxmlformats.org/drawingml/2006/main">
              <a:ext uri="{FF2B5EF4-FFF2-40B4-BE49-F238E27FC236}">
                <a16:creationId xmlns:a16="http://schemas.microsoft.com/office/drawing/2014/main" id="{4AA0AF77-BFED-4040-83A5-42E8A10CD8D7}"/>
              </a:ext>
            </a:extLst>
          </p:cNvPr>
          <p:cNvSpPr>
            <a:spLocks xmlns:a="http://schemas.openxmlformats.org/drawingml/2006/main" noGrp="1"/>
          </p:cNvSpPr>
          <p:nvPr/>
        </p:nvSpPr>
        <p:spPr>
          <a:xfrm xmlns:a="http://schemas.openxmlformats.org/drawingml/2006/main">
            <a:off x="704850" y="3305175"/>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Le contrôle a été exécuté</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Le résultat attendu a été observé</a:t>
            </a:r>
          </a:p>
        </p:txBody>
      </p:sp>
      <p:sp>
        <p:nvSpPr>
          <p:cNvPr id="8" name="">
            <a:extLst xmlns:a="http://schemas.openxmlformats.org/drawingml/2006/main">
              <a:ext uri="{FF2B5EF4-FFF2-40B4-BE49-F238E27FC236}">
                <a16:creationId xmlns:a16="http://schemas.microsoft.com/office/drawing/2014/main" id="{2918BA88-C566-4638-A500-3A3322F80EA4}"/>
              </a:ext>
            </a:extLst>
          </p:cNvPr>
          <p:cNvSpPr>
            <a:spLocks xmlns:a="http://schemas.openxmlformats.org/drawingml/2006/main" noGrp="1"/>
          </p:cNvSpPr>
          <p:nvPr/>
        </p:nvSpPr>
        <p:spPr>
          <a:xfrm xmlns:a="http://schemas.openxmlformats.org/drawingml/2006/main">
            <a:off x="6553200" y="2590800"/>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9" name="Échoué">
            <a:extLst xmlns:a="http://schemas.openxmlformats.org/drawingml/2006/main">
              <a:ext uri="{FF2B5EF4-FFF2-40B4-BE49-F238E27FC236}">
                <a16:creationId xmlns:a16="http://schemas.microsoft.com/office/drawing/2014/main" id="{27A0AD21-EB2C-47DF-9F6E-37CEA7ECAFB3}"/>
              </a:ext>
            </a:extLst>
          </p:cNvPr>
          <p:cNvSpPr>
            <a:spLocks xmlns:a="http://schemas.openxmlformats.org/drawingml/2006/main" noGrp="1"/>
          </p:cNvSpPr>
          <p:nvPr/>
        </p:nvSpPr>
        <p:spPr>
          <a:xfrm xmlns:a="http://schemas.openxmlformats.org/drawingml/2006/main">
            <a:off x="6553200" y="27622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Échoué</a:t>
            </a:r>
          </a:p>
        </p:txBody>
      </p:sp>
      <p:sp>
        <p:nvSpPr>
          <p:cNvPr id="10" name="Le contrôle a été exécuté&#10;Un écart reste à traiter">
            <a:extLst xmlns:a="http://schemas.openxmlformats.org/drawingml/2006/main">
              <a:ext uri="{FF2B5EF4-FFF2-40B4-BE49-F238E27FC236}">
                <a16:creationId xmlns:a16="http://schemas.microsoft.com/office/drawing/2014/main" id="{60E8D30B-DBFA-489E-9F80-F1271BCE4BE3}"/>
              </a:ext>
            </a:extLst>
          </p:cNvPr>
          <p:cNvSpPr>
            <a:spLocks xmlns:a="http://schemas.openxmlformats.org/drawingml/2006/main" noGrp="1"/>
          </p:cNvSpPr>
          <p:nvPr/>
        </p:nvSpPr>
        <p:spPr>
          <a:xfrm xmlns:a="http://schemas.openxmlformats.org/drawingml/2006/main">
            <a:off x="6553200" y="3305175"/>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Le contrôle a été exécuté</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Un écart reste à traiter</a:t>
            </a:r>
          </a:p>
        </p:txBody>
      </p:sp>
      <p:sp>
        <p:nvSpPr>
          <p:cNvPr id="11" name="">
            <a:extLst xmlns:a="http://schemas.openxmlformats.org/drawingml/2006/main">
              <a:ext uri="{FF2B5EF4-FFF2-40B4-BE49-F238E27FC236}">
                <a16:creationId xmlns:a16="http://schemas.microsoft.com/office/drawing/2014/main" id="{5E1D7E50-4CFD-43F1-8C13-2F9582C25C6F}"/>
              </a:ext>
            </a:extLst>
          </p:cNvPr>
          <p:cNvSpPr>
            <a:spLocks xmlns:a="http://schemas.openxmlformats.org/drawingml/2006/main" noGrp="1"/>
          </p:cNvSpPr>
          <p:nvPr/>
        </p:nvSpPr>
        <p:spPr>
          <a:xfrm xmlns:a="http://schemas.openxmlformats.org/drawingml/2006/main">
            <a:off x="704850" y="4448175"/>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12" name="Non exécuté">
            <a:extLst xmlns:a="http://schemas.openxmlformats.org/drawingml/2006/main">
              <a:ext uri="{FF2B5EF4-FFF2-40B4-BE49-F238E27FC236}">
                <a16:creationId xmlns:a16="http://schemas.microsoft.com/office/drawing/2014/main" id="{78BA6FE0-D338-4E29-972B-29B741B6DC3D}"/>
              </a:ext>
            </a:extLst>
          </p:cNvPr>
          <p:cNvSpPr>
            <a:spLocks xmlns:a="http://schemas.openxmlformats.org/drawingml/2006/main" noGrp="1"/>
          </p:cNvSpPr>
          <p:nvPr/>
        </p:nvSpPr>
        <p:spPr>
          <a:xfrm xmlns:a="http://schemas.openxmlformats.org/drawingml/2006/main">
            <a:off x="704850" y="46196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Non exécuté</a:t>
            </a:r>
          </a:p>
        </p:txBody>
      </p:sp>
      <p:sp>
        <p:nvSpPr>
          <p:cNvPr id="13" name="Le contrôle manque&#10;Motif et prochaine action expli">
            <a:extLst xmlns:a="http://schemas.openxmlformats.org/drawingml/2006/main">
              <a:ext uri="{FF2B5EF4-FFF2-40B4-BE49-F238E27FC236}">
                <a16:creationId xmlns:a16="http://schemas.microsoft.com/office/drawing/2014/main" id="{59076048-0073-4A92-8DC2-04DE62F797FC}"/>
              </a:ext>
            </a:extLst>
          </p:cNvPr>
          <p:cNvSpPr>
            <a:spLocks xmlns:a="http://schemas.openxmlformats.org/drawingml/2006/main" noGrp="1"/>
          </p:cNvSpPr>
          <p:nvPr/>
        </p:nvSpPr>
        <p:spPr>
          <a:xfrm xmlns:a="http://schemas.openxmlformats.org/drawingml/2006/main">
            <a:off x="704850" y="5162550"/>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Le contrôle manque</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Motif et prochaine action explicites</a:t>
            </a:r>
          </a:p>
        </p:txBody>
      </p:sp>
      <p:sp>
        <p:nvSpPr>
          <p:cNvPr id="14" name="">
            <a:extLst xmlns:a="http://schemas.openxmlformats.org/drawingml/2006/main">
              <a:ext uri="{FF2B5EF4-FFF2-40B4-BE49-F238E27FC236}">
                <a16:creationId xmlns:a16="http://schemas.microsoft.com/office/drawing/2014/main" id="{AE5C69BC-DF7D-4B0D-A16D-B33393F7B11A}"/>
              </a:ext>
            </a:extLst>
          </p:cNvPr>
          <p:cNvSpPr>
            <a:spLocks xmlns:a="http://schemas.openxmlformats.org/drawingml/2006/main" noGrp="1"/>
          </p:cNvSpPr>
          <p:nvPr/>
        </p:nvSpPr>
        <p:spPr>
          <a:xfrm xmlns:a="http://schemas.openxmlformats.org/drawingml/2006/main">
            <a:off x="6553200" y="4448175"/>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15" name="Non applicable">
            <a:extLst xmlns:a="http://schemas.openxmlformats.org/drawingml/2006/main">
              <a:ext uri="{FF2B5EF4-FFF2-40B4-BE49-F238E27FC236}">
                <a16:creationId xmlns:a16="http://schemas.microsoft.com/office/drawing/2014/main" id="{1D919B41-B9E7-4A90-A84A-FDC87B9B1028}"/>
              </a:ext>
            </a:extLst>
          </p:cNvPr>
          <p:cNvSpPr>
            <a:spLocks xmlns:a="http://schemas.openxmlformats.org/drawingml/2006/main" noGrp="1"/>
          </p:cNvSpPr>
          <p:nvPr/>
        </p:nvSpPr>
        <p:spPr>
          <a:xfrm xmlns:a="http://schemas.openxmlformats.org/drawingml/2006/main">
            <a:off x="6553200" y="46196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Non applicable</a:t>
            </a:r>
          </a:p>
        </p:txBody>
      </p:sp>
      <p:sp>
        <p:nvSpPr>
          <p:cNvPr id="16" name="Le critère ne concerne pas ce cas&#10;Justification né">
            <a:extLst xmlns:a="http://schemas.openxmlformats.org/drawingml/2006/main">
              <a:ext uri="{FF2B5EF4-FFF2-40B4-BE49-F238E27FC236}">
                <a16:creationId xmlns:a16="http://schemas.microsoft.com/office/drawing/2014/main" id="{ADF83CC7-9E44-482C-82D5-31681D8B1C9C}"/>
              </a:ext>
            </a:extLst>
          </p:cNvPr>
          <p:cNvSpPr>
            <a:spLocks xmlns:a="http://schemas.openxmlformats.org/drawingml/2006/main" noGrp="1"/>
          </p:cNvSpPr>
          <p:nvPr/>
        </p:nvSpPr>
        <p:spPr>
          <a:xfrm xmlns:a="http://schemas.openxmlformats.org/drawingml/2006/main">
            <a:off x="6553200" y="5162550"/>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Le critère ne concerne pas ce cas</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Justification nécessaire</a:t>
            </a:r>
          </a:p>
        </p:txBody>
      </p:sp>
    </p:spTree>
    <p:extLst>
      <p:ext uri="{BB962C8B-B14F-4D97-AF65-F5344CB8AC3E}">
        <p14:creationId xmlns:p14="http://schemas.microsoft.com/office/powerpoint/2010/main" val="2179535326"/>
      </p:ext>
    </p:extLst>
  </p:cSld>
</p:sld>
</file>

<file path=ppt/slides/slide23.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7" name="L-03 : le rapport reste incomplet">
            <a:extLst xmlns:a="http://schemas.openxmlformats.org/drawingml/2006/main">
              <a:ext uri="{FF2B5EF4-FFF2-40B4-BE49-F238E27FC236}">
                <a16:creationId xmlns:a16="http://schemas.microsoft.com/office/drawing/2014/main" id="{62AF5E7F-2C0B-48ED-9121-28467B3AD76F}"/>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L-03 : le rapport reste incomplet</a:t>
            </a:r>
          </a:p>
        </p:txBody>
      </p:sp>
      <p:sp>
        <p:nvSpPr>
          <p:cNvPr id="2" name="23">
            <a:extLst xmlns:a="http://schemas.openxmlformats.org/drawingml/2006/main">
              <a:ext uri="{FF2B5EF4-FFF2-40B4-BE49-F238E27FC236}">
                <a16:creationId xmlns:a16="http://schemas.microsoft.com/office/drawing/2014/main" id="{5A61AA92-0406-4D63-BE21-8A1903EE83FF}"/>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23</a:t>
            </a:r>
          </a:p>
        </p:txBody>
      </p:sp>
      <p:sp>
        <p:nvSpPr>
          <p:cNvPr id="3" name="PRO-SPEC  /  © 2026 Olivier Dahan">
            <a:extLst xmlns:a="http://schemas.openxmlformats.org/drawingml/2006/main">
              <a:ext uri="{FF2B5EF4-FFF2-40B4-BE49-F238E27FC236}">
                <a16:creationId xmlns:a16="http://schemas.microsoft.com/office/drawing/2014/main" id="{D61389D2-358E-4014-AA18-4AC39B51114D}"/>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Trois contrôles réussis">
            <a:extLst xmlns:a="http://schemas.openxmlformats.org/drawingml/2006/main">
              <a:ext uri="{FF2B5EF4-FFF2-40B4-BE49-F238E27FC236}">
                <a16:creationId xmlns:a16="http://schemas.microsoft.com/office/drawing/2014/main" id="{98A985A6-830C-4C0D-9B05-CDCF27E4E2FE}"/>
              </a:ext>
            </a:extLst>
          </p:cNvPr>
          <p:cNvSpPr>
            <a:spLocks xmlns:a="http://schemas.openxmlformats.org/drawingml/2006/main" noGrp="1"/>
          </p:cNvSpPr>
          <p:nvPr/>
        </p:nvSpPr>
        <p:spPr>
          <a:xfrm xmlns:a="http://schemas.openxmlformats.org/drawingml/2006/main">
            <a:off x="390525" y="1619250"/>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a:solidFill>
                  <a:srgbClr val="17202A"/>
                </a:solidFill>
                <a:latin typeface="Lora Medium"/>
                <a:ea typeface="Lora Medium"/>
                <a:cs typeface="Lora Medium"/>
              </a:defRPr>
            </a:pPr>
            <a:r>
              <a:rPr sz="2250">
                <a:solidFill>
                  <a:srgbClr val="17202A"/>
                </a:solidFill>
                <a:latin typeface="Lora Medium"/>
                <a:ea typeface="Lora Medium"/>
                <a:cs typeface="Lora Medium"/>
              </a:rPr>
              <a:t>Trois contrôles réussis</a:t>
            </a:r>
          </a:p>
        </p:txBody>
      </p:sp>
      <p:sp>
        <p:nvSpPr>
          <p:cNvPr id="5" name="La validation dans le tableur cible manque.&#10;&#10;Le lo">
            <a:extLst xmlns:a="http://schemas.openxmlformats.org/drawingml/2006/main">
              <a:ext uri="{FF2B5EF4-FFF2-40B4-BE49-F238E27FC236}">
                <a16:creationId xmlns:a16="http://schemas.microsoft.com/office/drawing/2014/main" id="{BC472F58-378A-45B9-BAF2-615A2D32DCF6}"/>
              </a:ext>
            </a:extLst>
          </p:cNvPr>
          <p:cNvSpPr>
            <a:spLocks xmlns:a="http://schemas.openxmlformats.org/drawingml/2006/main" noGrp="1"/>
          </p:cNvSpPr>
          <p:nvPr/>
        </p:nvSpPr>
        <p:spPr>
          <a:xfrm xmlns:a="http://schemas.openxmlformats.org/drawingml/2006/main">
            <a:off x="390525" y="3000375"/>
            <a:ext cx="3476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La validation dans le tableur cible manque.</a:t>
            </a:r>
          </a:p>
          <a:p xmlns:a="http://schemas.openxmlformats.org/drawingml/2006/main">
            <a:r>
              <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Le lot reste à accepter.</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Aucun déploiement déduit.</a:t>
            </a:r>
          </a:p>
        </p:txBody>
      </p:sp>
      <p:graphicFrame>
        <p:nvGraphicFramePr>
          <p:cNvPr id="12" name=""/>
          <p:cNvGraphicFramePr/>
          <p:nvPr/>
        </p:nvGraphicFramePr>
        <p:xfrm>
          <a:off xmlns:a="http://schemas.openxmlformats.org/drawingml/2006/main" x="4238625" y="1714500"/>
          <a:ext xmlns:a="http://schemas.openxmlformats.org/drawingml/2006/main" cx="7477125" cy="4191000"/>
        </p:xfrm>
        <a:graphic xmlns:a="http://schemas.openxmlformats.org/drawingml/2006/main">
          <a:graphicData uri="http://schemas.openxmlformats.org/drawingml/2006/table">
            <a:tbl>
              <a:tblPr/>
              <a:tblGrid>
                <a:gridCol w="2190750"/>
                <a:gridCol w="3286125"/>
                <a:gridCol w="2000250"/>
              </a:tblGrid>
              <a:tr h="838200">
                <a:tc>
                  <a:txBody>
                    <a:bodyPr>
                      <a:noAutofit/>
                    </a:bodyPr>
                    <a:lstStyle/>
                    <a:p>
                      <a:r>
                        <a:rPr sz="1650" b="1">
                          <a:solidFill>
                            <a:srgbClr val="FFFFFF"/>
                          </a:solidFill>
                          <a:latin typeface="Helvetica Neue"/>
                          <a:ea typeface="Helvetica Neue"/>
                          <a:cs typeface="Helvetica Neue"/>
                        </a:rPr>
                        <a:t>Contrôle</a:t>
                      </a:r>
                    </a:p>
                  </a:txBody>
                  <a:tcPr marL="91440" marR="91440" marT="45720" marB="45720">
                    <a:solidFill>
                      <a:srgbClr val="3157C8"/>
                    </a:solidFill>
                  </a:tcPr>
                </a:tc>
                <a:tc>
                  <a:txBody>
                    <a:bodyPr>
                      <a:noAutofit/>
                    </a:bodyPr>
                    <a:lstStyle/>
                    <a:p>
                      <a:r>
                        <a:rPr sz="1650" b="1">
                          <a:solidFill>
                            <a:srgbClr val="FFFFFF"/>
                          </a:solidFill>
                          <a:latin typeface="Helvetica Neue"/>
                          <a:ea typeface="Helvetica Neue"/>
                          <a:cs typeface="Helvetica Neue"/>
                        </a:rPr>
                        <a:t>Observation</a:t>
                      </a:r>
                    </a:p>
                  </a:txBody>
                  <a:tcPr marL="91440" marR="91440" marT="45720" marB="45720">
                    <a:solidFill>
                      <a:srgbClr val="3157C8"/>
                    </a:solidFill>
                  </a:tcPr>
                </a:tc>
                <a:tc>
                  <a:txBody>
                    <a:bodyPr>
                      <a:noAutofit/>
                    </a:bodyPr>
                    <a:lstStyle/>
                    <a:p>
                      <a:r>
                        <a:rPr sz="1650" b="1">
                          <a:solidFill>
                            <a:srgbClr val="FFFFFF"/>
                          </a:solidFill>
                          <a:latin typeface="Helvetica Neue"/>
                          <a:ea typeface="Helvetica Neue"/>
                          <a:cs typeface="Helvetica Neue"/>
                        </a:rPr>
                        <a:t>État</a:t>
                      </a:r>
                    </a:p>
                  </a:txBody>
                  <a:tcPr marL="91440" marR="91440" marT="45720" marB="45720">
                    <a:solidFill>
                      <a:srgbClr val="3157C8"/>
                    </a:solidFill>
                  </a:tcPr>
                </a:tc>
              </a:tr>
              <a:tr h="838200">
                <a:tc>
                  <a:txBody>
                    <a:bodyPr>
                      <a:noAutofit/>
                    </a:bodyPr>
                    <a:lstStyle/>
                    <a:p>
                      <a:r>
                        <a:rPr sz="1650" b="0">
                          <a:solidFill>
                            <a:srgbClr val="17202A"/>
                          </a:solidFill>
                          <a:latin typeface="Helvetica Neue"/>
                          <a:ea typeface="Helvetica Neue"/>
                          <a:cs typeface="Helvetica Neue"/>
                        </a:rPr>
                        <a:t>V-01 Droits</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Dossiers autorisés seuls</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Réussi</a:t>
                      </a:r>
                    </a:p>
                  </a:txBody>
                  <a:tcPr marL="91440" marR="91440" marT="45720" marB="45720">
                    <a:solidFill>
                      <a:srgbClr val="F8FBFD"/>
                    </a:solidFill>
                  </a:tcPr>
                </a:tc>
              </a:tr>
              <a:tr h="838200">
                <a:tc>
                  <a:txBody>
                    <a:bodyPr>
                      <a:noAutofit/>
                    </a:bodyPr>
                    <a:lstStyle/>
                    <a:p>
                      <a:r>
                        <a:rPr sz="1650" b="0">
                          <a:solidFill>
                            <a:srgbClr val="17202A"/>
                          </a:solidFill>
                          <a:latin typeface="Helvetica Neue"/>
                          <a:ea typeface="Helvetica Neue"/>
                          <a:cs typeface="Helvetica Neue"/>
                        </a:rPr>
                        <a:t>V-02 Filtre</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Tous les résultats filtrés</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Réussi</a:t>
                      </a:r>
                    </a:p>
                  </a:txBody>
                  <a:tcPr marL="91440" marR="91440" marT="45720" marB="45720">
                    <a:solidFill>
                      <a:srgbClr val="F8FBFD"/>
                    </a:solidFill>
                  </a:tcPr>
                </a:tc>
              </a:tr>
              <a:tr h="838200">
                <a:tc>
                  <a:txBody>
                    <a:bodyPr>
                      <a:noAutofit/>
                    </a:bodyPr>
                    <a:lstStyle/>
                    <a:p>
                      <a:r>
                        <a:rPr sz="1650" b="0">
                          <a:solidFill>
                            <a:srgbClr val="17202A"/>
                          </a:solidFill>
                          <a:latin typeface="Helvetica Neue"/>
                          <a:ea typeface="Helvetica Neue"/>
                          <a:cs typeface="Helvetica Neue"/>
                        </a:rPr>
                        <a:t>V-03 Fichier</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Colonnes, UTF-8, vide</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Réussi</a:t>
                      </a:r>
                    </a:p>
                  </a:txBody>
                  <a:tcPr marL="91440" marR="91440" marT="45720" marB="45720">
                    <a:solidFill>
                      <a:srgbClr val="F8FBFD"/>
                    </a:solidFill>
                  </a:tcPr>
                </a:tc>
              </a:tr>
              <a:tr h="838200">
                <a:tc>
                  <a:txBody>
                    <a:bodyPr>
                      <a:noAutofit/>
                    </a:bodyPr>
                    <a:lstStyle/>
                    <a:p>
                      <a:r>
                        <a:rPr sz="1650" b="0">
                          <a:solidFill>
                            <a:srgbClr val="17202A"/>
                          </a:solidFill>
                          <a:latin typeface="Helvetica Neue"/>
                          <a:ea typeface="Helvetica Neue"/>
                          <a:cs typeface="Helvetica Neue"/>
                        </a:rPr>
                        <a:t>V-04 Tableur</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Environnement absent</a:t>
                      </a:r>
                    </a:p>
                  </a:txBody>
                  <a:tcPr marL="91440" marR="91440" marT="45720" marB="45720">
                    <a:solidFill>
                      <a:srgbClr val="F8FBFD"/>
                    </a:solidFill>
                  </a:tcPr>
                </a:tc>
                <a:tc>
                  <a:txBody>
                    <a:bodyPr>
                      <a:noAutofit/>
                    </a:bodyPr>
                    <a:lstStyle/>
                    <a:p>
                      <a:r>
                        <a:rPr sz="1650" b="0">
                          <a:solidFill>
                            <a:srgbClr val="17202A"/>
                          </a:solidFill>
                          <a:latin typeface="Helvetica Neue"/>
                          <a:ea typeface="Helvetica Neue"/>
                          <a:cs typeface="Helvetica Neue"/>
                        </a:rPr>
                        <a:t>Non exécuté</a:t>
                      </a:r>
                    </a:p>
                  </a:txBody>
                  <a:tcPr marL="91440" marR="91440" marT="45720" marB="45720">
                    <a:solidFill>
                      <a:srgbClr val="F8FBFD"/>
                    </a:solidFill>
                  </a:tcPr>
                </a:tc>
              </a:tr>
            </a:tbl>
          </a:graphicData>
        </a:graphic>
      </p:graphicFrame>
    </p:spTree>
    <p:extLst>
      <p:ext uri="{BB962C8B-B14F-4D97-AF65-F5344CB8AC3E}">
        <p14:creationId xmlns:p14="http://schemas.microsoft.com/office/powerpoint/2010/main" val="2553894934"/>
      </p:ext>
    </p:extLst>
  </p:cSld>
</p:sld>
</file>

<file path=ppt/slides/slide24.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9" name="La clôture et les documents à maintenir">
            <a:extLst xmlns:a="http://schemas.openxmlformats.org/drawingml/2006/main">
              <a:ext uri="{FF2B5EF4-FFF2-40B4-BE49-F238E27FC236}">
                <a16:creationId xmlns:a16="http://schemas.microsoft.com/office/drawing/2014/main" id="{B40EF459-6572-43A0-9AAB-4F25E4779ECC}"/>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La clôture et les documents à maintenir</a:t>
            </a:r>
          </a:p>
        </p:txBody>
      </p:sp>
      <p:sp>
        <p:nvSpPr>
          <p:cNvPr id="2" name="24">
            <a:extLst xmlns:a="http://schemas.openxmlformats.org/drawingml/2006/main">
              <a:ext uri="{FF2B5EF4-FFF2-40B4-BE49-F238E27FC236}">
                <a16:creationId xmlns:a16="http://schemas.microsoft.com/office/drawing/2014/main" id="{01B14C50-8FEB-4C16-89BB-129F50CC3E97}"/>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24</a:t>
            </a:r>
          </a:p>
        </p:txBody>
      </p:sp>
      <p:sp>
        <p:nvSpPr>
          <p:cNvPr id="3" name="PRO-SPEC  /  © 2026 Olivier Dahan">
            <a:extLst xmlns:a="http://schemas.openxmlformats.org/drawingml/2006/main">
              <a:ext uri="{FF2B5EF4-FFF2-40B4-BE49-F238E27FC236}">
                <a16:creationId xmlns:a16="http://schemas.microsoft.com/office/drawing/2014/main" id="{EB378F6C-4F78-45E3-8DFD-7079E8E9F3A6}"/>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état laissé dans le projet doit correspondre au ">
            <a:extLst xmlns:a="http://schemas.openxmlformats.org/drawingml/2006/main">
              <a:ext uri="{FF2B5EF4-FFF2-40B4-BE49-F238E27FC236}">
                <a16:creationId xmlns:a16="http://schemas.microsoft.com/office/drawing/2014/main" id="{0B210040-197A-4C44-AC22-E1243F6A486D}"/>
              </a:ext>
            </a:extLst>
          </p:cNvPr>
          <p:cNvSpPr>
            <a:spLocks xmlns:a="http://schemas.openxmlformats.org/drawingml/2006/main" noGrp="1"/>
          </p:cNvSpPr>
          <p:nvPr/>
        </p:nvSpPr>
        <p:spPr>
          <a:xfrm xmlns:a="http://schemas.openxmlformats.org/drawingml/2006/main">
            <a:off x="390525" y="1419225"/>
            <a:ext cx="1128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Lora Medium"/>
                <a:ea typeface="Lora Medium"/>
                <a:cs typeface="Lora Medium"/>
              </a:defRPr>
            </a:pPr>
            <a:r>
              <a:rPr sz="2175">
                <a:solidFill>
                  <a:srgbClr val="17202A"/>
                </a:solidFill>
                <a:latin typeface="Lora Medium"/>
                <a:ea typeface="Lora Medium"/>
                <a:cs typeface="Lora Medium"/>
              </a:rPr>
              <a:t>L’état laissé dans le projet doit correspondre au résultat réel</a:t>
            </a:r>
          </a:p>
        </p:txBody>
      </p:sp>
      <p:sp>
        <p:nvSpPr>
          <p:cNvPr id="5" name="Les références actives">
            <a:extLst xmlns:a="http://schemas.openxmlformats.org/drawingml/2006/main">
              <a:ext uri="{FF2B5EF4-FFF2-40B4-BE49-F238E27FC236}">
                <a16:creationId xmlns:a16="http://schemas.microsoft.com/office/drawing/2014/main" id="{2ABADCB0-5A5D-4CB7-8AE5-4A93A2118326}"/>
              </a:ext>
            </a:extLst>
          </p:cNvPr>
          <p:cNvSpPr>
            <a:spLocks xmlns:a="http://schemas.openxmlformats.org/drawingml/2006/main" noGrp="1"/>
          </p:cNvSpPr>
          <p:nvPr/>
        </p:nvSpPr>
        <p:spPr>
          <a:xfrm xmlns:a="http://schemas.openxmlformats.org/drawingml/2006/main">
            <a:off x="390525" y="235267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Les références actives</a:t>
            </a:r>
          </a:p>
        </p:txBody>
      </p:sp>
      <p:sp>
        <p:nvSpPr>
          <p:cNvPr id="6" name="Ledger : D-07 et sa portée&#10;&#10;Guide utilisateur : fi">
            <a:extLst xmlns:a="http://schemas.openxmlformats.org/drawingml/2006/main">
              <a:ext uri="{FF2B5EF4-FFF2-40B4-BE49-F238E27FC236}">
                <a16:creationId xmlns:a16="http://schemas.microsoft.com/office/drawing/2014/main" id="{8E80102C-C918-4B9B-8BDF-987B12635E66}"/>
              </a:ext>
            </a:extLst>
          </p:cNvPr>
          <p:cNvSpPr>
            <a:spLocks xmlns:a="http://schemas.openxmlformats.org/drawingml/2006/main" noGrp="1"/>
          </p:cNvSpPr>
          <p:nvPr/>
        </p:nvSpPr>
        <p:spPr>
          <a:xfrm xmlns:a="http://schemas.openxmlformats.org/drawingml/2006/main">
            <a:off x="390525" y="3124200"/>
            <a:ext cx="54768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Ledger : D-07 et sa portée</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Guide utilisateur : filtre et colonnes</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Documentation technique : format CSV</a:t>
            </a:r>
          </a:p>
        </p:txBody>
      </p:sp>
      <p:sp>
        <p:nvSpPr>
          <p:cNvPr id="7" name="La transmission">
            <a:extLst xmlns:a="http://schemas.openxmlformats.org/drawingml/2006/main">
              <a:ext uri="{FF2B5EF4-FFF2-40B4-BE49-F238E27FC236}">
                <a16:creationId xmlns:a16="http://schemas.microsoft.com/office/drawing/2014/main" id="{C115435E-B264-4C13-B79E-721707346ADD}"/>
              </a:ext>
            </a:extLst>
          </p:cNvPr>
          <p:cNvSpPr>
            <a:spLocks xmlns:a="http://schemas.openxmlformats.org/drawingml/2006/main" noGrp="1"/>
          </p:cNvSpPr>
          <p:nvPr/>
        </p:nvSpPr>
        <p:spPr>
          <a:xfrm xmlns:a="http://schemas.openxmlformats.org/drawingml/2006/main">
            <a:off x="6267450" y="2352675"/>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La transmission</a:t>
            </a:r>
          </a:p>
        </p:txBody>
      </p:sp>
      <p:sp>
        <p:nvSpPr>
          <p:cNvPr id="8" name="Rapport : V-04 non exécuté&#10;&#10;Index : L-03 à accepte">
            <a:extLst xmlns:a="http://schemas.openxmlformats.org/drawingml/2006/main">
              <a:ext uri="{FF2B5EF4-FFF2-40B4-BE49-F238E27FC236}">
                <a16:creationId xmlns:a16="http://schemas.microsoft.com/office/drawing/2014/main" id="{74328DCC-9062-4516-B615-97B9862B7E6C}"/>
              </a:ext>
            </a:extLst>
          </p:cNvPr>
          <p:cNvSpPr>
            <a:spLocks xmlns:a="http://schemas.openxmlformats.org/drawingml/2006/main" noGrp="1"/>
          </p:cNvSpPr>
          <p:nvPr/>
        </p:nvSpPr>
        <p:spPr>
          <a:xfrm xmlns:a="http://schemas.openxmlformats.org/drawingml/2006/main">
            <a:off x="6267450" y="3124200"/>
            <a:ext cx="55245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Rapport : V-04 non exécuté</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Index : L-03 à accepter</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Suite : contrôle dans le tableur cible</a:t>
            </a:r>
          </a:p>
        </p:txBody>
      </p:sp>
    </p:spTree>
    <p:extLst>
      <p:ext uri="{BB962C8B-B14F-4D97-AF65-F5344CB8AC3E}">
        <p14:creationId xmlns:p14="http://schemas.microsoft.com/office/powerpoint/2010/main" val="546221724"/>
      </p:ext>
    </p:extLst>
  </p:cSld>
</p:sld>
</file>

<file path=ppt/slides/slide25.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7" name="La reprise dans une nouvelle session">
            <a:extLst xmlns:a="http://schemas.openxmlformats.org/drawingml/2006/main">
              <a:ext uri="{FF2B5EF4-FFF2-40B4-BE49-F238E27FC236}">
                <a16:creationId xmlns:a16="http://schemas.microsoft.com/office/drawing/2014/main" id="{7DFD2BC2-23C4-4DD8-9627-D6B78F380976}"/>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La reprise dans une nouvelle session</a:t>
            </a:r>
          </a:p>
        </p:txBody>
      </p:sp>
      <p:sp>
        <p:nvSpPr>
          <p:cNvPr id="2" name="25">
            <a:extLst xmlns:a="http://schemas.openxmlformats.org/drawingml/2006/main">
              <a:ext uri="{FF2B5EF4-FFF2-40B4-BE49-F238E27FC236}">
                <a16:creationId xmlns:a16="http://schemas.microsoft.com/office/drawing/2014/main" id="{9E1E0D78-04DB-48EB-9E0C-5D09EE863FB5}"/>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25</a:t>
            </a:r>
          </a:p>
        </p:txBody>
      </p:sp>
      <p:sp>
        <p:nvSpPr>
          <p:cNvPr id="3" name="PRO-SPEC  /  © 2026 Olivier Dahan">
            <a:extLst xmlns:a="http://schemas.openxmlformats.org/drawingml/2006/main">
              <a:ext uri="{FF2B5EF4-FFF2-40B4-BE49-F238E27FC236}">
                <a16:creationId xmlns:a16="http://schemas.microsoft.com/office/drawing/2014/main" id="{9B7E265E-2D20-45A5-8CE0-BE15A48666AB}"/>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 Reprends L-03.&#10;Le contrôle V-04 reste à effectue">
            <a:extLst xmlns:a="http://schemas.openxmlformats.org/drawingml/2006/main">
              <a:ext uri="{FF2B5EF4-FFF2-40B4-BE49-F238E27FC236}">
                <a16:creationId xmlns:a16="http://schemas.microsoft.com/office/drawing/2014/main" id="{04BABD50-6823-4D16-82BC-5B22ED968D19}"/>
              </a:ext>
            </a:extLst>
          </p:cNvPr>
          <p:cNvSpPr>
            <a:spLocks xmlns:a="http://schemas.openxmlformats.org/drawingml/2006/main" noGrp="1"/>
          </p:cNvSpPr>
          <p:nvPr/>
        </p:nvSpPr>
        <p:spPr>
          <a:xfrm xmlns:a="http://schemas.openxmlformats.org/drawingml/2006/main">
            <a:off x="714375" y="1809750"/>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 Reprends L-03.</a:t>
            </a:r>
          </a:p>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Le contrôle V-04 reste à effectuer. »</a:t>
            </a:r>
          </a:p>
        </p:txBody>
      </p:sp>
      <p:sp>
        <p:nvSpPr>
          <p:cNvPr id="5" name="">
            <a:extLst xmlns:a="http://schemas.openxmlformats.org/drawingml/2006/main">
              <a:ext uri="{FF2B5EF4-FFF2-40B4-BE49-F238E27FC236}">
                <a16:creationId xmlns:a16="http://schemas.microsoft.com/office/drawing/2014/main" id="{C9211570-70F2-48E3-B8EC-CC6044DAA07C}"/>
              </a:ext>
            </a:extLst>
          </p:cNvPr>
          <p:cNvSpPr>
            <a:spLocks xmlns:a="http://schemas.openxmlformats.org/drawingml/2006/main" noGrp="1"/>
          </p:cNvSpPr>
          <p:nvPr/>
        </p:nvSpPr>
        <p:spPr>
          <a:xfrm xmlns:a="http://schemas.openxmlformats.org/drawingml/2006/main">
            <a:off x="714375" y="4191000"/>
            <a:ext cx="10763250"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Lire l’index, la fiche active, D-07 et le rapport ">
            <a:extLst xmlns:a="http://schemas.openxmlformats.org/drawingml/2006/main">
              <a:ext uri="{FF2B5EF4-FFF2-40B4-BE49-F238E27FC236}">
                <a16:creationId xmlns:a16="http://schemas.microsoft.com/office/drawing/2014/main" id="{33211657-ACB9-4DB0-81F8-0F6C868E785B}"/>
              </a:ext>
            </a:extLst>
          </p:cNvPr>
          <p:cNvSpPr>
            <a:spLocks xmlns:a="http://schemas.openxmlformats.org/drawingml/2006/main" noGrp="1"/>
          </p:cNvSpPr>
          <p:nvPr/>
        </p:nvSpPr>
        <p:spPr>
          <a:xfrm xmlns:a="http://schemas.openxmlformats.org/drawingml/2006/main">
            <a:off x="714375" y="46005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Lire l’index, la fiche active, D-07 et le rapport de contrôle.</a:t>
            </a:r>
          </a:p>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Ouvrir le CSV dans le tableur cible avec le jeu de données prévu.</a:t>
            </a:r>
          </a:p>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Résultat fictif : V-04 réussi, le responsable accepte L-03.</a:t>
            </a:r>
          </a:p>
        </p:txBody>
      </p:sp>
    </p:spTree>
    <p:extLst>
      <p:ext uri="{BB962C8B-B14F-4D97-AF65-F5344CB8AC3E}">
        <p14:creationId xmlns:p14="http://schemas.microsoft.com/office/powerpoint/2010/main" val="546221724"/>
      </p:ext>
    </p:extLst>
  </p:cSld>
</p:sld>
</file>

<file path=ppt/slides/slide26.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9" name="Les révisions et les archives">
            <a:extLst xmlns:a="http://schemas.openxmlformats.org/drawingml/2006/main">
              <a:ext uri="{FF2B5EF4-FFF2-40B4-BE49-F238E27FC236}">
                <a16:creationId xmlns:a16="http://schemas.microsoft.com/office/drawing/2014/main" id="{16546B22-9FDA-4703-8A0A-0172874873F6}"/>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Les révisions et les archives</a:t>
            </a:r>
          </a:p>
        </p:txBody>
      </p:sp>
      <p:sp>
        <p:nvSpPr>
          <p:cNvPr id="2" name="26">
            <a:extLst xmlns:a="http://schemas.openxmlformats.org/drawingml/2006/main">
              <a:ext uri="{FF2B5EF4-FFF2-40B4-BE49-F238E27FC236}">
                <a16:creationId xmlns:a16="http://schemas.microsoft.com/office/drawing/2014/main" id="{890F0617-5EF7-42F9-B4D1-12B99FCCC6EA}"/>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26</a:t>
            </a:r>
          </a:p>
        </p:txBody>
      </p:sp>
      <p:sp>
        <p:nvSpPr>
          <p:cNvPr id="3" name="PRO-SPEC  /  © 2026 Olivier Dahan">
            <a:extLst xmlns:a="http://schemas.openxmlformats.org/drawingml/2006/main">
              <a:ext uri="{FF2B5EF4-FFF2-40B4-BE49-F238E27FC236}">
                <a16:creationId xmlns:a16="http://schemas.microsoft.com/office/drawing/2014/main" id="{61B06E5E-7017-4992-944A-1755FC642ECA}"/>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Une décision verrouillée reste révisable explicite">
            <a:extLst xmlns:a="http://schemas.openxmlformats.org/drawingml/2006/main">
              <a:ext uri="{FF2B5EF4-FFF2-40B4-BE49-F238E27FC236}">
                <a16:creationId xmlns:a16="http://schemas.microsoft.com/office/drawing/2014/main" id="{0A965AD3-DFE6-4439-807E-1B764D863211}"/>
              </a:ext>
            </a:extLst>
          </p:cNvPr>
          <p:cNvSpPr>
            <a:spLocks xmlns:a="http://schemas.openxmlformats.org/drawingml/2006/main" noGrp="1"/>
          </p:cNvSpPr>
          <p:nvPr/>
        </p:nvSpPr>
        <p:spPr>
          <a:xfrm xmlns:a="http://schemas.openxmlformats.org/drawingml/2006/main">
            <a:off x="390525" y="1419225"/>
            <a:ext cx="1128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Lora Medium"/>
                <a:ea typeface="Lora Medium"/>
                <a:cs typeface="Lora Medium"/>
              </a:defRPr>
            </a:pPr>
            <a:r>
              <a:rPr sz="2175">
                <a:solidFill>
                  <a:srgbClr val="17202A"/>
                </a:solidFill>
                <a:latin typeface="Lora Medium"/>
                <a:ea typeface="Lora Medium"/>
                <a:cs typeface="Lora Medium"/>
              </a:rPr>
              <a:t>Une décision verrouillée reste révisable explicitement</a:t>
            </a:r>
          </a:p>
        </p:txBody>
      </p:sp>
      <p:sp>
        <p:nvSpPr>
          <p:cNvPr id="5" name="Une nouvelle demande">
            <a:extLst xmlns:a="http://schemas.openxmlformats.org/drawingml/2006/main">
              <a:ext uri="{FF2B5EF4-FFF2-40B4-BE49-F238E27FC236}">
                <a16:creationId xmlns:a16="http://schemas.microsoft.com/office/drawing/2014/main" id="{9604D206-390B-4610-9388-F26AEA14DC53}"/>
              </a:ext>
            </a:extLst>
          </p:cNvPr>
          <p:cNvSpPr>
            <a:spLocks xmlns:a="http://schemas.openxmlformats.org/drawingml/2006/main" noGrp="1"/>
          </p:cNvSpPr>
          <p:nvPr/>
        </p:nvSpPr>
        <p:spPr>
          <a:xfrm xmlns:a="http://schemas.openxmlformats.org/drawingml/2006/main">
            <a:off x="390525" y="235267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Une nouvelle demande</a:t>
            </a:r>
          </a:p>
        </p:txBody>
      </p:sp>
      <p:sp>
        <p:nvSpPr>
          <p:cNvPr id="6" name="Le produit souhaite ajouter la date de clôture à l">
            <a:extLst xmlns:a="http://schemas.openxmlformats.org/drawingml/2006/main">
              <a:ext uri="{FF2B5EF4-FFF2-40B4-BE49-F238E27FC236}">
                <a16:creationId xmlns:a16="http://schemas.microsoft.com/office/drawing/2014/main" id="{4B0CBBE0-BC4C-4F1B-ADED-AC2E6FEC4E3E}"/>
              </a:ext>
            </a:extLst>
          </p:cNvPr>
          <p:cNvSpPr>
            <a:spLocks xmlns:a="http://schemas.openxmlformats.org/drawingml/2006/main" noGrp="1"/>
          </p:cNvSpPr>
          <p:nvPr/>
        </p:nvSpPr>
        <p:spPr>
          <a:xfrm xmlns:a="http://schemas.openxmlformats.org/drawingml/2006/main">
            <a:off x="390525" y="3124200"/>
            <a:ext cx="54768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Le produit souhaite ajouter la date de clôture à l’export.</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Le responsable accepte un nouveau périmètre.</a:t>
            </a:r>
          </a:p>
        </p:txBody>
      </p:sp>
      <p:sp>
        <p:nvSpPr>
          <p:cNvPr id="7" name="Une révision visible">
            <a:extLst xmlns:a="http://schemas.openxmlformats.org/drawingml/2006/main">
              <a:ext uri="{FF2B5EF4-FFF2-40B4-BE49-F238E27FC236}">
                <a16:creationId xmlns:a16="http://schemas.microsoft.com/office/drawing/2014/main" id="{B277318C-EFE1-40B5-91D8-5861832D73B0}"/>
              </a:ext>
            </a:extLst>
          </p:cNvPr>
          <p:cNvSpPr>
            <a:spLocks xmlns:a="http://schemas.openxmlformats.org/drawingml/2006/main" noGrp="1"/>
          </p:cNvSpPr>
          <p:nvPr/>
        </p:nvSpPr>
        <p:spPr>
          <a:xfrm xmlns:a="http://schemas.openxmlformats.org/drawingml/2006/main">
            <a:off x="6267450" y="2352675"/>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Une révision visible</a:t>
            </a:r>
          </a:p>
        </p:txBody>
      </p:sp>
      <p:sp>
        <p:nvSpPr>
          <p:cNvPr id="8" name="Nouvelle fiche et décision liée&#10;&#10;Index actualisé, ">
            <a:extLst xmlns:a="http://schemas.openxmlformats.org/drawingml/2006/main">
              <a:ext uri="{FF2B5EF4-FFF2-40B4-BE49-F238E27FC236}">
                <a16:creationId xmlns:a16="http://schemas.microsoft.com/office/drawing/2014/main" id="{A1964A2D-0389-4801-B450-EFB16334DC87}"/>
              </a:ext>
            </a:extLst>
          </p:cNvPr>
          <p:cNvSpPr>
            <a:spLocks xmlns:a="http://schemas.openxmlformats.org/drawingml/2006/main" noGrp="1"/>
          </p:cNvSpPr>
          <p:nvPr/>
        </p:nvSpPr>
        <p:spPr>
          <a:xfrm xmlns:a="http://schemas.openxmlformats.org/drawingml/2006/main">
            <a:off x="6267450" y="3124200"/>
            <a:ext cx="55245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Nouvelle fiche et décision liée</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Index actualisé, anciens liens corrigés</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Ancienne version marquée remplacée</a:t>
            </a:r>
          </a:p>
        </p:txBody>
      </p:sp>
    </p:spTree>
    <p:extLst>
      <p:ext uri="{BB962C8B-B14F-4D97-AF65-F5344CB8AC3E}">
        <p14:creationId xmlns:p14="http://schemas.microsoft.com/office/powerpoint/2010/main" val="546221724"/>
      </p:ext>
    </p:extLst>
  </p:cSld>
</p:sld>
</file>

<file path=ppt/slides/slide27.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7" name="Les limites observées de la pratique">
            <a:extLst xmlns:a="http://schemas.openxmlformats.org/drawingml/2006/main">
              <a:ext uri="{FF2B5EF4-FFF2-40B4-BE49-F238E27FC236}">
                <a16:creationId xmlns:a16="http://schemas.microsoft.com/office/drawing/2014/main" id="{4EB9952C-B7E3-4872-B0B1-8A2B02A2CA25}"/>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Les limites observées de la pratique</a:t>
            </a:r>
          </a:p>
        </p:txBody>
      </p:sp>
      <p:sp>
        <p:nvSpPr>
          <p:cNvPr id="2" name="27">
            <a:extLst xmlns:a="http://schemas.openxmlformats.org/drawingml/2006/main">
              <a:ext uri="{FF2B5EF4-FFF2-40B4-BE49-F238E27FC236}">
                <a16:creationId xmlns:a16="http://schemas.microsoft.com/office/drawing/2014/main" id="{FF3A5440-8C61-4D11-BDC9-62639DE15C99}"/>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27</a:t>
            </a:r>
          </a:p>
        </p:txBody>
      </p:sp>
      <p:sp>
        <p:nvSpPr>
          <p:cNvPr id="3" name="PRO-SPEC  /  © 2026 Olivier Dahan">
            <a:extLst xmlns:a="http://schemas.openxmlformats.org/drawingml/2006/main">
              <a:ext uri="{FF2B5EF4-FFF2-40B4-BE49-F238E27FC236}">
                <a16:creationId xmlns:a16="http://schemas.microsoft.com/office/drawing/2014/main" id="{9335A493-ABB1-4F36-A4D5-5C32C404A21E}"/>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a méthode demande aussi un entretien de ses propr">
            <a:extLst xmlns:a="http://schemas.openxmlformats.org/drawingml/2006/main">
              <a:ext uri="{FF2B5EF4-FFF2-40B4-BE49-F238E27FC236}">
                <a16:creationId xmlns:a16="http://schemas.microsoft.com/office/drawing/2014/main" id="{76D68919-F3AD-4BEB-9FFF-B9555C1E197F}"/>
              </a:ext>
            </a:extLst>
          </p:cNvPr>
          <p:cNvSpPr>
            <a:spLocks xmlns:a="http://schemas.openxmlformats.org/drawingml/2006/main" noGrp="1"/>
          </p:cNvSpPr>
          <p:nvPr/>
        </p:nvSpPr>
        <p:spPr>
          <a:xfrm xmlns:a="http://schemas.openxmlformats.org/drawingml/2006/main">
            <a:off x="390525" y="1381125"/>
            <a:ext cx="11410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La méthode demande aussi un entretien de ses propres références.</a:t>
            </a:r>
          </a:p>
        </p:txBody>
      </p:sp>
      <p:sp>
        <p:nvSpPr>
          <p:cNvPr id="5" name="">
            <a:extLst xmlns:a="http://schemas.openxmlformats.org/drawingml/2006/main">
              <a:ext uri="{FF2B5EF4-FFF2-40B4-BE49-F238E27FC236}">
                <a16:creationId xmlns:a16="http://schemas.microsoft.com/office/drawing/2014/main" id="{888BB481-230B-4159-9502-B4779B7AD192}"/>
              </a:ext>
            </a:extLst>
          </p:cNvPr>
          <p:cNvSpPr>
            <a:spLocks xmlns:a="http://schemas.openxmlformats.org/drawingml/2006/main" noGrp="1"/>
          </p:cNvSpPr>
          <p:nvPr/>
        </p:nvSpPr>
        <p:spPr>
          <a:xfrm xmlns:a="http://schemas.openxmlformats.org/drawingml/2006/main">
            <a:off x="704850" y="2590800"/>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Volume documentaire">
            <a:extLst xmlns:a="http://schemas.openxmlformats.org/drawingml/2006/main">
              <a:ext uri="{FF2B5EF4-FFF2-40B4-BE49-F238E27FC236}">
                <a16:creationId xmlns:a16="http://schemas.microsoft.com/office/drawing/2014/main" id="{DD34508B-19C1-469B-A96D-D14FAFDE9E55}"/>
              </a:ext>
            </a:extLst>
          </p:cNvPr>
          <p:cNvSpPr>
            <a:spLocks xmlns:a="http://schemas.openxmlformats.org/drawingml/2006/main" noGrp="1"/>
          </p:cNvSpPr>
          <p:nvPr/>
        </p:nvSpPr>
        <p:spPr>
          <a:xfrm xmlns:a="http://schemas.openxmlformats.org/drawingml/2006/main">
            <a:off x="704850" y="27622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Volume documentaire</a:t>
            </a:r>
          </a:p>
        </p:txBody>
      </p:sp>
      <p:sp>
        <p:nvSpPr>
          <p:cNvPr id="7" name="Spécification et ledger peuvent&#10;devenir difficiles">
            <a:extLst xmlns:a="http://schemas.openxmlformats.org/drawingml/2006/main">
              <a:ext uri="{FF2B5EF4-FFF2-40B4-BE49-F238E27FC236}">
                <a16:creationId xmlns:a16="http://schemas.microsoft.com/office/drawing/2014/main" id="{45321F59-E582-4DC0-9642-F88E8BAEBE99}"/>
              </a:ext>
            </a:extLst>
          </p:cNvPr>
          <p:cNvSpPr>
            <a:spLocks xmlns:a="http://schemas.openxmlformats.org/drawingml/2006/main" noGrp="1"/>
          </p:cNvSpPr>
          <p:nvPr/>
        </p:nvSpPr>
        <p:spPr>
          <a:xfrm xmlns:a="http://schemas.openxmlformats.org/drawingml/2006/main">
            <a:off x="704850" y="3305175"/>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Spécification et ledger peuvent</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devenir difficiles à relire</a:t>
            </a:r>
          </a:p>
        </p:txBody>
      </p:sp>
      <p:sp>
        <p:nvSpPr>
          <p:cNvPr id="8" name="">
            <a:extLst xmlns:a="http://schemas.openxmlformats.org/drawingml/2006/main">
              <a:ext uri="{FF2B5EF4-FFF2-40B4-BE49-F238E27FC236}">
                <a16:creationId xmlns:a16="http://schemas.microsoft.com/office/drawing/2014/main" id="{A1474FD7-8F20-46B2-9DC5-4EF26924619D}"/>
              </a:ext>
            </a:extLst>
          </p:cNvPr>
          <p:cNvSpPr>
            <a:spLocks xmlns:a="http://schemas.openxmlformats.org/drawingml/2006/main" noGrp="1"/>
          </p:cNvSpPr>
          <p:nvPr/>
        </p:nvSpPr>
        <p:spPr>
          <a:xfrm xmlns:a="http://schemas.openxmlformats.org/drawingml/2006/main">
            <a:off x="6553200" y="2590800"/>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9" name="Liens périmés">
            <a:extLst xmlns:a="http://schemas.openxmlformats.org/drawingml/2006/main">
              <a:ext uri="{FF2B5EF4-FFF2-40B4-BE49-F238E27FC236}">
                <a16:creationId xmlns:a16="http://schemas.microsoft.com/office/drawing/2014/main" id="{20A5C616-5505-4772-8386-0A67CDA51C87}"/>
              </a:ext>
            </a:extLst>
          </p:cNvPr>
          <p:cNvSpPr>
            <a:spLocks xmlns:a="http://schemas.openxmlformats.org/drawingml/2006/main" noGrp="1"/>
          </p:cNvSpPr>
          <p:nvPr/>
        </p:nvSpPr>
        <p:spPr>
          <a:xfrm xmlns:a="http://schemas.openxmlformats.org/drawingml/2006/main">
            <a:off x="6553200" y="27622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Liens périmés</a:t>
            </a:r>
          </a:p>
        </p:txBody>
      </p:sp>
      <p:sp>
        <p:nvSpPr>
          <p:cNvPr id="10" name="Un index peut encore désigner&#10;un document déjà rem">
            <a:extLst xmlns:a="http://schemas.openxmlformats.org/drawingml/2006/main">
              <a:ext uri="{FF2B5EF4-FFF2-40B4-BE49-F238E27FC236}">
                <a16:creationId xmlns:a16="http://schemas.microsoft.com/office/drawing/2014/main" id="{35AC6349-73F5-4B2C-8D72-38B494A5B8AD}"/>
              </a:ext>
            </a:extLst>
          </p:cNvPr>
          <p:cNvSpPr>
            <a:spLocks xmlns:a="http://schemas.openxmlformats.org/drawingml/2006/main" noGrp="1"/>
          </p:cNvSpPr>
          <p:nvPr/>
        </p:nvSpPr>
        <p:spPr>
          <a:xfrm xmlns:a="http://schemas.openxmlformats.org/drawingml/2006/main">
            <a:off x="6553200" y="3305175"/>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Un index peut encore désigner</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un document déjà remplacé</a:t>
            </a:r>
          </a:p>
        </p:txBody>
      </p:sp>
      <p:sp>
        <p:nvSpPr>
          <p:cNvPr id="11" name="">
            <a:extLst xmlns:a="http://schemas.openxmlformats.org/drawingml/2006/main">
              <a:ext uri="{FF2B5EF4-FFF2-40B4-BE49-F238E27FC236}">
                <a16:creationId xmlns:a16="http://schemas.microsoft.com/office/drawing/2014/main" id="{2B1E2216-145F-4D9C-BCB0-14419120D3AE}"/>
              </a:ext>
            </a:extLst>
          </p:cNvPr>
          <p:cNvSpPr>
            <a:spLocks xmlns:a="http://schemas.openxmlformats.org/drawingml/2006/main" noGrp="1"/>
          </p:cNvSpPr>
          <p:nvPr/>
        </p:nvSpPr>
        <p:spPr>
          <a:xfrm xmlns:a="http://schemas.openxmlformats.org/drawingml/2006/main">
            <a:off x="704850" y="4448175"/>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12" name="Contradictions">
            <a:extLst xmlns:a="http://schemas.openxmlformats.org/drawingml/2006/main">
              <a:ext uri="{FF2B5EF4-FFF2-40B4-BE49-F238E27FC236}">
                <a16:creationId xmlns:a16="http://schemas.microsoft.com/office/drawing/2014/main" id="{AD92E03B-ECD5-4EB4-B2E7-84689FD0D86A}"/>
              </a:ext>
            </a:extLst>
          </p:cNvPr>
          <p:cNvSpPr>
            <a:spLocks xmlns:a="http://schemas.openxmlformats.org/drawingml/2006/main" noGrp="1"/>
          </p:cNvSpPr>
          <p:nvPr/>
        </p:nvSpPr>
        <p:spPr>
          <a:xfrm xmlns:a="http://schemas.openxmlformats.org/drawingml/2006/main">
            <a:off x="704850" y="46196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Contradictions</a:t>
            </a:r>
          </a:p>
        </p:txBody>
      </p:sp>
      <p:sp>
        <p:nvSpPr>
          <p:cNvPr id="13" name="Ancienne intention et produit livré&#10;peuvent diverg">
            <a:extLst xmlns:a="http://schemas.openxmlformats.org/drawingml/2006/main">
              <a:ext uri="{FF2B5EF4-FFF2-40B4-BE49-F238E27FC236}">
                <a16:creationId xmlns:a16="http://schemas.microsoft.com/office/drawing/2014/main" id="{0EC834B4-ABA5-49DE-83DC-A1F36328ED9C}"/>
              </a:ext>
            </a:extLst>
          </p:cNvPr>
          <p:cNvSpPr>
            <a:spLocks xmlns:a="http://schemas.openxmlformats.org/drawingml/2006/main" noGrp="1"/>
          </p:cNvSpPr>
          <p:nvPr/>
        </p:nvSpPr>
        <p:spPr>
          <a:xfrm xmlns:a="http://schemas.openxmlformats.org/drawingml/2006/main">
            <a:off x="704850" y="5162550"/>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Ancienne intention et produit livré</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peuvent diverger</a:t>
            </a:r>
          </a:p>
        </p:txBody>
      </p:sp>
      <p:sp>
        <p:nvSpPr>
          <p:cNvPr id="14" name="">
            <a:extLst xmlns:a="http://schemas.openxmlformats.org/drawingml/2006/main">
              <a:ext uri="{FF2B5EF4-FFF2-40B4-BE49-F238E27FC236}">
                <a16:creationId xmlns:a16="http://schemas.microsoft.com/office/drawing/2014/main" id="{BF92F4F3-172D-42CA-8F16-9EE8AF557382}"/>
              </a:ext>
            </a:extLst>
          </p:cNvPr>
          <p:cNvSpPr>
            <a:spLocks xmlns:a="http://schemas.openxmlformats.org/drawingml/2006/main" noGrp="1"/>
          </p:cNvSpPr>
          <p:nvPr/>
        </p:nvSpPr>
        <p:spPr>
          <a:xfrm xmlns:a="http://schemas.openxmlformats.org/drawingml/2006/main">
            <a:off x="6553200" y="4448175"/>
            <a:ext cx="4981575"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15" name="Preuves incomplètes">
            <a:extLst xmlns:a="http://schemas.openxmlformats.org/drawingml/2006/main">
              <a:ext uri="{FF2B5EF4-FFF2-40B4-BE49-F238E27FC236}">
                <a16:creationId xmlns:a16="http://schemas.microsoft.com/office/drawing/2014/main" id="{7E804958-F1F6-4C1E-8B6F-8D57E19614ED}"/>
              </a:ext>
            </a:extLst>
          </p:cNvPr>
          <p:cNvSpPr>
            <a:spLocks xmlns:a="http://schemas.openxmlformats.org/drawingml/2006/main" noGrp="1"/>
          </p:cNvSpPr>
          <p:nvPr/>
        </p:nvSpPr>
        <p:spPr>
          <a:xfrm xmlns:a="http://schemas.openxmlformats.org/drawingml/2006/main">
            <a:off x="6553200" y="46196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Preuves incomplètes</a:t>
            </a:r>
          </a:p>
        </p:txBody>
      </p:sp>
      <p:sp>
        <p:nvSpPr>
          <p:cNvPr id="16" name="Un résultat technique favorable&#10;ne couvre pas tout">
            <a:extLst xmlns:a="http://schemas.openxmlformats.org/drawingml/2006/main">
              <a:ext uri="{FF2B5EF4-FFF2-40B4-BE49-F238E27FC236}">
                <a16:creationId xmlns:a16="http://schemas.microsoft.com/office/drawing/2014/main" id="{EAB89138-C888-4D65-A82F-98EC6CC64E8B}"/>
              </a:ext>
            </a:extLst>
          </p:cNvPr>
          <p:cNvSpPr>
            <a:spLocks xmlns:a="http://schemas.openxmlformats.org/drawingml/2006/main" noGrp="1"/>
          </p:cNvSpPr>
          <p:nvPr/>
        </p:nvSpPr>
        <p:spPr>
          <a:xfrm xmlns:a="http://schemas.openxmlformats.org/drawingml/2006/main">
            <a:off x="6553200" y="5162550"/>
            <a:ext cx="4981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Un résultat technique favorable</a:t>
            </a:r>
          </a:p>
          <a:p xmlns:a="http://schemas.openxmlformats.org/drawingml/2006/main">
            <a:pPr>
              <a:defRPr sz="1875">
                <a:solidFill>
                  <a:srgbClr val="17202A"/>
                </a:solidFill>
                <a:latin typeface="Helvetica Neue"/>
                <a:ea typeface="Helvetica Neue"/>
                <a:cs typeface="Helvetica Neue"/>
              </a:defRPr>
            </a:pPr>
            <a:r>
              <a:rPr sz="1875">
                <a:solidFill>
                  <a:srgbClr val="17202A"/>
                </a:solidFill>
                <a:latin typeface="Helvetica Neue"/>
                <a:ea typeface="Helvetica Neue"/>
                <a:cs typeface="Helvetica Neue"/>
              </a:rPr>
              <a:t>ne couvre pas tout l’usage</a:t>
            </a:r>
          </a:p>
        </p:txBody>
      </p:sp>
    </p:spTree>
    <p:extLst>
      <p:ext uri="{BB962C8B-B14F-4D97-AF65-F5344CB8AC3E}">
        <p14:creationId xmlns:p14="http://schemas.microsoft.com/office/powerpoint/2010/main" val="2179535326"/>
      </p:ext>
    </p:extLst>
  </p:cSld>
</p:sld>
</file>

<file path=ppt/slides/slide28.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9" name="Tests du logiciel et qualité de l’IA">
            <a:extLst xmlns:a="http://schemas.openxmlformats.org/drawingml/2006/main">
              <a:ext uri="{FF2B5EF4-FFF2-40B4-BE49-F238E27FC236}">
                <a16:creationId xmlns:a16="http://schemas.microsoft.com/office/drawing/2014/main" id="{9641FB91-CF0D-43C8-8769-6DBA9E934A1F}"/>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Tests du logiciel et qualité de l’IA</a:t>
            </a:r>
          </a:p>
        </p:txBody>
      </p:sp>
      <p:sp>
        <p:nvSpPr>
          <p:cNvPr id="2" name="28">
            <a:extLst xmlns:a="http://schemas.openxmlformats.org/drawingml/2006/main">
              <a:ext uri="{FF2B5EF4-FFF2-40B4-BE49-F238E27FC236}">
                <a16:creationId xmlns:a16="http://schemas.microsoft.com/office/drawing/2014/main" id="{53E15A38-2F38-439E-8ECF-7296BBD3C96F}"/>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28</a:t>
            </a:r>
          </a:p>
        </p:txBody>
      </p:sp>
      <p:sp>
        <p:nvSpPr>
          <p:cNvPr id="3" name="PRO-SPEC  /  © 2026 Olivier Dahan">
            <a:extLst xmlns:a="http://schemas.openxmlformats.org/drawingml/2006/main">
              <a:ext uri="{FF2B5EF4-FFF2-40B4-BE49-F238E27FC236}">
                <a16:creationId xmlns:a16="http://schemas.microsoft.com/office/drawing/2014/main" id="{FAD66C00-4B7C-4B63-A8E5-3719A1F77109}"/>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es preuves doivent correspondre à la propriété an">
            <a:extLst xmlns:a="http://schemas.openxmlformats.org/drawingml/2006/main">
              <a:ext uri="{FF2B5EF4-FFF2-40B4-BE49-F238E27FC236}">
                <a16:creationId xmlns:a16="http://schemas.microsoft.com/office/drawing/2014/main" id="{D2BBD7B5-F28E-4D94-8C01-17976AE70259}"/>
              </a:ext>
            </a:extLst>
          </p:cNvPr>
          <p:cNvSpPr>
            <a:spLocks xmlns:a="http://schemas.openxmlformats.org/drawingml/2006/main" noGrp="1"/>
          </p:cNvSpPr>
          <p:nvPr/>
        </p:nvSpPr>
        <p:spPr>
          <a:xfrm xmlns:a="http://schemas.openxmlformats.org/drawingml/2006/main">
            <a:off x="390525" y="1419225"/>
            <a:ext cx="1128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Lora Medium"/>
                <a:ea typeface="Lora Medium"/>
                <a:cs typeface="Lora Medium"/>
              </a:defRPr>
            </a:pPr>
            <a:r>
              <a:rPr sz="2175">
                <a:solidFill>
                  <a:srgbClr val="17202A"/>
                </a:solidFill>
                <a:latin typeface="Lora Medium"/>
                <a:ea typeface="Lora Medium"/>
                <a:cs typeface="Lora Medium"/>
              </a:rPr>
              <a:t>Les preuves doivent correspondre à la propriété annoncée</a:t>
            </a:r>
          </a:p>
        </p:txBody>
      </p:sp>
      <p:sp>
        <p:nvSpPr>
          <p:cNvPr id="5" name="Tests déterministes">
            <a:extLst xmlns:a="http://schemas.openxmlformats.org/drawingml/2006/main">
              <a:ext uri="{FF2B5EF4-FFF2-40B4-BE49-F238E27FC236}">
                <a16:creationId xmlns:a16="http://schemas.microsoft.com/office/drawing/2014/main" id="{07DDF423-8A2E-42F7-98E6-CB032594440C}"/>
              </a:ext>
            </a:extLst>
          </p:cNvPr>
          <p:cNvSpPr>
            <a:spLocks xmlns:a="http://schemas.openxmlformats.org/drawingml/2006/main" noGrp="1"/>
          </p:cNvSpPr>
          <p:nvPr/>
        </p:nvSpPr>
        <p:spPr>
          <a:xfrm xmlns:a="http://schemas.openxmlformats.org/drawingml/2006/main">
            <a:off x="390525" y="235267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Tests déterministes</a:t>
            </a:r>
          </a:p>
        </p:txBody>
      </p:sp>
      <p:sp>
        <p:nvSpPr>
          <p:cNvPr id="6" name="Format, droits, erreurs, compatibilité&#10;&#10;Résultat a">
            <a:extLst xmlns:a="http://schemas.openxmlformats.org/drawingml/2006/main">
              <a:ext uri="{FF2B5EF4-FFF2-40B4-BE49-F238E27FC236}">
                <a16:creationId xmlns:a16="http://schemas.microsoft.com/office/drawing/2014/main" id="{38B695FB-BFDB-4937-B76C-38BB02DC6CFF}"/>
              </a:ext>
            </a:extLst>
          </p:cNvPr>
          <p:cNvSpPr>
            <a:spLocks xmlns:a="http://schemas.openxmlformats.org/drawingml/2006/main" noGrp="1"/>
          </p:cNvSpPr>
          <p:nvPr/>
        </p:nvSpPr>
        <p:spPr>
          <a:xfrm xmlns:a="http://schemas.openxmlformats.org/drawingml/2006/main">
            <a:off x="390525" y="3124200"/>
            <a:ext cx="54768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Format, droits, erreurs, compatibilité</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Résultat attendu précis</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Exemple : colonnes exactes du CSV</a:t>
            </a:r>
          </a:p>
        </p:txBody>
      </p:sp>
      <p:sp>
        <p:nvSpPr>
          <p:cNvPr id="7" name="Évaluation d’une fonction IA">
            <a:extLst xmlns:a="http://schemas.openxmlformats.org/drawingml/2006/main">
              <a:ext uri="{FF2B5EF4-FFF2-40B4-BE49-F238E27FC236}">
                <a16:creationId xmlns:a16="http://schemas.microsoft.com/office/drawing/2014/main" id="{B34DCCF9-5CE8-418B-8515-03911D5C5BCE}"/>
              </a:ext>
            </a:extLst>
          </p:cNvPr>
          <p:cNvSpPr>
            <a:spLocks xmlns:a="http://schemas.openxmlformats.org/drawingml/2006/main" noGrp="1"/>
          </p:cNvSpPr>
          <p:nvPr/>
        </p:nvSpPr>
        <p:spPr>
          <a:xfrm xmlns:a="http://schemas.openxmlformats.org/drawingml/2006/main">
            <a:off x="6267450" y="2352675"/>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Évaluation d’une fonction IA</a:t>
            </a:r>
          </a:p>
        </p:txBody>
      </p:sp>
      <p:sp>
        <p:nvSpPr>
          <p:cNvPr id="8" name="Cas représentatifs et critères de qualité&#10;&#10;Résulta">
            <a:extLst xmlns:a="http://schemas.openxmlformats.org/drawingml/2006/main">
              <a:ext uri="{FF2B5EF4-FFF2-40B4-BE49-F238E27FC236}">
                <a16:creationId xmlns:a16="http://schemas.microsoft.com/office/drawing/2014/main" id="{1B0F9FF1-E200-41E4-846B-50CD619485FA}"/>
              </a:ext>
            </a:extLst>
          </p:cNvPr>
          <p:cNvSpPr>
            <a:spLocks xmlns:a="http://schemas.openxmlformats.org/drawingml/2006/main" noGrp="1"/>
          </p:cNvSpPr>
          <p:nvPr/>
        </p:nvSpPr>
        <p:spPr>
          <a:xfrm xmlns:a="http://schemas.openxmlformats.org/drawingml/2006/main">
            <a:off x="6267450" y="3124200"/>
            <a:ext cx="55245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Cas représentatifs et critères de qualité</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Résultats examinés sur un corpus</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Exemple : pertinence des réponses</a:t>
            </a:r>
          </a:p>
        </p:txBody>
      </p:sp>
    </p:spTree>
    <p:extLst>
      <p:ext uri="{BB962C8B-B14F-4D97-AF65-F5344CB8AC3E}">
        <p14:creationId xmlns:p14="http://schemas.microsoft.com/office/powerpoint/2010/main" val="546221724"/>
      </p:ext>
    </p:extLst>
  </p:cSld>
</p:sld>
</file>

<file path=ppt/slides/slide29.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7" name="Exercice : le lot peut-il être accepté ?">
            <a:extLst xmlns:a="http://schemas.openxmlformats.org/drawingml/2006/main">
              <a:ext uri="{FF2B5EF4-FFF2-40B4-BE49-F238E27FC236}">
                <a16:creationId xmlns:a16="http://schemas.microsoft.com/office/drawing/2014/main" id="{50105A4F-A0AD-4D82-BC3F-A503455A3796}"/>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Exercice : le lot peut-il être accepté ?</a:t>
            </a:r>
          </a:p>
        </p:txBody>
      </p:sp>
      <p:sp>
        <p:nvSpPr>
          <p:cNvPr id="2" name="29">
            <a:extLst xmlns:a="http://schemas.openxmlformats.org/drawingml/2006/main">
              <a:ext uri="{FF2B5EF4-FFF2-40B4-BE49-F238E27FC236}">
                <a16:creationId xmlns:a16="http://schemas.microsoft.com/office/drawing/2014/main" id="{3BFD664E-48FF-43BA-8D98-056D39E8D60F}"/>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29</a:t>
            </a:r>
          </a:p>
        </p:txBody>
      </p:sp>
      <p:sp>
        <p:nvSpPr>
          <p:cNvPr id="3" name="PRO-SPEC  /  © 2026 Olivier Dahan">
            <a:extLst xmlns:a="http://schemas.openxmlformats.org/drawingml/2006/main">
              <a:ext uri="{FF2B5EF4-FFF2-40B4-BE49-F238E27FC236}">
                <a16:creationId xmlns:a16="http://schemas.microsoft.com/office/drawing/2014/main" id="{9CE71FA6-A916-4A74-871F-48BFF68D9972}"/>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Retour avant V-04 : les tests passent.&#10;L’IA écrit ">
            <a:extLst xmlns:a="http://schemas.openxmlformats.org/drawingml/2006/main">
              <a:ext uri="{FF2B5EF4-FFF2-40B4-BE49-F238E27FC236}">
                <a16:creationId xmlns:a16="http://schemas.microsoft.com/office/drawing/2014/main" id="{6E89E3AD-F6D5-4D52-BE5A-CF4B06B95FDA}"/>
              </a:ext>
            </a:extLst>
          </p:cNvPr>
          <p:cNvSpPr>
            <a:spLocks xmlns:a="http://schemas.openxmlformats.org/drawingml/2006/main" noGrp="1"/>
          </p:cNvSpPr>
          <p:nvPr/>
        </p:nvSpPr>
        <p:spPr>
          <a:xfrm xmlns:a="http://schemas.openxmlformats.org/drawingml/2006/main">
            <a:off x="714375" y="1809750"/>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Retour avant V-04 : les tests passent.</a:t>
            </a:r>
          </a:p>
          <a:p xmlns:a="http://schemas.openxmlformats.org/drawingml/2006/main">
            <a:pPr>
              <a:defRPr sz="3300">
                <a:solidFill>
                  <a:srgbClr val="3157C8"/>
                </a:solidFill>
                <a:latin typeface="Lora Medium"/>
                <a:ea typeface="Lora Medium"/>
                <a:cs typeface="Lora Medium"/>
              </a:defRPr>
            </a:pPr>
            <a:r>
              <a:rPr sz="3300">
                <a:solidFill>
                  <a:srgbClr val="3157C8"/>
                </a:solidFill>
                <a:latin typeface="Lora Medium"/>
                <a:ea typeface="Lora Medium"/>
                <a:cs typeface="Lora Medium"/>
              </a:rPr>
              <a:t>L’IA écrit « terminé ».</a:t>
            </a:r>
          </a:p>
        </p:txBody>
      </p:sp>
      <p:sp>
        <p:nvSpPr>
          <p:cNvPr id="5" name="">
            <a:extLst xmlns:a="http://schemas.openxmlformats.org/drawingml/2006/main">
              <a:ext uri="{FF2B5EF4-FFF2-40B4-BE49-F238E27FC236}">
                <a16:creationId xmlns:a16="http://schemas.microsoft.com/office/drawing/2014/main" id="{4070D3BE-83EB-415D-A184-537E8238357C}"/>
              </a:ext>
            </a:extLst>
          </p:cNvPr>
          <p:cNvSpPr>
            <a:spLocks xmlns:a="http://schemas.openxmlformats.org/drawingml/2006/main" noGrp="1"/>
          </p:cNvSpPr>
          <p:nvPr/>
        </p:nvSpPr>
        <p:spPr>
          <a:xfrm xmlns:a="http://schemas.openxmlformats.org/drawingml/2006/main">
            <a:off x="714375" y="4191000"/>
            <a:ext cx="10763250" cy="0"/>
          </a:xfrm>
          <a:prstGeom xmlns:a="http://schemas.openxmlformats.org/drawingml/2006/main" prst="line">
            <a:avLst/>
          </a:prstGeom>
          <a:noFill xmlns:a="http://schemas.openxmlformats.org/drawingml/2006/main"/>
          <a:ln xmlns:a="http://schemas.openxmlformats.org/drawingml/2006/main" w="9525">
            <a:solidFill>
              <a:srgbClr val="A6B6C9"/>
            </a:solidFill>
          </a:ln>
        </p:spPr>
      </p:sp>
      <p:sp>
        <p:nvSpPr>
          <p:cNvPr id="6" name="Le tableur cible n’a pas encore été essayé. Quel s">
            <a:extLst xmlns:a="http://schemas.openxmlformats.org/drawingml/2006/main">
              <a:ext uri="{FF2B5EF4-FFF2-40B4-BE49-F238E27FC236}">
                <a16:creationId xmlns:a16="http://schemas.microsoft.com/office/drawing/2014/main" id="{00F186F7-8649-4ED9-A7A1-ACA61C193207}"/>
              </a:ext>
            </a:extLst>
          </p:cNvPr>
          <p:cNvSpPr>
            <a:spLocks xmlns:a="http://schemas.openxmlformats.org/drawingml/2006/main" noGrp="1"/>
          </p:cNvSpPr>
          <p:nvPr/>
        </p:nvSpPr>
        <p:spPr>
          <a:xfrm xmlns:a="http://schemas.openxmlformats.org/drawingml/2006/main">
            <a:off x="714375" y="46005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Le tableur cible n’a pas encore été essayé. Quel statut retenir ?</a:t>
            </a:r>
          </a:p>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Que faut-il laisser dans les documents ?</a:t>
            </a:r>
          </a:p>
          <a:p xmlns:a="http://schemas.openxmlformats.org/drawingml/2006/main">
            <a:pPr>
              <a:defRPr sz="2175">
                <a:solidFill>
                  <a:srgbClr val="17202A"/>
                </a:solidFill>
                <a:latin typeface="Helvetica Neue"/>
                <a:ea typeface="Helvetica Neue"/>
                <a:cs typeface="Helvetica Neue"/>
              </a:defRPr>
            </a:pPr>
            <a:r>
              <a:rPr sz="2175">
                <a:solidFill>
                  <a:srgbClr val="17202A"/>
                </a:solidFill>
                <a:latin typeface="Helvetica Neue"/>
                <a:ea typeface="Helvetica Neue"/>
                <a:cs typeface="Helvetica Neue"/>
              </a:rPr>
              <a:t>Quelle prochaine action confier à la nouvelle session ?</a:t>
            </a:r>
          </a:p>
        </p:txBody>
      </p:sp>
    </p:spTree>
    <p:extLst>
      <p:ext uri="{BB962C8B-B14F-4D97-AF65-F5344CB8AC3E}">
        <p14:creationId xmlns:p14="http://schemas.microsoft.com/office/powerpoint/2010/main" val="546221724"/>
      </p:ext>
    </p:extLst>
  </p:cSld>
</p:sld>
</file>

<file path=ppt/slides/slide30.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9" name="Réponse : un état précis et une suite">
            <a:extLst xmlns:a="http://schemas.openxmlformats.org/drawingml/2006/main">
              <a:ext uri="{FF2B5EF4-FFF2-40B4-BE49-F238E27FC236}">
                <a16:creationId xmlns:a16="http://schemas.microsoft.com/office/drawing/2014/main" id="{B9952107-043A-4D31-A244-19B0492F66B3}"/>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Réponse : un état précis et une suite</a:t>
            </a:r>
          </a:p>
        </p:txBody>
      </p:sp>
      <p:sp>
        <p:nvSpPr>
          <p:cNvPr id="2" name="30">
            <a:extLst xmlns:a="http://schemas.openxmlformats.org/drawingml/2006/main">
              <a:ext uri="{FF2B5EF4-FFF2-40B4-BE49-F238E27FC236}">
                <a16:creationId xmlns:a16="http://schemas.microsoft.com/office/drawing/2014/main" id="{B06D0B66-7920-4A80-BA7E-9450EFC4FE31}"/>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30</a:t>
            </a:r>
          </a:p>
        </p:txBody>
      </p:sp>
      <p:sp>
        <p:nvSpPr>
          <p:cNvPr id="3" name="PRO-SPEC  /  © 2026 Olivier Dahan">
            <a:extLst xmlns:a="http://schemas.openxmlformats.org/drawingml/2006/main">
              <a:ext uri="{FF2B5EF4-FFF2-40B4-BE49-F238E27FC236}">
                <a16:creationId xmlns:a16="http://schemas.microsoft.com/office/drawing/2014/main" id="{D2BA4CF6-58B5-4AF1-AA66-D2DE5554CD0B}"/>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03 reste à accepter dans notre scénario">
            <a:extLst xmlns:a="http://schemas.openxmlformats.org/drawingml/2006/main">
              <a:ext uri="{FF2B5EF4-FFF2-40B4-BE49-F238E27FC236}">
                <a16:creationId xmlns:a16="http://schemas.microsoft.com/office/drawing/2014/main" id="{6B576853-EA03-41E4-A13F-2F44D5DE6D1D}"/>
              </a:ext>
            </a:extLst>
          </p:cNvPr>
          <p:cNvSpPr>
            <a:spLocks xmlns:a="http://schemas.openxmlformats.org/drawingml/2006/main" noGrp="1"/>
          </p:cNvSpPr>
          <p:nvPr/>
        </p:nvSpPr>
        <p:spPr>
          <a:xfrm xmlns:a="http://schemas.openxmlformats.org/drawingml/2006/main">
            <a:off x="390525" y="1419225"/>
            <a:ext cx="1128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a:solidFill>
                  <a:srgbClr val="17202A"/>
                </a:solidFill>
                <a:latin typeface="Lora Medium"/>
                <a:ea typeface="Lora Medium"/>
                <a:cs typeface="Lora Medium"/>
              </a:defRPr>
            </a:pPr>
            <a:r>
              <a:rPr sz="2175">
                <a:solidFill>
                  <a:srgbClr val="17202A"/>
                </a:solidFill>
                <a:latin typeface="Lora Medium"/>
                <a:ea typeface="Lora Medium"/>
                <a:cs typeface="Lora Medium"/>
              </a:rPr>
              <a:t>L-03 reste à accepter dans notre scénario</a:t>
            </a:r>
          </a:p>
        </p:txBody>
      </p:sp>
      <p:sp>
        <p:nvSpPr>
          <p:cNvPr id="5" name="Les éléments à conserver">
            <a:extLst xmlns:a="http://schemas.openxmlformats.org/drawingml/2006/main">
              <a:ext uri="{FF2B5EF4-FFF2-40B4-BE49-F238E27FC236}">
                <a16:creationId xmlns:a16="http://schemas.microsoft.com/office/drawing/2014/main" id="{3B5C6AB3-78F8-4028-B730-E36E69296020}"/>
              </a:ext>
            </a:extLst>
          </p:cNvPr>
          <p:cNvSpPr>
            <a:spLocks xmlns:a="http://schemas.openxmlformats.org/drawingml/2006/main" noGrp="1"/>
          </p:cNvSpPr>
          <p:nvPr/>
        </p:nvSpPr>
        <p:spPr>
          <a:xfrm xmlns:a="http://schemas.openxmlformats.org/drawingml/2006/main">
            <a:off x="390525" y="235267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Les éléments à conserver</a:t>
            </a:r>
          </a:p>
        </p:txBody>
      </p:sp>
      <p:sp>
        <p:nvSpPr>
          <p:cNvPr id="6" name="V-01 à V-03 : réussis&#10;V-04 : non exécuté, motif in">
            <a:extLst xmlns:a="http://schemas.openxmlformats.org/drawingml/2006/main">
              <a:ext uri="{FF2B5EF4-FFF2-40B4-BE49-F238E27FC236}">
                <a16:creationId xmlns:a16="http://schemas.microsoft.com/office/drawing/2014/main" id="{F375432D-A3E5-4DCC-BC75-E6CDEC3ACC24}"/>
              </a:ext>
            </a:extLst>
          </p:cNvPr>
          <p:cNvSpPr>
            <a:spLocks xmlns:a="http://schemas.openxmlformats.org/drawingml/2006/main" noGrp="1"/>
          </p:cNvSpPr>
          <p:nvPr/>
        </p:nvSpPr>
        <p:spPr>
          <a:xfrm xmlns:a="http://schemas.openxmlformats.org/drawingml/2006/main">
            <a:off x="390525" y="3124200"/>
            <a:ext cx="54768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V-01 à V-03 : réussis</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V-04 : non exécuté, motif indiqué</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Index et rapport cohérents</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Déploiement suivi séparément</a:t>
            </a:r>
          </a:p>
        </p:txBody>
      </p:sp>
      <p:sp>
        <p:nvSpPr>
          <p:cNvPr id="7" name="La prochaine intervention">
            <a:extLst xmlns:a="http://schemas.openxmlformats.org/drawingml/2006/main">
              <a:ext uri="{FF2B5EF4-FFF2-40B4-BE49-F238E27FC236}">
                <a16:creationId xmlns:a16="http://schemas.microsoft.com/office/drawing/2014/main" id="{5272C8AF-03C1-4481-A18F-2365DFEEC200}"/>
              </a:ext>
            </a:extLst>
          </p:cNvPr>
          <p:cNvSpPr>
            <a:spLocks xmlns:a="http://schemas.openxmlformats.org/drawingml/2006/main" noGrp="1"/>
          </p:cNvSpPr>
          <p:nvPr/>
        </p:nvSpPr>
        <p:spPr>
          <a:xfrm xmlns:a="http://schemas.openxmlformats.org/drawingml/2006/main">
            <a:off x="6267450" y="2352675"/>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3157C8"/>
                </a:solidFill>
                <a:latin typeface="Helvetica Neue Medium"/>
                <a:ea typeface="Helvetica Neue Medium"/>
                <a:cs typeface="Helvetica Neue Medium"/>
              </a:defRPr>
            </a:pPr>
            <a:r>
              <a:rPr sz="2100">
                <a:solidFill>
                  <a:srgbClr val="3157C8"/>
                </a:solidFill>
                <a:latin typeface="Helvetica Neue Medium"/>
                <a:ea typeface="Helvetica Neue Medium"/>
                <a:cs typeface="Helvetica Neue Medium"/>
              </a:rPr>
              <a:t>La prochaine intervention</a:t>
            </a:r>
          </a:p>
        </p:txBody>
      </p:sp>
      <p:sp>
        <p:nvSpPr>
          <p:cNvPr id="8" name="Exécuter V-04 dans le tableur cible&#10;&#10;Conserver le ">
            <a:extLst xmlns:a="http://schemas.openxmlformats.org/drawingml/2006/main">
              <a:ext uri="{FF2B5EF4-FFF2-40B4-BE49-F238E27FC236}">
                <a16:creationId xmlns:a16="http://schemas.microsoft.com/office/drawing/2014/main" id="{7F18BC82-639A-4827-95C8-77F9375D3651}"/>
              </a:ext>
            </a:extLst>
          </p:cNvPr>
          <p:cNvSpPr>
            <a:spLocks xmlns:a="http://schemas.openxmlformats.org/drawingml/2006/main" noGrp="1"/>
          </p:cNvSpPr>
          <p:nvPr/>
        </p:nvSpPr>
        <p:spPr>
          <a:xfrm xmlns:a="http://schemas.openxmlformats.org/drawingml/2006/main">
            <a:off x="6267450" y="3124200"/>
            <a:ext cx="55245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Exécuter V-04 dans le tableur cible</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Conserver le résultat observé</a:t>
            </a:r>
          </a:p>
          <a:p xmlns:a="http://schemas.openxmlformats.org/drawingml/2006/main">
            <a:r>
              <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Soumettre l’acceptation au responsable</a:t>
            </a:r>
          </a:p>
        </p:txBody>
      </p:sp>
    </p:spTree>
    <p:extLst>
      <p:ext uri="{BB962C8B-B14F-4D97-AF65-F5344CB8AC3E}">
        <p14:creationId xmlns:p14="http://schemas.microsoft.com/office/powerpoint/2010/main" val="546221724"/>
      </p:ext>
    </p:extLst>
  </p:cSld>
</p:sld>
</file>

<file path=ppt/slides/slide31.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6" name="Un premier usage de Pro-Spec">
            <a:extLst xmlns:a="http://schemas.openxmlformats.org/drawingml/2006/main">
              <a:ext uri="{FF2B5EF4-FFF2-40B4-BE49-F238E27FC236}">
                <a16:creationId xmlns:a16="http://schemas.microsoft.com/office/drawing/2014/main" id="{A6D4EC37-D095-418D-ADB1-EA09F32EC1CF}"/>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Un premier usage de Pro-Spec</a:t>
            </a:r>
          </a:p>
        </p:txBody>
      </p:sp>
      <p:sp>
        <p:nvSpPr>
          <p:cNvPr id="2" name="31">
            <a:extLst xmlns:a="http://schemas.openxmlformats.org/drawingml/2006/main">
              <a:ext uri="{FF2B5EF4-FFF2-40B4-BE49-F238E27FC236}">
                <a16:creationId xmlns:a16="http://schemas.microsoft.com/office/drawing/2014/main" id="{D463C07B-B7CD-4337-8C43-F561FE28C89A}"/>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31</a:t>
            </a:r>
          </a:p>
        </p:txBody>
      </p:sp>
      <p:sp>
        <p:nvSpPr>
          <p:cNvPr id="3" name="PRO-SPEC  /  © 2026 Olivier Dahan">
            <a:extLst xmlns:a="http://schemas.openxmlformats.org/drawingml/2006/main">
              <a:ext uri="{FF2B5EF4-FFF2-40B4-BE49-F238E27FC236}">
                <a16:creationId xmlns:a16="http://schemas.microsoft.com/office/drawing/2014/main" id="{A4859F58-6571-486B-8C7E-30E406DAD3EC}"/>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Le niveau de détail suit les dépendances et les co">
            <a:extLst xmlns:a="http://schemas.openxmlformats.org/drawingml/2006/main">
              <a:ext uri="{FF2B5EF4-FFF2-40B4-BE49-F238E27FC236}">
                <a16:creationId xmlns:a16="http://schemas.microsoft.com/office/drawing/2014/main" id="{6224EC73-4BFB-4E7D-8754-0781162951B6}"/>
              </a:ext>
            </a:extLst>
          </p:cNvPr>
          <p:cNvSpPr>
            <a:spLocks xmlns:a="http://schemas.openxmlformats.org/drawingml/2006/main" noGrp="1"/>
          </p:cNvSpPr>
          <p:nvPr/>
        </p:nvSpPr>
        <p:spPr>
          <a:xfrm xmlns:a="http://schemas.openxmlformats.org/drawingml/2006/main">
            <a:off x="390525" y="1381125"/>
            <a:ext cx="11410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17202A"/>
                </a:solidFill>
                <a:latin typeface="Helvetica Neue"/>
                <a:ea typeface="Helvetica Neue"/>
                <a:cs typeface="Helvetica Neue"/>
              </a:defRPr>
            </a:pPr>
            <a:r>
              <a:rPr sz="2100">
                <a:solidFill>
                  <a:srgbClr val="17202A"/>
                </a:solidFill>
                <a:latin typeface="Helvetica Neue"/>
                <a:ea typeface="Helvetica Neue"/>
                <a:cs typeface="Helvetica Neue"/>
              </a:rPr>
              <a:t>Le niveau de détail suit les dépendances et les conséquences du changement.</a:t>
            </a:r>
          </a:p>
        </p:txBody>
      </p:sp>
      <p:sp>
        <p:nvSpPr>
          <p:cNvPr id="5" name="Un contrat">
            <a:extLst xmlns:a="http://schemas.openxmlformats.org/drawingml/2006/main">
              <a:ext uri="{FF2B5EF4-FFF2-40B4-BE49-F238E27FC236}">
                <a16:creationId xmlns:a16="http://schemas.microsoft.com/office/drawing/2014/main" id="{5AEC6827-3F6A-46DF-88CE-F3B19FAFC2BA}"/>
              </a:ext>
            </a:extLst>
          </p:cNvPr>
          <p:cNvSpPr>
            <a:spLocks xmlns:a="http://schemas.openxmlformats.org/drawingml/2006/main" noGrp="1"/>
          </p:cNvSpPr>
          <p:nvPr/>
        </p:nvSpPr>
        <p:spPr>
          <a:xfrm xmlns:a="http://schemas.openxmlformats.org/drawingml/2006/main">
            <a:off x="39052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Un contrat</a:t>
            </a:r>
          </a:p>
        </p:txBody>
      </p:sp>
      <p:sp>
        <p:nvSpPr>
          <p:cNvPr id="6" name="Résultat utile&#10;Règles durables">
            <a:extLst xmlns:a="http://schemas.openxmlformats.org/drawingml/2006/main">
              <a:ext uri="{FF2B5EF4-FFF2-40B4-BE49-F238E27FC236}">
                <a16:creationId xmlns:a16="http://schemas.microsoft.com/office/drawing/2014/main" id="{EDD7B104-A747-42C4-AFF2-3EF060640E7D}"/>
              </a:ext>
            </a:extLst>
          </p:cNvPr>
          <p:cNvSpPr>
            <a:spLocks xmlns:a="http://schemas.openxmlformats.org/drawingml/2006/main" noGrp="1"/>
          </p:cNvSpPr>
          <p:nvPr/>
        </p:nvSpPr>
        <p:spPr>
          <a:xfrm xmlns:a="http://schemas.openxmlformats.org/drawingml/2006/main">
            <a:off x="39052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Résultat utile</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Règles durables</a:t>
            </a:r>
          </a:p>
        </p:txBody>
      </p:sp>
      <p:sp>
        <p:nvSpPr>
          <p:cNvPr id="7" name="Un lot">
            <a:extLst xmlns:a="http://schemas.openxmlformats.org/drawingml/2006/main">
              <a:ext uri="{FF2B5EF4-FFF2-40B4-BE49-F238E27FC236}">
                <a16:creationId xmlns:a16="http://schemas.microsoft.com/office/drawing/2014/main" id="{735103DF-E6BC-4E09-8E51-4888DDA1F141}"/>
              </a:ext>
            </a:extLst>
          </p:cNvPr>
          <p:cNvSpPr>
            <a:spLocks xmlns:a="http://schemas.openxmlformats.org/drawingml/2006/main" noGrp="1"/>
          </p:cNvSpPr>
          <p:nvPr/>
        </p:nvSpPr>
        <p:spPr>
          <a:xfrm xmlns:a="http://schemas.openxmlformats.org/drawingml/2006/main">
            <a:off x="338137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Un lot</a:t>
            </a:r>
          </a:p>
        </p:txBody>
      </p:sp>
      <p:cxnSp>
        <p:nvCxnSpPr>
          <p:cNvPr id="23" name=""/>
          <p:cNvCxnSpPr>
            <a:stCxn xmlns:a="http://schemas.openxmlformats.org/drawingml/2006/main" id="5" idx="3"/>
            <a:endCxn xmlns:a="http://schemas.openxmlformats.org/drawingml/2006/main" id="7" idx="1"/>
          </p:cNvCxnSpPr>
          <p:nvPr/>
        </p:nvCxnSpPr>
        <p:spPr>
          <a:xfrm xmlns:a="http://schemas.openxmlformats.org/drawingml/2006/main">
            <a:off x="2828925" y="3238500"/>
            <a:ext cx="55245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9" name="Lectures et limites&#10;Critères observables">
            <a:extLst xmlns:a="http://schemas.openxmlformats.org/drawingml/2006/main">
              <a:ext uri="{FF2B5EF4-FFF2-40B4-BE49-F238E27FC236}">
                <a16:creationId xmlns:a16="http://schemas.microsoft.com/office/drawing/2014/main" id="{F0CF7E99-EF2F-401E-9BC7-BA3F8F7ADC49}"/>
              </a:ext>
            </a:extLst>
          </p:cNvPr>
          <p:cNvSpPr>
            <a:spLocks xmlns:a="http://schemas.openxmlformats.org/drawingml/2006/main" noGrp="1"/>
          </p:cNvSpPr>
          <p:nvPr/>
        </p:nvSpPr>
        <p:spPr>
          <a:xfrm xmlns:a="http://schemas.openxmlformats.org/drawingml/2006/main">
            <a:off x="338137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Lectures et limites</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Critères observables</a:t>
            </a:r>
          </a:p>
        </p:txBody>
      </p:sp>
      <p:sp>
        <p:nvSpPr>
          <p:cNvPr id="10" name="Une preuve">
            <a:extLst xmlns:a="http://schemas.openxmlformats.org/drawingml/2006/main">
              <a:ext uri="{FF2B5EF4-FFF2-40B4-BE49-F238E27FC236}">
                <a16:creationId xmlns:a16="http://schemas.microsoft.com/office/drawing/2014/main" id="{841F42B6-47C0-4D49-891A-1CE1AEE48672}"/>
              </a:ext>
            </a:extLst>
          </p:cNvPr>
          <p:cNvSpPr>
            <a:spLocks xmlns:a="http://schemas.openxmlformats.org/drawingml/2006/main" noGrp="1"/>
          </p:cNvSpPr>
          <p:nvPr/>
        </p:nvSpPr>
        <p:spPr>
          <a:xfrm xmlns:a="http://schemas.openxmlformats.org/drawingml/2006/main">
            <a:off x="637222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Une preuve</a:t>
            </a:r>
          </a:p>
        </p:txBody>
      </p:sp>
      <p:cxnSp>
        <p:nvCxnSpPr>
          <p:cNvPr id="26" name=""/>
          <p:cNvCxnSpPr>
            <a:stCxn xmlns:a="http://schemas.openxmlformats.org/drawingml/2006/main" id="7" idx="3"/>
            <a:endCxn xmlns:a="http://schemas.openxmlformats.org/drawingml/2006/main" id="10" idx="1"/>
          </p:cNvCxnSpPr>
          <p:nvPr/>
        </p:nvCxnSpPr>
        <p:spPr>
          <a:xfrm xmlns:a="http://schemas.openxmlformats.org/drawingml/2006/main">
            <a:off x="5819775" y="3238500"/>
            <a:ext cx="55245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12" name="Contrôles réels&#10;Résultats qualifiés">
            <a:extLst xmlns:a="http://schemas.openxmlformats.org/drawingml/2006/main">
              <a:ext uri="{FF2B5EF4-FFF2-40B4-BE49-F238E27FC236}">
                <a16:creationId xmlns:a16="http://schemas.microsoft.com/office/drawing/2014/main" id="{A65E7E82-B3D2-4890-91D5-2BA0EE6ABAB9}"/>
              </a:ext>
            </a:extLst>
          </p:cNvPr>
          <p:cNvSpPr>
            <a:spLocks xmlns:a="http://schemas.openxmlformats.org/drawingml/2006/main" noGrp="1"/>
          </p:cNvSpPr>
          <p:nvPr/>
        </p:nvSpPr>
        <p:spPr>
          <a:xfrm xmlns:a="http://schemas.openxmlformats.org/drawingml/2006/main">
            <a:off x="637222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Contrôles réels</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Résultats qualifiés</a:t>
            </a:r>
          </a:p>
        </p:txBody>
      </p:sp>
      <p:sp>
        <p:nvSpPr>
          <p:cNvPr id="13" name="Une reprise">
            <a:extLst xmlns:a="http://schemas.openxmlformats.org/drawingml/2006/main">
              <a:ext uri="{FF2B5EF4-FFF2-40B4-BE49-F238E27FC236}">
                <a16:creationId xmlns:a16="http://schemas.microsoft.com/office/drawing/2014/main" id="{22DF0984-B77A-439C-B7C0-6F209720ECA3}"/>
              </a:ext>
            </a:extLst>
          </p:cNvPr>
          <p:cNvSpPr>
            <a:spLocks xmlns:a="http://schemas.openxmlformats.org/drawingml/2006/main" noGrp="1"/>
          </p:cNvSpPr>
          <p:nvPr/>
        </p:nvSpPr>
        <p:spPr>
          <a:xfrm xmlns:a="http://schemas.openxmlformats.org/drawingml/2006/main">
            <a:off x="9363075" y="2762250"/>
            <a:ext cx="2438400" cy="952500"/>
          </a:xfrm>
          <a:prstGeom xmlns:a="http://schemas.openxmlformats.org/drawingml/2006/main" prst="rect">
            <a:avLst/>
          </a:prstGeom>
          <a:solidFill xmlns:a="http://schemas.openxmlformats.org/drawingml/2006/main">
            <a:srgbClr val="E6EDF9"/>
          </a:solidFill>
          <a:ln xmlns:a="http://schemas.openxmlformats.org/drawingml/2006/main" w="19050">
            <a:solidFill>
              <a:srgbClr val="3157C8"/>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02A"/>
                </a:solidFill>
                <a:latin typeface="Helvetica Neue"/>
                <a:ea typeface="Helvetica Neue"/>
                <a:cs typeface="Helvetica Neue"/>
              </a:defRPr>
            </a:pPr>
            <a:r>
              <a:rPr sz="1950">
                <a:solidFill>
                  <a:srgbClr val="17202A"/>
                </a:solidFill>
                <a:latin typeface="Helvetica Neue"/>
                <a:ea typeface="Helvetica Neue"/>
                <a:cs typeface="Helvetica Neue"/>
              </a:rPr>
              <a:t>Une reprise</a:t>
            </a:r>
          </a:p>
        </p:txBody>
      </p:sp>
      <p:cxnSp>
        <p:nvCxnSpPr>
          <p:cNvPr id="29" name=""/>
          <p:cNvCxnSpPr>
            <a:stCxn xmlns:a="http://schemas.openxmlformats.org/drawingml/2006/main" id="10" idx="3"/>
            <a:endCxn xmlns:a="http://schemas.openxmlformats.org/drawingml/2006/main" id="13" idx="1"/>
          </p:cNvCxnSpPr>
          <p:nvPr/>
        </p:nvCxnSpPr>
        <p:spPr>
          <a:xfrm xmlns:a="http://schemas.openxmlformats.org/drawingml/2006/main">
            <a:off x="8810625" y="3238500"/>
            <a:ext cx="552450" cy="0"/>
          </a:xfrm>
          <a:prstGeom xmlns:a="http://schemas.openxmlformats.org/drawingml/2006/main" prst="straightConnector1">
            <a:avLst/>
          </a:prstGeom>
          <a:ln xmlns:a="http://schemas.openxmlformats.org/drawingml/2006/main" w="28575">
            <a:solidFill>
              <a:srgbClr val="3157C8"/>
            </a:solidFill>
            <a:tailEnd type="triangle" w="med" len="med"/>
          </a:ln>
        </p:spPr>
      </p:cxnSp>
      <p:sp>
        <p:nvSpPr>
          <p:cNvPr id="15" name="Décisions conservées&#10;Prochaine action">
            <a:extLst xmlns:a="http://schemas.openxmlformats.org/drawingml/2006/main">
              <a:ext uri="{FF2B5EF4-FFF2-40B4-BE49-F238E27FC236}">
                <a16:creationId xmlns:a16="http://schemas.microsoft.com/office/drawing/2014/main" id="{D7364355-45E3-4649-97CA-55D94F737457}"/>
              </a:ext>
            </a:extLst>
          </p:cNvPr>
          <p:cNvSpPr>
            <a:spLocks xmlns:a="http://schemas.openxmlformats.org/drawingml/2006/main" noGrp="1"/>
          </p:cNvSpPr>
          <p:nvPr/>
        </p:nvSpPr>
        <p:spPr>
          <a:xfrm xmlns:a="http://schemas.openxmlformats.org/drawingml/2006/main">
            <a:off x="9363075" y="4095750"/>
            <a:ext cx="2438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Décisions conservées</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Prochaine action</a:t>
            </a:r>
          </a:p>
        </p:txBody>
      </p:sp>
    </p:spTree>
    <p:extLst>
      <p:ext uri="{BB962C8B-B14F-4D97-AF65-F5344CB8AC3E}">
        <p14:creationId xmlns:p14="http://schemas.microsoft.com/office/powerpoint/2010/main" val="3446338916"/>
      </p:ext>
    </p:extLst>
  </p:cSld>
</p:sld>
</file>

<file path=ppt/slides/slide32.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7" name="L’auteur et les ressources">
            <a:extLst xmlns:a="http://schemas.openxmlformats.org/drawingml/2006/main">
              <a:ext uri="{FF2B5EF4-FFF2-40B4-BE49-F238E27FC236}">
                <a16:creationId xmlns:a16="http://schemas.microsoft.com/office/drawing/2014/main" id="{CCDD6F42-8486-4AD7-8EBD-D7608E6CD568}"/>
              </a:ext>
            </a:extLst>
          </p:cNvPr>
          <p:cNvSpPr>
            <a:spLocks xmlns:a="http://schemas.openxmlformats.org/drawingml/2006/main" noGrp="1"/>
          </p:cNvSpPr>
          <p:nvPr/>
        </p:nvSpPr>
        <p:spPr>
          <a:xfrm xmlns:a="http://schemas.openxmlformats.org/drawingml/2006/main">
            <a:off x="390525" y="342900"/>
            <a:ext cx="1141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a:solidFill>
                  <a:srgbClr val="3157C8"/>
                </a:solidFill>
                <a:latin typeface="Lora Medium"/>
                <a:ea typeface="Lora Medium"/>
                <a:cs typeface="Lora Medium"/>
              </a:defRPr>
            </a:pPr>
            <a:r>
              <a:rPr sz="3000">
                <a:solidFill>
                  <a:srgbClr val="3157C8"/>
                </a:solidFill>
                <a:latin typeface="Lora Medium"/>
                <a:ea typeface="Lora Medium"/>
                <a:cs typeface="Lora Medium"/>
              </a:rPr>
              <a:t>L’auteur et les ressources</a:t>
            </a:r>
          </a:p>
        </p:txBody>
      </p:sp>
      <p:sp>
        <p:nvSpPr>
          <p:cNvPr id="2" name="32">
            <a:extLst xmlns:a="http://schemas.openxmlformats.org/drawingml/2006/main">
              <a:ext uri="{FF2B5EF4-FFF2-40B4-BE49-F238E27FC236}">
                <a16:creationId xmlns:a16="http://schemas.microsoft.com/office/drawing/2014/main" id="{8E11D8A7-D344-4A62-B7C3-1948E968DEE9}"/>
              </a:ext>
            </a:extLst>
          </p:cNvPr>
          <p:cNvSpPr>
            <a:spLocks xmlns:a="http://schemas.openxmlformats.org/drawingml/2006/main" noGrp="1"/>
          </p:cNvSpPr>
          <p:nvPr/>
        </p:nvSpPr>
        <p:spPr>
          <a:xfrm xmlns:a="http://schemas.openxmlformats.org/drawingml/2006/main">
            <a:off x="113347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53616E"/>
                </a:solidFill>
                <a:latin typeface="Helvetica Neue"/>
                <a:ea typeface="Helvetica Neue"/>
                <a:cs typeface="Helvetica Neue"/>
              </a:defRPr>
            </a:pPr>
            <a:r>
              <a:rPr sz="1050">
                <a:solidFill>
                  <a:srgbClr val="53616E"/>
                </a:solidFill>
                <a:latin typeface="Helvetica Neue"/>
                <a:ea typeface="Helvetica Neue"/>
                <a:cs typeface="Helvetica Neue"/>
              </a:rPr>
              <a:t>32</a:t>
            </a:r>
          </a:p>
        </p:txBody>
      </p:sp>
      <p:sp>
        <p:nvSpPr>
          <p:cNvPr id="3" name="PRO-SPEC  /  © 2026 Olivier Dahan">
            <a:extLst xmlns:a="http://schemas.openxmlformats.org/drawingml/2006/main">
              <a:ext uri="{FF2B5EF4-FFF2-40B4-BE49-F238E27FC236}">
                <a16:creationId xmlns:a16="http://schemas.microsoft.com/office/drawing/2014/main" id="{B468DE68-FD62-4A8C-B44E-663D69EE3F5D}"/>
              </a:ext>
            </a:extLst>
          </p:cNvPr>
          <p:cNvSpPr>
            <a:spLocks xmlns:a="http://schemas.openxmlformats.org/drawingml/2006/main" noGrp="1"/>
          </p:cNvSpPr>
          <p:nvPr/>
        </p:nvSpPr>
        <p:spPr>
          <a:xfrm xmlns:a="http://schemas.openxmlformats.org/drawingml/2006/main">
            <a:off x="390525" y="6429375"/>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a:solidFill>
                  <a:srgbClr val="53616E"/>
                </a:solidFill>
                <a:latin typeface="Helvetica Neue"/>
                <a:ea typeface="Helvetica Neue"/>
                <a:cs typeface="Helvetica Neue"/>
              </a:defRPr>
            </a:pPr>
            <a:r>
              <a:rPr sz="975">
                <a:solidFill>
                  <a:srgbClr val="53616E"/>
                </a:solidFill>
                <a:latin typeface="Helvetica Neue"/>
                <a:ea typeface="Helvetica Neue"/>
                <a:cs typeface="Helvetica Neue"/>
              </a:rPr>
              <a:t>PRO-SPEC  /  © 2026 Olivier Dahan</a:t>
            </a:r>
          </a:p>
        </p:txBody>
      </p:sp>
      <p:sp>
        <p:nvSpPr>
          <p:cNvPr id="4" name="Olivier Dahan">
            <a:extLst xmlns:a="http://schemas.openxmlformats.org/drawingml/2006/main">
              <a:ext uri="{FF2B5EF4-FFF2-40B4-BE49-F238E27FC236}">
                <a16:creationId xmlns:a16="http://schemas.microsoft.com/office/drawing/2014/main" id="{DC127AFE-D146-4CD0-A63C-59D66D240A4C}"/>
              </a:ext>
            </a:extLst>
          </p:cNvPr>
          <p:cNvSpPr>
            <a:spLocks xmlns:a="http://schemas.openxmlformats.org/drawingml/2006/main" noGrp="1"/>
          </p:cNvSpPr>
          <p:nvPr/>
        </p:nvSpPr>
        <p:spPr>
          <a:xfrm xmlns:a="http://schemas.openxmlformats.org/drawingml/2006/main">
            <a:off x="438150" y="16192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00">
                <a:solidFill>
                  <a:srgbClr val="3157C8"/>
                </a:solidFill>
                <a:latin typeface="Lora Medium"/>
                <a:ea typeface="Lora Medium"/>
                <a:cs typeface="Lora Medium"/>
              </a:defRPr>
            </a:pPr>
            <a:r>
              <a:rPr sz="4800">
                <a:solidFill>
                  <a:srgbClr val="3157C8"/>
                </a:solidFill>
                <a:latin typeface="Lora Medium"/>
                <a:ea typeface="Lora Medium"/>
                <a:cs typeface="Lora Medium"/>
              </a:rPr>
              <a:t>Olivier Dahan</a:t>
            </a:r>
          </a:p>
        </p:txBody>
      </p:sp>
      <p:sp>
        <p:nvSpPr>
          <p:cNvPr id="5" name="Architecte Senior .NET, Microsoft MVP depuis 2008&#10;">
            <a:extLst xmlns:a="http://schemas.openxmlformats.org/drawingml/2006/main">
              <a:ext uri="{FF2B5EF4-FFF2-40B4-BE49-F238E27FC236}">
                <a16:creationId xmlns:a16="http://schemas.microsoft.com/office/drawing/2014/main" id="{86292C87-F3DB-4E5E-935A-2F1EBE3FD065}"/>
              </a:ext>
            </a:extLst>
          </p:cNvPr>
          <p:cNvSpPr>
            <a:spLocks xmlns:a="http://schemas.openxmlformats.org/drawingml/2006/main" noGrp="1"/>
          </p:cNvSpPr>
          <p:nvPr/>
        </p:nvSpPr>
        <p:spPr>
          <a:xfrm xmlns:a="http://schemas.openxmlformats.org/drawingml/2006/main">
            <a:off x="438150" y="2762250"/>
            <a:ext cx="10810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Architecte Senior .NET, Microsoft MVP depuis 2008</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Indépendant, auteur et formateur</a:t>
            </a:r>
          </a:p>
          <a:p xmlns:a="http://schemas.openxmlformats.org/drawingml/2006/main">
            <a:pPr>
              <a:defRPr sz="2025">
                <a:solidFill>
                  <a:srgbClr val="17202A"/>
                </a:solidFill>
                <a:latin typeface="Helvetica Neue"/>
                <a:ea typeface="Helvetica Neue"/>
                <a:cs typeface="Helvetica Neue"/>
              </a:defRPr>
            </a:pPr>
            <a:r>
              <a:rPr sz="2025">
                <a:solidFill>
                  <a:srgbClr val="17202A"/>
                </a:solidFill>
                <a:latin typeface="Helvetica Neue"/>
                <a:ea typeface="Helvetica Neue"/>
                <a:cs typeface="Helvetica Neue"/>
              </a:rPr>
              <a:t>Plus de 1 300 articles sur DotBlog depuis 2007</a:t>
            </a:r>
          </a:p>
        </p:txBody>
      </p:sp>
      <p:sp>
        <p:nvSpPr>
          <p:cNvPr id="6" name="odahan@e-naxos.com&#10;www.e-naxos.com&#10;linkedin.com/in">
            <a:extLst xmlns:a="http://schemas.openxmlformats.org/drawingml/2006/main">
              <a:ext uri="{FF2B5EF4-FFF2-40B4-BE49-F238E27FC236}">
                <a16:creationId xmlns:a16="http://schemas.microsoft.com/office/drawing/2014/main" id="{B2F1B1D5-4225-423E-9ACF-2AA825355E85}"/>
              </a:ext>
            </a:extLst>
          </p:cNvPr>
          <p:cNvSpPr>
            <a:spLocks xmlns:a="http://schemas.openxmlformats.org/drawingml/2006/main" noGrp="1"/>
          </p:cNvSpPr>
          <p:nvPr/>
        </p:nvSpPr>
        <p:spPr>
          <a:xfrm xmlns:a="http://schemas.openxmlformats.org/drawingml/2006/main">
            <a:off x="438150" y="4524375"/>
            <a:ext cx="10810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odahan@e-naxos.com</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www.e-naxos.com</a:t>
            </a:r>
          </a:p>
          <a:p xmlns:a="http://schemas.openxmlformats.org/drawingml/2006/main">
            <a:pPr>
              <a:defRPr sz="1800">
                <a:solidFill>
                  <a:srgbClr val="17202A"/>
                </a:solidFill>
                <a:latin typeface="Helvetica Neue"/>
                <a:ea typeface="Helvetica Neue"/>
                <a:cs typeface="Helvetica Neue"/>
              </a:defRPr>
            </a:pPr>
            <a:r>
              <a:rPr sz="1800">
                <a:solidFill>
                  <a:srgbClr val="17202A"/>
                </a:solidFill>
                <a:latin typeface="Helvetica Neue"/>
                <a:ea typeface="Helvetica Neue"/>
                <a:cs typeface="Helvetica Neue"/>
              </a:rPr>
              <a:t>linkedin.com/in/olivier-dahan-enaxos/</a:t>
            </a:r>
          </a:p>
        </p:txBody>
      </p:sp>
    </p:spTree>
    <p:extLst>
      <p:ext uri="{BB962C8B-B14F-4D97-AF65-F5344CB8AC3E}">
        <p14:creationId xmlns:p14="http://schemas.microsoft.com/office/powerpoint/2010/main" val="858355452"/>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2026-09-11T17:53:57.9090000Z</dcterms:created>
  <dcterms:modified xsi:type="dcterms:W3CDTF">2026-09-11T17:53:57.9090000Z</dcterms:modified>
</coreProperties>
</file>